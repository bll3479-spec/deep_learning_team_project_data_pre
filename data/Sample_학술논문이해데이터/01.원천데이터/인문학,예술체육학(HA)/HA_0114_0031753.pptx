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Pi7jr+A4YPg74lnu0nHqD798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BFC5"/>
    <a:srgbClr val="87D87E"/>
    <a:srgbClr val="399D85"/>
    <a:srgbClr val="898989"/>
    <a:srgbClr val="C5DEB5"/>
    <a:srgbClr val="369E83"/>
    <a:srgbClr val="3D4B71"/>
    <a:srgbClr val="D4E0F0"/>
    <a:srgbClr val="CBE3EF"/>
    <a:srgbClr val="D9D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3" autoAdjust="0"/>
    <p:restoredTop sz="94915" autoAdjust="0"/>
  </p:normalViewPr>
  <p:slideViewPr>
    <p:cSldViewPr snapToGrid="0">
      <p:cViewPr varScale="1">
        <p:scale>
          <a:sx n="17" d="100"/>
          <a:sy n="17" d="100"/>
        </p:scale>
        <p:origin x="3060" y="186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39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0C88F50-C423-6C5C-B4CF-62E2CCF4F0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43B4D9-B977-3D46-78C4-474679C13A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195A7-4752-4510-B281-0E81CED8ACD2}" type="datetimeFigureOut">
              <a:rPr lang="ko-KR" altLang="en-US" smtClean="0"/>
              <a:t>2024-12-09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00424B-40BC-08A8-47A9-1495BE6E1A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42F46C-9A19-4C96-27B5-2730CACFC4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18394-E49D-45A0-9367-0149C0D41F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10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2798" y="0"/>
            <a:ext cx="4301543" cy="72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251200" y="1793875"/>
            <a:ext cx="3424200" cy="4845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8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12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50" tIns="69375" rIns="138750" bIns="693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bg>
      <p:bgPr>
        <a:gradFill>
          <a:gsLst>
            <a:gs pos="0">
              <a:schemeClr val="lt1"/>
            </a:gs>
            <a:gs pos="40000">
              <a:srgbClr val="FDFDFD"/>
            </a:gs>
            <a:gs pos="100000">
              <a:srgbClr val="7A7A7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4559B5B-C58B-8C05-0DA2-A3C1570EAA9B}"/>
              </a:ext>
            </a:extLst>
          </p:cNvPr>
          <p:cNvSpPr/>
          <p:nvPr userDrawn="1"/>
        </p:nvSpPr>
        <p:spPr>
          <a:xfrm>
            <a:off x="0" y="42385129"/>
            <a:ext cx="30275213" cy="4186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2DB5AA-5C49-47E8-AD31-CE24D593C704}"/>
              </a:ext>
            </a:extLst>
          </p:cNvPr>
          <p:cNvSpPr/>
          <p:nvPr/>
        </p:nvSpPr>
        <p:spPr>
          <a:xfrm>
            <a:off x="1012029" y="762000"/>
            <a:ext cx="28299572" cy="4667250"/>
          </a:xfrm>
          <a:prstGeom prst="rect">
            <a:avLst/>
          </a:prstGeom>
          <a:solidFill>
            <a:srgbClr val="72BFC5"/>
          </a:solidFill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7254E-5FF8-B465-35EC-0AC1C53973FE}"/>
              </a:ext>
            </a:extLst>
          </p:cNvPr>
          <p:cNvSpPr txBox="1"/>
          <p:nvPr/>
        </p:nvSpPr>
        <p:spPr>
          <a:xfrm>
            <a:off x="5660231" y="2023628"/>
            <a:ext cx="1895475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루만 안의 </a:t>
            </a:r>
            <a:r>
              <a:rPr lang="ko-KR" altLang="en-US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겔렌</a:t>
            </a:r>
            <a:r>
              <a:rPr lang="en-US" altLang="ko-K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, </a:t>
            </a:r>
            <a:r>
              <a:rPr lang="ko-KR" alt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루만 너머의 </a:t>
            </a:r>
            <a:r>
              <a:rPr lang="ko-KR" altLang="en-US" sz="7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겔렌</a:t>
            </a:r>
            <a:endParaRPr lang="ko-KR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92A2D-A067-7325-51B5-1EC99297C546}"/>
              </a:ext>
            </a:extLst>
          </p:cNvPr>
          <p:cNvSpPr txBox="1"/>
          <p:nvPr/>
        </p:nvSpPr>
        <p:spPr>
          <a:xfrm>
            <a:off x="11765280" y="3900612"/>
            <a:ext cx="6744652" cy="132343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장 춘 </a:t>
            </a:r>
            <a:r>
              <a:rPr lang="ko-KR" altLang="en-US" sz="4000" b="1" dirty="0" err="1">
                <a:solidFill>
                  <a:schemeClr val="bg1"/>
                </a:solidFill>
                <a:latin typeface="+mj-ea"/>
                <a:ea typeface="+mj-ea"/>
              </a:rPr>
              <a:t>익</a:t>
            </a:r>
            <a:r>
              <a:rPr lang="ko-KR" altLang="en-US" sz="4000" b="1" dirty="0">
                <a:solidFill>
                  <a:schemeClr val="bg1"/>
                </a:solidFill>
                <a:latin typeface="+mj-ea"/>
                <a:ea typeface="+mj-ea"/>
              </a:rPr>
              <a:t> ｜ 한림대학교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8EE01-043E-3EB1-1006-0FA337A317F5}"/>
              </a:ext>
            </a:extLst>
          </p:cNvPr>
          <p:cNvSpPr txBox="1"/>
          <p:nvPr/>
        </p:nvSpPr>
        <p:spPr>
          <a:xfrm>
            <a:off x="998018" y="9155597"/>
            <a:ext cx="13898974" cy="1222717"/>
          </a:xfrm>
          <a:prstGeom prst="roundRect">
            <a:avLst>
              <a:gd name="adj" fmla="val 0"/>
            </a:avLst>
          </a:prstGeom>
          <a:solidFill>
            <a:srgbClr val="72BFC5"/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루만으로부터 </a:t>
            </a:r>
            <a:r>
              <a:rPr lang="ko-KR" altLang="en-US" sz="4400" b="1" dirty="0" err="1">
                <a:solidFill>
                  <a:schemeClr val="bg1"/>
                </a:solidFill>
                <a:latin typeface="+mj-ea"/>
                <a:ea typeface="+mj-ea"/>
              </a:rPr>
              <a:t>겔렌으로</a:t>
            </a:r>
            <a:endParaRPr lang="ko-KR" altLang="en-US" sz="4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EC205D-EFCE-9930-C1D1-D9308182CBCE}"/>
              </a:ext>
            </a:extLst>
          </p:cNvPr>
          <p:cNvSpPr txBox="1"/>
          <p:nvPr/>
        </p:nvSpPr>
        <p:spPr>
          <a:xfrm>
            <a:off x="1119359" y="11533047"/>
            <a:ext cx="13702707" cy="37912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이론을 사이버네틱스 용어로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재정식화한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구절이 루만의 이론과 유사해 보일 수 있지만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실제로는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귄터가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생각을 표현한 것이다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귄터의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다치 논리학 및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다맥락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이론을 주요 이론적 자원으로 삼았고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루만의 사회이론 발전에 중요한 영향을 미쳤다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그러나 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영향을 인정하지 않으며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그를 철학적 인간학의 대표자로 지칭하면서도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이론을 투명한 그림자처럼 여긴다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F93D0-3B73-F830-53DD-24DA5EFEAE0E}"/>
              </a:ext>
            </a:extLst>
          </p:cNvPr>
          <p:cNvSpPr txBox="1"/>
          <p:nvPr/>
        </p:nvSpPr>
        <p:spPr>
          <a:xfrm>
            <a:off x="998018" y="26965155"/>
            <a:ext cx="13898974" cy="1222717"/>
          </a:xfrm>
          <a:prstGeom prst="roundRect">
            <a:avLst>
              <a:gd name="adj" fmla="val 0"/>
            </a:avLst>
          </a:prstGeom>
          <a:solidFill>
            <a:srgbClr val="72BFC5"/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2. 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루만 안의 </a:t>
            </a:r>
            <a:r>
              <a:rPr lang="ko-KR" altLang="en-US" sz="4400" b="1" dirty="0" err="1">
                <a:solidFill>
                  <a:schemeClr val="bg1"/>
                </a:solidFill>
                <a:latin typeface="+mj-ea"/>
                <a:ea typeface="+mj-ea"/>
              </a:rPr>
              <a:t>겔렌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: ‘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부담 </a:t>
            </a:r>
            <a:r>
              <a:rPr lang="ko-KR" altLang="en-US" sz="4400" b="1" dirty="0" err="1">
                <a:solidFill>
                  <a:schemeClr val="bg1"/>
                </a:solidFill>
                <a:latin typeface="+mj-ea"/>
                <a:ea typeface="+mj-ea"/>
              </a:rPr>
              <a:t>경감’과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 ‘복잡성 축소’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C546F-A864-F846-AB74-C90D4EC5BD54}"/>
              </a:ext>
            </a:extLst>
          </p:cNvPr>
          <p:cNvSpPr txBox="1"/>
          <p:nvPr/>
        </p:nvSpPr>
        <p:spPr>
          <a:xfrm>
            <a:off x="1119359" y="28625282"/>
            <a:ext cx="13702707" cy="1335933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‘복잡성 축소’ 개념을 체계와 환경의 복잡성 격차와 체계의 자기생산 개념으로 설명한다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초기에는 체계가 과도하게 복잡한 환경과의 관계에서 복잡성을 축소해야 한다고 보았고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후에는 자기생산을 통해 체계 내에서 복잡성을 줄이는 방식으로 발전했다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두 개념은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‘세계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개방성’과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‘부담 경감’ 개념과 유사하다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인간이 ‘결핍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존재’로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태어나 자극의 홍수에 직면해 생존 방식으로서 행위를 통해 부담을 경감한다고 설명했다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하버마스와의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논쟁 후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겔렌과의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관계를 점차 끊어갔고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초기에는 공통성을 인정했으나 후에는 거의 언급하지 않게 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루만의 복잡성 축소 개념에서 체계의 자기생산 개념은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‘제도’ 개념과 유사하다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사회적 질서가 이중 우연성에서 비롯된 불확실성을 해소하고 복잡성을 축소하여 발생한다고 보았으며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파슨스와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다른 해법을 제시한 것이다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사회적 체계의 형성에서 제도적 요소가 아닌 자기생산적 메커니즘을 강조한다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사회적 체계가 간접성을 통해 형성된다고 설명하면서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특정 사물에 대한 동일시를 통해 사람들 사이에 공통성이 형성된다고 주장한다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이는 루만의 ‘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학습’과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‘피드백’ 개념과 비교될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사회적 체계의 형성을 제도 개념 없이 관찰과 학습을 통한 기대의 안정화로 설명한다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결국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루만과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사회적 체계 형성에 대한 접근에서 차이를 보이지만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복잡성 축소와 사회 질서의 형성에 대해 중요한 통찰을 제공한다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3B653-9212-BBF3-8116-8892FE73A580}"/>
              </a:ext>
            </a:extLst>
          </p:cNvPr>
          <p:cNvSpPr txBox="1"/>
          <p:nvPr/>
        </p:nvSpPr>
        <p:spPr>
          <a:xfrm>
            <a:off x="15378222" y="9155597"/>
            <a:ext cx="13898974" cy="1222717"/>
          </a:xfrm>
          <a:prstGeom prst="roundRect">
            <a:avLst>
              <a:gd name="adj" fmla="val 0"/>
            </a:avLst>
          </a:prstGeom>
          <a:solidFill>
            <a:srgbClr val="72BFC5"/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3. 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루만 너머의 </a:t>
            </a:r>
            <a:r>
              <a:rPr lang="ko-KR" altLang="en-US" sz="4400" b="1" dirty="0" err="1">
                <a:solidFill>
                  <a:schemeClr val="bg1"/>
                </a:solidFill>
                <a:latin typeface="+mj-ea"/>
                <a:ea typeface="+mj-ea"/>
              </a:rPr>
              <a:t>겔렌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FC1B9-A19B-D152-4FA7-D7FEB76BB41D}"/>
              </a:ext>
            </a:extLst>
          </p:cNvPr>
          <p:cNvSpPr txBox="1"/>
          <p:nvPr/>
        </p:nvSpPr>
        <p:spPr>
          <a:xfrm>
            <a:off x="15378222" y="34620745"/>
            <a:ext cx="13898974" cy="1222717"/>
          </a:xfrm>
          <a:prstGeom prst="roundRect">
            <a:avLst>
              <a:gd name="adj" fmla="val 0"/>
            </a:avLst>
          </a:prstGeom>
          <a:solidFill>
            <a:srgbClr val="72BFC5"/>
          </a:solidFill>
          <a:ln w="38100">
            <a:solidFill>
              <a:schemeClr val="bg1">
                <a:lumMod val="5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결론을 대신하여 </a:t>
            </a:r>
            <a:r>
              <a:rPr lang="en-US" altLang="ko-KR" sz="4400" b="1" dirty="0">
                <a:solidFill>
                  <a:schemeClr val="bg1"/>
                </a:solidFill>
                <a:latin typeface="+mj-ea"/>
                <a:ea typeface="+mj-ea"/>
              </a:rPr>
              <a:t>: 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계몽의 </a:t>
            </a:r>
            <a:r>
              <a:rPr lang="ko-KR" altLang="en-US" sz="4400" b="1" dirty="0" err="1">
                <a:solidFill>
                  <a:schemeClr val="bg1"/>
                </a:solidFill>
                <a:latin typeface="+mj-ea"/>
                <a:ea typeface="+mj-ea"/>
              </a:rPr>
              <a:t>재계몽</a:t>
            </a:r>
            <a:r>
              <a:rPr lang="ko-KR" altLang="en-US" sz="4400" b="1" dirty="0">
                <a:solidFill>
                  <a:schemeClr val="bg1"/>
                </a:solidFill>
                <a:latin typeface="+mj-ea"/>
                <a:ea typeface="+mj-ea"/>
              </a:rPr>
              <a:t> 대 계몽 이후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FE0B4-C958-019E-CE94-A30526808754}"/>
              </a:ext>
            </a:extLst>
          </p:cNvPr>
          <p:cNvSpPr txBox="1"/>
          <p:nvPr/>
        </p:nvSpPr>
        <p:spPr>
          <a:xfrm>
            <a:off x="15574489" y="36344351"/>
            <a:ext cx="13627781" cy="517873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"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계몽의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재계몽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"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을 통해 기존 계몽주의의 한계를 지적하고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이성계몽주의의 문제점을 수정하면서 새로운 형태의 계몽을 제시하려 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그러나 후기에는 기능적 등가물 제시라는 과제가 사라지고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비개연성에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대한 인식만 강조된다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반면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현대사회를 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'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계몽 이후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'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시대로 보며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도덕이 현실에서 무력하게 작동한다고 진단한다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그는 계몽의 이상이 산업사회에서 소비 욕구와 생산에 대한 낙관으로 귀결되었음을 비판하며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도덕적 비판이 여전히 희망적 역할을 한다고 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루만과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질서와 제도의 중요성을 인정하지만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각기 다른 방식으로 사회를 진단하고 비판하였다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05D410-E28A-482A-8A1D-3378385EAED5}"/>
              </a:ext>
            </a:extLst>
          </p:cNvPr>
          <p:cNvSpPr/>
          <p:nvPr/>
        </p:nvSpPr>
        <p:spPr>
          <a:xfrm>
            <a:off x="1012029" y="6115186"/>
            <a:ext cx="28299572" cy="2273866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9133B0-AFF0-4936-AAC9-D7FC67AE5DBE}"/>
              </a:ext>
            </a:extLst>
          </p:cNvPr>
          <p:cNvSpPr txBox="1"/>
          <p:nvPr/>
        </p:nvSpPr>
        <p:spPr>
          <a:xfrm>
            <a:off x="3832188" y="6690879"/>
            <a:ext cx="24857112" cy="110569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겔렌과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많은 공통점을 가지나</a:t>
            </a:r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겔렌에게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빚진 부분은 초기 저작에 한정된다</a:t>
            </a:r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본 연구는 루만의 ‘복잡성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축소’와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‘부담 경감’ 개념</a:t>
            </a:r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그리고 두 이론을 비교하여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사회학적 강점을 부각시키며</a:t>
            </a:r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마지막으로 </a:t>
            </a:r>
            <a:r>
              <a:rPr lang="ko-KR" altLang="en-US" sz="3200" b="1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b="1" dirty="0">
                <a:solidFill>
                  <a:schemeClr val="tx1"/>
                </a:solidFill>
                <a:latin typeface="+mj-ea"/>
                <a:ea typeface="+mj-ea"/>
              </a:rPr>
              <a:t> ‘금욕’ 이론의 실천적 함의를 다룬다</a:t>
            </a:r>
            <a:r>
              <a:rPr lang="en-US" altLang="ko-KR" sz="32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96BDF7-0830-4FD5-9EBA-6FD8799BBBE0}"/>
              </a:ext>
            </a:extLst>
          </p:cNvPr>
          <p:cNvSpPr txBox="1"/>
          <p:nvPr/>
        </p:nvSpPr>
        <p:spPr>
          <a:xfrm>
            <a:off x="1356339" y="6885186"/>
            <a:ext cx="21315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tx1"/>
                </a:solidFill>
                <a:latin typeface="+mj-ea"/>
                <a:ea typeface="+mj-ea"/>
              </a:rPr>
              <a:t>요 약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2532BA-81FA-49F5-A2D8-DAADFE361AF0}"/>
              </a:ext>
            </a:extLst>
          </p:cNvPr>
          <p:cNvSpPr txBox="1"/>
          <p:nvPr/>
        </p:nvSpPr>
        <p:spPr>
          <a:xfrm>
            <a:off x="998018" y="10617043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1.1. </a:t>
            </a:r>
            <a:r>
              <a:rPr lang="ko-KR" altLang="en-US" sz="3600" b="1" dirty="0" err="1">
                <a:solidFill>
                  <a:schemeClr val="bg1"/>
                </a:solidFill>
                <a:latin typeface="+mj-ea"/>
                <a:ea typeface="+mj-ea"/>
              </a:rPr>
              <a:t>겔렌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-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루만의 투명한 그림자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514FF1-465C-4DE7-9711-621670B1965E}"/>
              </a:ext>
            </a:extLst>
          </p:cNvPr>
          <p:cNvSpPr txBox="1"/>
          <p:nvPr/>
        </p:nvSpPr>
        <p:spPr>
          <a:xfrm>
            <a:off x="1119359" y="16608941"/>
            <a:ext cx="13702707" cy="47929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초기에는 루만에게 큰 영향을 미쳤으나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하버마스가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루만의 체계이론이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철학적 인간학에 의존한다고 지적하자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겔렌과의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연관을 부인하거나 숨기려 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영향을 인정하지 않으려 했으며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초기 저작에서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아이디어를 사용했지만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후기 저작에서는 거의 등장하지 않는다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그러나 루만의 이론에서 사회적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체계들이전과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이후의 구분이 명확하지 않다는 주장은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 이론에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영향이 더 크다는 것을 시사한다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이론적으로 단절하려 했으나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그로 인해 이론적 공백이 생겼을 수 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DB7C9D-01AE-4F93-BA93-3C8C0D7505C8}"/>
              </a:ext>
            </a:extLst>
          </p:cNvPr>
          <p:cNvSpPr txBox="1"/>
          <p:nvPr/>
        </p:nvSpPr>
        <p:spPr>
          <a:xfrm>
            <a:off x="998018" y="15692937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1.2. </a:t>
            </a:r>
            <a:r>
              <a:rPr lang="ko-KR" altLang="en-US" sz="3600" b="1" dirty="0" err="1">
                <a:solidFill>
                  <a:schemeClr val="bg1"/>
                </a:solidFill>
                <a:latin typeface="+mj-ea"/>
                <a:ea typeface="+mj-ea"/>
              </a:rPr>
              <a:t>겔렌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루만의 너무 진한 그림자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CAD36-8311-4E50-B5F1-3D21DF4327C6}"/>
              </a:ext>
            </a:extLst>
          </p:cNvPr>
          <p:cNvSpPr txBox="1"/>
          <p:nvPr/>
        </p:nvSpPr>
        <p:spPr>
          <a:xfrm>
            <a:off x="1119359" y="22755296"/>
            <a:ext cx="13702707" cy="357180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본고는 루만의 사회이론에서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영향을 다루며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루만의 ‘복잡성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축소’와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‘부담 경감’ 개념의 유사성과 강점을 비교한다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루만의 이론에서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흔적을 선구적 성격으로 보고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겔렌이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현대사회를 ‘거대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구조’로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설명하고 개인 심리와 사회적 구조의 상관관계를 고려하는 점에서 더 설득력 있다고 주장한다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본고는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루만과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겔렌을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비교하기보다는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루만을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통해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겔렌을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재발견하는 데 초점을 맞춘다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425A80-66A0-4E87-B31F-D8CBF26BE1DE}"/>
              </a:ext>
            </a:extLst>
          </p:cNvPr>
          <p:cNvSpPr txBox="1"/>
          <p:nvPr/>
        </p:nvSpPr>
        <p:spPr>
          <a:xfrm>
            <a:off x="998018" y="21839292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1.3. </a:t>
            </a:r>
            <a:r>
              <a:rPr lang="ko-KR" altLang="en-US" sz="3600" b="1" dirty="0" err="1">
                <a:solidFill>
                  <a:schemeClr val="bg1"/>
                </a:solidFill>
                <a:latin typeface="+mj-ea"/>
                <a:ea typeface="+mj-ea"/>
              </a:rPr>
              <a:t>겔렌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루만의 그림자가 아닌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434986-893C-46EB-B99D-7F819B97F558}"/>
              </a:ext>
            </a:extLst>
          </p:cNvPr>
          <p:cNvSpPr txBox="1"/>
          <p:nvPr/>
        </p:nvSpPr>
        <p:spPr>
          <a:xfrm>
            <a:off x="15574489" y="11547280"/>
            <a:ext cx="13702707" cy="6683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사회 구조 변화를 네 가지 분화형식으로 규정하며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기능적 분화가 각 부분체계가 특수한 기능에 특화되어 동등하게 작동한다고 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반면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현대사회를 기술과 과학의 상호 의존을 통해 형성된 ‘거대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구조’가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지배한다고 주장하며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 구조는 윤리와 무관하게 사회에 영향을 미친다고 설명한다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거대 구조가 문화와 개인 의식에 미치는 영향을 강조하며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탈감각화와 지성화 경향을 설명한다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그는 기술적 원리가 비기술적 영역까지 침투해 인간관계와 개인 내면에 영향을 미친다고 보고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의식 구조의 변화를 통해 기술적 원리가 개인의 행동에 강제력을 발휘한다고 지적한다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6497B5-CE71-4BCA-B1A8-3600584B2427}"/>
              </a:ext>
            </a:extLst>
          </p:cNvPr>
          <p:cNvSpPr txBox="1"/>
          <p:nvPr/>
        </p:nvSpPr>
        <p:spPr>
          <a:xfrm>
            <a:off x="15453148" y="10631276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3.1.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기능적 분화 대 거대 구조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138E9C-F5F5-4D50-85C4-C32C6B9F1F0E}"/>
              </a:ext>
            </a:extLst>
          </p:cNvPr>
          <p:cNvSpPr txBox="1"/>
          <p:nvPr/>
        </p:nvSpPr>
        <p:spPr>
          <a:xfrm>
            <a:off x="15499562" y="19564536"/>
            <a:ext cx="13702707" cy="69869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개인을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사회적 체계 내에서 커뮤니케이션의 송신자와 수신자 역할을 하는 인격과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의식의 흐름을 따르는 순수 개체적 존재로 구분한다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그는 개인의 유일무이성을 원리적으로 보장하지만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심리가 커뮤니케이션에 영향을 받아 순수한 개인적 존재는 성립하기 어렵다고 주장한다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개인의 사회적 영향을 고려하며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인격을 신주관주의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초관행적 인물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질적 비범함으로 나눈다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질적 비범함을 통해 기술적 합리성을 넘는 가치를 실현하는 개인의 역량을 강조한다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그는 이를 통해 가치와 도덕을 지키는 역할을 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제도와 조직을 구별한다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루만은 다기능적 제도의 쇠퇴를 예측하지만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다목적적 제도가 지속 가능한 제도로서 중요하다고 주장한다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BFC578-2E70-4170-8E1D-14CF96A2EEFA}"/>
              </a:ext>
            </a:extLst>
          </p:cNvPr>
          <p:cNvSpPr txBox="1"/>
          <p:nvPr/>
        </p:nvSpPr>
        <p:spPr>
          <a:xfrm>
            <a:off x="15378221" y="18534231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3.2.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개인의 유일무이성 대 질적 비범함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DDD8FC-CE11-469F-AC9A-00FBA22826BF}"/>
              </a:ext>
            </a:extLst>
          </p:cNvPr>
          <p:cNvSpPr txBox="1"/>
          <p:nvPr/>
        </p:nvSpPr>
        <p:spPr>
          <a:xfrm>
            <a:off x="15574489" y="27950693"/>
            <a:ext cx="13702707" cy="583484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현대사회의 특징을 금욕의 부재로 진단하며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산업사회에서 소비 욕구의 자동화와 풍요로운 삶을 포기할 권리가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불가능해졌다고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그는 금욕의 회복이 인격의 통합성과 사회적 동인들을 강화하며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고무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규율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희생의 세 가지 측면에서 전체를 조망하는 능력을 기를 수 있다고 주장한다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3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겔렌은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금욕을 실천의 출발점으로 삼고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이를 통해 일상에서 가치를 실현할 수 있다고 본다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그러나 그의 실천 개념은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엘리트주의적이며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자유민주주의 위기의 원인 중 하나가 엘리트적 실천의 부재라고 주장하며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3200" dirty="0" err="1">
                <a:solidFill>
                  <a:schemeClr val="tx1"/>
                </a:solidFill>
                <a:latin typeface="+mj-ea"/>
                <a:ea typeface="+mj-ea"/>
              </a:rPr>
              <a:t>겔렌의</a:t>
            </a:r>
            <a:r>
              <a:rPr lang="ko-KR" altLang="en-US" sz="3200" dirty="0">
                <a:solidFill>
                  <a:schemeClr val="tx1"/>
                </a:solidFill>
                <a:latin typeface="+mj-ea"/>
                <a:ea typeface="+mj-ea"/>
              </a:rPr>
              <a:t> 금욕 개념이 현대에 재조명될 필요가 있다고 제시한다</a:t>
            </a:r>
            <a:r>
              <a:rPr lang="en-US" altLang="ko-KR" sz="3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6A1D72-E804-4416-8BB1-B86804142F72}"/>
              </a:ext>
            </a:extLst>
          </p:cNvPr>
          <p:cNvSpPr txBox="1"/>
          <p:nvPr/>
        </p:nvSpPr>
        <p:spPr>
          <a:xfrm>
            <a:off x="15453148" y="26920388"/>
            <a:ext cx="13898974" cy="734425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38100">
            <a:noFill/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3.3. </a:t>
            </a:r>
            <a:r>
              <a:rPr lang="ko-KR" altLang="en-US" sz="3600" b="1" dirty="0" err="1">
                <a:solidFill>
                  <a:schemeClr val="bg1"/>
                </a:solidFill>
                <a:latin typeface="+mj-ea"/>
                <a:ea typeface="+mj-ea"/>
              </a:rPr>
              <a:t>루만을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 넘어서 </a:t>
            </a:r>
            <a:r>
              <a:rPr lang="en-US" altLang="ko-KR" sz="3600" b="1" dirty="0">
                <a:solidFill>
                  <a:schemeClr val="bg1"/>
                </a:solidFill>
                <a:latin typeface="+mj-ea"/>
                <a:ea typeface="+mj-ea"/>
              </a:rPr>
              <a:t>: 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실천의 </a:t>
            </a:r>
            <a:r>
              <a:rPr lang="ko-KR" altLang="en-US" sz="3600" b="1" dirty="0" err="1">
                <a:solidFill>
                  <a:schemeClr val="bg1"/>
                </a:solidFill>
                <a:latin typeface="+mj-ea"/>
                <a:ea typeface="+mj-ea"/>
              </a:rPr>
              <a:t>출발점으로서의</a:t>
            </a:r>
            <a:r>
              <a:rPr lang="ko-KR" altLang="en-US" sz="3600" b="1" dirty="0">
                <a:solidFill>
                  <a:schemeClr val="bg1"/>
                </a:solidFill>
                <a:latin typeface="+mj-ea"/>
                <a:ea typeface="+mj-ea"/>
              </a:rPr>
              <a:t> 금욕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888</Words>
  <Application>Microsoft Office PowerPoint</Application>
  <PresentationFormat>사용자 지정</PresentationFormat>
  <Paragraphs>33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하유 무</cp:lastModifiedBy>
  <cp:revision>34</cp:revision>
  <dcterms:created xsi:type="dcterms:W3CDTF">2018-10-17T01:18:09Z</dcterms:created>
  <dcterms:modified xsi:type="dcterms:W3CDTF">2024-12-09T02:20:55Z</dcterms:modified>
</cp:coreProperties>
</file>