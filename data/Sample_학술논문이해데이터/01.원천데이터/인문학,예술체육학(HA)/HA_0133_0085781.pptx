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Pi7jr+A4YPg74lnu0nHqD798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CAE"/>
    <a:srgbClr val="FEEDE4"/>
    <a:srgbClr val="FEFBF4"/>
    <a:srgbClr val="294A7F"/>
    <a:srgbClr val="FFE699"/>
    <a:srgbClr val="FFDE75"/>
    <a:srgbClr val="5195D3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68" autoAdjust="0"/>
    <p:restoredTop sz="96366" autoAdjust="0"/>
  </p:normalViewPr>
  <p:slideViewPr>
    <p:cSldViewPr snapToGrid="0">
      <p:cViewPr varScale="1">
        <p:scale>
          <a:sx n="28" d="100"/>
          <a:sy n="28" d="100"/>
        </p:scale>
        <p:origin x="984" y="210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2798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51200" y="1793875"/>
            <a:ext cx="3424200" cy="484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bg>
      <p:bgPr>
        <a:gradFill>
          <a:gsLst>
            <a:gs pos="0">
              <a:schemeClr val="lt1"/>
            </a:gs>
            <a:gs pos="40000">
              <a:srgbClr val="FDFDFD"/>
            </a:gs>
            <a:gs pos="100000">
              <a:srgbClr val="7A7A7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4">
                <a:lumMod val="50000"/>
              </a:schemeClr>
            </a:gs>
            <a:gs pos="0">
              <a:schemeClr val="accent6">
                <a:lumMod val="45000"/>
                <a:lumOff val="55000"/>
              </a:schemeClr>
            </a:gs>
            <a:gs pos="0">
              <a:schemeClr val="accent4">
                <a:lumMod val="20000"/>
                <a:lumOff val="80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66EB93-4BCA-E46F-0397-412DD30EC7D8}"/>
              </a:ext>
            </a:extLst>
          </p:cNvPr>
          <p:cNvSpPr txBox="1"/>
          <p:nvPr/>
        </p:nvSpPr>
        <p:spPr>
          <a:xfrm>
            <a:off x="416768" y="467082"/>
            <a:ext cx="22548740" cy="2947017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ko-KR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자주색 겹꽃의 관상가치가 높은 반구형 화단국화</a:t>
            </a:r>
          </a:p>
          <a:p>
            <a:r>
              <a:rPr lang="en-US" altLang="ko-K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‘</a:t>
            </a:r>
            <a:r>
              <a:rPr lang="ko-KR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진아이볼</a:t>
            </a:r>
            <a:r>
              <a:rPr lang="en-US" altLang="ko-K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’</a:t>
            </a:r>
            <a:r>
              <a:rPr lang="ko-KR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의 특성 및 시장성 제안</a:t>
            </a:r>
            <a:endParaRPr lang="ko-KR" altLang="en-US" sz="8000" b="1" dirty="0"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427C103-F234-6906-E221-8BA262B4ED33}"/>
              </a:ext>
            </a:extLst>
          </p:cNvPr>
          <p:cNvCxnSpPr/>
          <p:nvPr/>
        </p:nvCxnSpPr>
        <p:spPr>
          <a:xfrm flipH="1">
            <a:off x="0" y="6452347"/>
            <a:ext cx="30275213" cy="0"/>
          </a:xfrm>
          <a:prstGeom prst="line">
            <a:avLst/>
          </a:prstGeom>
          <a:ln w="1270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41B5DA-C26A-6AD3-D6B7-03E9544132E3}"/>
              </a:ext>
            </a:extLst>
          </p:cNvPr>
          <p:cNvSpPr/>
          <p:nvPr/>
        </p:nvSpPr>
        <p:spPr>
          <a:xfrm>
            <a:off x="269475" y="7741404"/>
            <a:ext cx="14622182" cy="4683677"/>
          </a:xfrm>
          <a:prstGeom prst="rect">
            <a:avLst/>
          </a:prstGeom>
          <a:solidFill>
            <a:schemeClr val="bg1"/>
          </a:solidFill>
          <a:ln w="889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28E726-F522-ECD4-3AEE-7267663ED1C3}"/>
              </a:ext>
            </a:extLst>
          </p:cNvPr>
          <p:cNvSpPr txBox="1"/>
          <p:nvPr/>
        </p:nvSpPr>
        <p:spPr>
          <a:xfrm>
            <a:off x="989650" y="8630332"/>
            <a:ext cx="133434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+mn-ea"/>
                <a:ea typeface="+mn-ea"/>
              </a:rPr>
              <a:t>이 연구는 충청남도농업기술원 화훼연구소에서 개발한 새로운 화단용 국화 품종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ko-KR" altLang="en-US" sz="3500" dirty="0" err="1">
                <a:latin typeface="+mn-ea"/>
                <a:ea typeface="+mn-ea"/>
              </a:rPr>
              <a:t>진아이볼’에</a:t>
            </a:r>
            <a:r>
              <a:rPr lang="ko-KR" altLang="en-US" sz="3500" dirty="0">
                <a:latin typeface="+mn-ea"/>
                <a:ea typeface="+mn-ea"/>
              </a:rPr>
              <a:t> 대한 것임</a:t>
            </a:r>
            <a:r>
              <a:rPr lang="en-US" altLang="ko-KR" sz="3500" dirty="0">
                <a:latin typeface="+mn-ea"/>
                <a:ea typeface="+mn-ea"/>
              </a:rPr>
              <a:t>. ＇</a:t>
            </a:r>
            <a:r>
              <a:rPr lang="ko-KR" altLang="en-US" sz="3500" dirty="0" err="1">
                <a:latin typeface="+mn-ea"/>
                <a:ea typeface="+mn-ea"/>
              </a:rPr>
              <a:t>진아이볼’은</a:t>
            </a:r>
            <a:r>
              <a:rPr lang="ko-KR" altLang="en-US" sz="3500" dirty="0">
                <a:latin typeface="+mn-ea"/>
                <a:ea typeface="+mn-ea"/>
              </a:rPr>
              <a:t> 자주색 겹꽃을 가진 반구형 국화로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기존의 수입산 품종을 대체할 수 있는 우수한 품종임</a:t>
            </a:r>
            <a:r>
              <a:rPr lang="en-US" altLang="ko-KR" sz="3500" dirty="0">
                <a:latin typeface="+mn-ea"/>
                <a:ea typeface="+mn-ea"/>
              </a:rPr>
              <a:t>. </a:t>
            </a:r>
            <a:r>
              <a:rPr lang="ko-KR" altLang="en-US" sz="3500" dirty="0">
                <a:latin typeface="+mn-ea"/>
                <a:ea typeface="+mn-ea"/>
              </a:rPr>
              <a:t>이 연구는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ko-KR" altLang="en-US" sz="3500" dirty="0" err="1">
                <a:latin typeface="+mn-ea"/>
                <a:ea typeface="+mn-ea"/>
              </a:rPr>
              <a:t>진아이볼’의</a:t>
            </a:r>
            <a:r>
              <a:rPr lang="ko-KR" altLang="en-US" sz="3500" dirty="0">
                <a:latin typeface="+mn-ea"/>
                <a:ea typeface="+mn-ea"/>
              </a:rPr>
              <a:t> 육성 과정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주요 특성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재배 방법 및 시장성을 분석하여 국내 화훼 농가의 소득 증대와 화훼 산업의 경쟁력 강화를 목표로 함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  <a:endParaRPr lang="ko-KR" altLang="en-US" sz="350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A033F-6708-F825-B655-4BDC362A81D3}"/>
              </a:ext>
            </a:extLst>
          </p:cNvPr>
          <p:cNvSpPr txBox="1"/>
          <p:nvPr/>
        </p:nvSpPr>
        <p:spPr>
          <a:xfrm>
            <a:off x="228600" y="7176096"/>
            <a:ext cx="6910975" cy="1085848"/>
          </a:xfrm>
          <a:prstGeom prst="homePlate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500" b="1" dirty="0">
                <a:solidFill>
                  <a:schemeClr val="bg1"/>
                </a:solidFill>
                <a:latin typeface="+mj-ea"/>
                <a:ea typeface="+mj-ea"/>
              </a:rPr>
              <a:t>초록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057B5-20D5-B5BC-D058-89AAD09925F1}"/>
              </a:ext>
            </a:extLst>
          </p:cNvPr>
          <p:cNvSpPr txBox="1"/>
          <p:nvPr/>
        </p:nvSpPr>
        <p:spPr>
          <a:xfrm>
            <a:off x="578133" y="3486286"/>
            <a:ext cx="17862267" cy="235552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en-US" altLang="ko-KR" sz="4500" b="1" dirty="0">
                <a:latin typeface="+mj-ea"/>
                <a:ea typeface="+mj-ea"/>
              </a:rPr>
              <a:t>Proposal on the Characteristics and </a:t>
            </a:r>
            <a:r>
              <a:rPr lang="en-US" altLang="ko-KR" sz="4500" b="1" dirty="0" err="1">
                <a:latin typeface="+mj-ea"/>
                <a:ea typeface="+mj-ea"/>
              </a:rPr>
              <a:t>Marketbility</a:t>
            </a:r>
            <a:r>
              <a:rPr lang="en-US" altLang="ko-KR" sz="4500" b="1" dirty="0">
                <a:latin typeface="+mj-ea"/>
                <a:ea typeface="+mj-ea"/>
              </a:rPr>
              <a:t> of '</a:t>
            </a:r>
            <a:r>
              <a:rPr lang="en-US" altLang="ko-KR" sz="4500" b="1" dirty="0" err="1">
                <a:latin typeface="+mj-ea"/>
                <a:ea typeface="+mj-ea"/>
              </a:rPr>
              <a:t>Jineye</a:t>
            </a:r>
            <a:r>
              <a:rPr lang="en-US" altLang="ko-KR" sz="4500" b="1" dirty="0">
                <a:latin typeface="+mj-ea"/>
                <a:ea typeface="+mj-ea"/>
              </a:rPr>
              <a:t> Ball’, </a:t>
            </a:r>
          </a:p>
          <a:p>
            <a:r>
              <a:rPr lang="en-US" altLang="ko-KR" sz="4500" b="1" dirty="0">
                <a:latin typeface="+mj-ea"/>
                <a:ea typeface="+mj-ea"/>
              </a:rPr>
              <a:t>a Semi-spherical Garden Chrysanthemum </a:t>
            </a:r>
          </a:p>
          <a:p>
            <a:r>
              <a:rPr lang="en-US" altLang="ko-KR" sz="4500" b="1" dirty="0">
                <a:latin typeface="+mj-ea"/>
                <a:ea typeface="+mj-ea"/>
              </a:rPr>
              <a:t>with Decorative Type with </a:t>
            </a:r>
            <a:r>
              <a:rPr lang="en-US" altLang="ko-KR" sz="4500" b="1" dirty="0" err="1">
                <a:latin typeface="+mj-ea"/>
                <a:ea typeface="+mj-ea"/>
              </a:rPr>
              <a:t>Pupple</a:t>
            </a:r>
            <a:r>
              <a:rPr lang="en-US" altLang="ko-KR" sz="4500" b="1" dirty="0">
                <a:latin typeface="+mj-ea"/>
                <a:ea typeface="+mj-ea"/>
              </a:rPr>
              <a:t> Color</a:t>
            </a:r>
            <a:endParaRPr lang="ko-KR" altLang="en-US" sz="4500" b="1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AA699D-A2D9-50D1-8301-8A3DE4A5DAA3}"/>
              </a:ext>
            </a:extLst>
          </p:cNvPr>
          <p:cNvSpPr/>
          <p:nvPr/>
        </p:nvSpPr>
        <p:spPr>
          <a:xfrm>
            <a:off x="269475" y="13714137"/>
            <a:ext cx="14622182" cy="7288778"/>
          </a:xfrm>
          <a:prstGeom prst="rect">
            <a:avLst/>
          </a:prstGeom>
          <a:solidFill>
            <a:schemeClr val="bg1"/>
          </a:solidFill>
          <a:ln w="889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3C007-2D26-77CE-F727-A6B80B0ED2D7}"/>
              </a:ext>
            </a:extLst>
          </p:cNvPr>
          <p:cNvSpPr txBox="1"/>
          <p:nvPr/>
        </p:nvSpPr>
        <p:spPr>
          <a:xfrm>
            <a:off x="989650" y="14754824"/>
            <a:ext cx="133434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500" b="1" dirty="0">
                <a:latin typeface="+mn-ea"/>
                <a:ea typeface="+mn-ea"/>
              </a:rPr>
              <a:t>연구의 필요성과 배경</a:t>
            </a:r>
            <a:endParaRPr lang="en-US" altLang="ko-KR" sz="3500" b="1" dirty="0">
              <a:latin typeface="+mn-ea"/>
              <a:ea typeface="+mn-ea"/>
            </a:endParaRPr>
          </a:p>
          <a:p>
            <a:r>
              <a:rPr lang="ko-KR" altLang="en-US" sz="3500" dirty="0">
                <a:latin typeface="+mn-ea"/>
                <a:ea typeface="+mn-ea"/>
              </a:rPr>
              <a:t>화단국화는 지자체 행사 증가와 정원 가꾸기에 대한 관심이 높아지면서 품종 개발이 요구되고 있음</a:t>
            </a:r>
            <a:r>
              <a:rPr lang="en-US" altLang="ko-KR" sz="3500" dirty="0">
                <a:latin typeface="+mn-ea"/>
                <a:ea typeface="+mn-ea"/>
              </a:rPr>
              <a:t>. </a:t>
            </a:r>
            <a:r>
              <a:rPr lang="ko-KR" altLang="en-US" sz="3500" dirty="0">
                <a:latin typeface="+mn-ea"/>
                <a:ea typeface="+mn-ea"/>
              </a:rPr>
              <a:t>화훼산업은 실내에서 절화 감상에서 실외 정원 가꾸기로 전환되고 있다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9BF10-00F3-5DCA-6DAC-DB1919E46B40}"/>
              </a:ext>
            </a:extLst>
          </p:cNvPr>
          <p:cNvSpPr txBox="1"/>
          <p:nvPr/>
        </p:nvSpPr>
        <p:spPr>
          <a:xfrm>
            <a:off x="228600" y="13148829"/>
            <a:ext cx="6910975" cy="1085848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500" b="1" dirty="0">
                <a:solidFill>
                  <a:schemeClr val="tx1"/>
                </a:solidFill>
                <a:latin typeface="+mj-ea"/>
                <a:ea typeface="+mj-ea"/>
              </a:rPr>
              <a:t>Ⅰ. </a:t>
            </a:r>
            <a:r>
              <a:rPr lang="ko-KR" altLang="en-US" sz="4500" b="1" dirty="0">
                <a:solidFill>
                  <a:schemeClr val="tx1"/>
                </a:solidFill>
                <a:latin typeface="+mj-ea"/>
                <a:ea typeface="+mj-ea"/>
              </a:rPr>
              <a:t>서론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AC7173-42F8-3425-B58D-EDA438BF0448}"/>
              </a:ext>
            </a:extLst>
          </p:cNvPr>
          <p:cNvSpPr txBox="1"/>
          <p:nvPr/>
        </p:nvSpPr>
        <p:spPr>
          <a:xfrm>
            <a:off x="989650" y="17573222"/>
            <a:ext cx="1334342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2. </a:t>
            </a:r>
            <a:r>
              <a:rPr lang="ko-KR" altLang="en-US" sz="3500" b="1" dirty="0">
                <a:latin typeface="+mn-ea"/>
                <a:ea typeface="+mn-ea"/>
              </a:rPr>
              <a:t>연구 목적</a:t>
            </a:r>
            <a:endParaRPr lang="en-US" altLang="ko-KR" sz="3500" b="1" dirty="0">
              <a:latin typeface="+mn-ea"/>
              <a:ea typeface="+mn-ea"/>
            </a:endParaRPr>
          </a:p>
          <a:p>
            <a:r>
              <a:rPr lang="ko-KR" altLang="en-US" sz="3500" dirty="0" err="1">
                <a:latin typeface="+mn-ea"/>
                <a:ea typeface="+mn-ea"/>
              </a:rPr>
              <a:t>화훼류</a:t>
            </a:r>
            <a:r>
              <a:rPr lang="ko-KR" altLang="en-US" sz="3500" dirty="0">
                <a:latin typeface="+mn-ea"/>
                <a:ea typeface="+mn-ea"/>
              </a:rPr>
              <a:t> 소비 패턴 변화에 대응하여 자주색 겹꽃의 반구형 화단국화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ko-KR" altLang="en-US" sz="3500" dirty="0" err="1">
                <a:latin typeface="+mn-ea"/>
                <a:ea typeface="+mn-ea"/>
              </a:rPr>
              <a:t>진아이볼’을</a:t>
            </a:r>
            <a:r>
              <a:rPr lang="ko-KR" altLang="en-US" sz="3500" dirty="0">
                <a:latin typeface="+mn-ea"/>
                <a:ea typeface="+mn-ea"/>
              </a:rPr>
              <a:t> 개발하였음</a:t>
            </a:r>
            <a:r>
              <a:rPr lang="en-US" altLang="ko-KR" sz="3500" dirty="0">
                <a:latin typeface="+mn-ea"/>
                <a:ea typeface="+mn-ea"/>
              </a:rPr>
              <a:t>. </a:t>
            </a:r>
            <a:r>
              <a:rPr lang="ko-KR" altLang="en-US" sz="3500" dirty="0">
                <a:latin typeface="+mn-ea"/>
                <a:ea typeface="+mn-ea"/>
              </a:rPr>
              <a:t>이를 통해 수입산 의존도를 줄이고 국내 농가의 로열티 비용을 절감하여 지속 가능한 소득원을 창출하고자 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  <a:endParaRPr lang="ko-KR" altLang="en-US" sz="3500" dirty="0"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DB0AF7-75E7-EE06-F109-F194B3F7A5A0}"/>
              </a:ext>
            </a:extLst>
          </p:cNvPr>
          <p:cNvSpPr/>
          <p:nvPr/>
        </p:nvSpPr>
        <p:spPr>
          <a:xfrm>
            <a:off x="269475" y="22318028"/>
            <a:ext cx="14622182" cy="12283481"/>
          </a:xfrm>
          <a:prstGeom prst="rect">
            <a:avLst/>
          </a:prstGeom>
          <a:solidFill>
            <a:schemeClr val="bg1"/>
          </a:solidFill>
          <a:ln w="889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ECF97-9C9F-C990-7A81-49DB90F77E61}"/>
              </a:ext>
            </a:extLst>
          </p:cNvPr>
          <p:cNvSpPr txBox="1"/>
          <p:nvPr/>
        </p:nvSpPr>
        <p:spPr>
          <a:xfrm>
            <a:off x="989650" y="23424030"/>
            <a:ext cx="13343428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1. </a:t>
            </a:r>
            <a:r>
              <a:rPr lang="ko-KR" altLang="en-US" sz="3500" b="1" dirty="0">
                <a:latin typeface="+mn-ea"/>
                <a:ea typeface="+mn-ea"/>
              </a:rPr>
              <a:t>연구재료 및 생육</a:t>
            </a:r>
            <a:endParaRPr lang="en-US" altLang="ko-KR" sz="3500" b="1" dirty="0">
              <a:latin typeface="+mn-ea"/>
              <a:ea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충남농업기술원에서 보존 중인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Lariva</a:t>
            </a:r>
            <a:r>
              <a:rPr lang="en-US" altLang="ko-KR" sz="3500" dirty="0">
                <a:latin typeface="+mn-ea"/>
                <a:ea typeface="+mn-ea"/>
              </a:rPr>
              <a:t> Red'</a:t>
            </a:r>
            <a:r>
              <a:rPr lang="ko-KR" altLang="en-US" sz="3500" dirty="0">
                <a:latin typeface="+mn-ea"/>
                <a:ea typeface="+mn-ea"/>
              </a:rPr>
              <a:t>를 모본으로 사용한다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자유방임 교배 후</a:t>
            </a:r>
            <a:r>
              <a:rPr lang="en-US" altLang="ko-KR" sz="3500" dirty="0">
                <a:latin typeface="+mn-ea"/>
                <a:ea typeface="+mn-ea"/>
              </a:rPr>
              <a:t>, 12</a:t>
            </a:r>
            <a:r>
              <a:rPr lang="ko-KR" altLang="en-US" sz="3500" dirty="0">
                <a:latin typeface="+mn-ea"/>
                <a:ea typeface="+mn-ea"/>
              </a:rPr>
              <a:t>월 중순에 종자 채취 및 상온 보관한다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latin typeface="+mn-ea"/>
                <a:ea typeface="+mn-ea"/>
              </a:rPr>
              <a:t>128</a:t>
            </a:r>
            <a:r>
              <a:rPr lang="ko-KR" altLang="en-US" sz="3500" dirty="0">
                <a:latin typeface="+mn-ea"/>
                <a:ea typeface="+mn-ea"/>
              </a:rPr>
              <a:t>구 플러그 트레이에 파종</a:t>
            </a:r>
            <a:r>
              <a:rPr lang="en-US" altLang="ko-KR" sz="3500" dirty="0">
                <a:latin typeface="+mn-ea"/>
                <a:ea typeface="+mn-ea"/>
              </a:rPr>
              <a:t>; </a:t>
            </a:r>
            <a:r>
              <a:rPr lang="ko-KR" altLang="en-US" sz="3500" dirty="0">
                <a:latin typeface="+mn-ea"/>
                <a:ea typeface="+mn-ea"/>
              </a:rPr>
              <a:t>유리온실에서 육묘 진행한다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latin typeface="+mn-ea"/>
                <a:ea typeface="+mn-ea"/>
              </a:rPr>
              <a:t>6</a:t>
            </a:r>
            <a:r>
              <a:rPr lang="ko-KR" altLang="en-US" sz="3500" dirty="0">
                <a:latin typeface="+mn-ea"/>
                <a:ea typeface="+mn-ea"/>
              </a:rPr>
              <a:t>월 상순에 노지 포장에서 </a:t>
            </a:r>
            <a:r>
              <a:rPr lang="ko-KR" altLang="en-US" sz="3500" dirty="0" err="1">
                <a:latin typeface="+mn-ea"/>
                <a:ea typeface="+mn-ea"/>
              </a:rPr>
              <a:t>무적심</a:t>
            </a:r>
            <a:r>
              <a:rPr lang="ko-KR" altLang="en-US" sz="3500" dirty="0">
                <a:latin typeface="+mn-ea"/>
                <a:ea typeface="+mn-ea"/>
              </a:rPr>
              <a:t> 재배로 정식한다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시비 및 병충해 방제는 농촌진흥청 기준 준수한다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8019CE-A80C-38F1-3C3E-7D2C4064A9EB}"/>
              </a:ext>
            </a:extLst>
          </p:cNvPr>
          <p:cNvSpPr txBox="1"/>
          <p:nvPr/>
        </p:nvSpPr>
        <p:spPr>
          <a:xfrm>
            <a:off x="228600" y="21752721"/>
            <a:ext cx="6910975" cy="1085848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500" b="1" dirty="0">
                <a:solidFill>
                  <a:schemeClr val="tx1"/>
                </a:solidFill>
                <a:latin typeface="+mj-ea"/>
                <a:ea typeface="+mj-ea"/>
              </a:rPr>
              <a:t>Ⅱ. </a:t>
            </a:r>
            <a:r>
              <a:rPr lang="ko-KR" altLang="en-US" sz="4500" b="1" dirty="0">
                <a:solidFill>
                  <a:schemeClr val="tx1"/>
                </a:solidFill>
                <a:latin typeface="+mj-ea"/>
                <a:ea typeface="+mj-ea"/>
              </a:rPr>
              <a:t>연구 방법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E5DD9E-B1BF-9BF8-A354-343C70B351B8}"/>
              </a:ext>
            </a:extLst>
          </p:cNvPr>
          <p:cNvSpPr txBox="1"/>
          <p:nvPr/>
        </p:nvSpPr>
        <p:spPr>
          <a:xfrm>
            <a:off x="989650" y="27431333"/>
            <a:ext cx="13343428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2. RAPD </a:t>
            </a:r>
            <a:r>
              <a:rPr lang="ko-KR" altLang="en-US" sz="3500" b="1" dirty="0">
                <a:latin typeface="+mn-ea"/>
                <a:ea typeface="+mn-ea"/>
              </a:rPr>
              <a:t>분석 및 </a:t>
            </a:r>
            <a:r>
              <a:rPr lang="ko-KR" altLang="en-US" sz="3500" b="1" dirty="0" err="1">
                <a:latin typeface="+mn-ea"/>
                <a:ea typeface="+mn-ea"/>
              </a:rPr>
              <a:t>전기영동</a:t>
            </a:r>
            <a:endParaRPr lang="en-US" altLang="ko-KR" sz="3500" b="1" dirty="0">
              <a:latin typeface="+mn-ea"/>
              <a:ea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Lariva</a:t>
            </a:r>
            <a:r>
              <a:rPr lang="en-US" altLang="ko-KR" sz="3500" dirty="0">
                <a:latin typeface="+mn-ea"/>
                <a:ea typeface="+mn-ea"/>
              </a:rPr>
              <a:t> Red'</a:t>
            </a:r>
            <a:r>
              <a:rPr lang="ko-KR" altLang="en-US" sz="3500" dirty="0">
                <a:latin typeface="+mn-ea"/>
                <a:ea typeface="+mn-ea"/>
              </a:rPr>
              <a:t>와 진아이볼 간 유전적 구별성을 확인하기 위해 </a:t>
            </a:r>
            <a:r>
              <a:rPr lang="en-US" altLang="ko-KR" sz="3500" dirty="0">
                <a:latin typeface="+mn-ea"/>
                <a:ea typeface="+mn-ea"/>
              </a:rPr>
              <a:t>RAPD </a:t>
            </a:r>
            <a:r>
              <a:rPr lang="ko-KR" altLang="en-US" sz="3500" dirty="0">
                <a:latin typeface="+mn-ea"/>
                <a:ea typeface="+mn-ea"/>
              </a:rPr>
              <a:t>분석 실시한다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 err="1">
                <a:latin typeface="+mn-ea"/>
                <a:ea typeface="+mn-ea"/>
              </a:rPr>
              <a:t>DNeasy</a:t>
            </a:r>
            <a:r>
              <a:rPr lang="en-US" altLang="ko-KR" sz="3500" dirty="0">
                <a:latin typeface="+mn-ea"/>
                <a:ea typeface="+mn-ea"/>
              </a:rPr>
              <a:t> Plant Mini kit</a:t>
            </a:r>
            <a:r>
              <a:rPr lang="ko-KR" altLang="en-US" sz="3500" dirty="0">
                <a:latin typeface="+mn-ea"/>
                <a:ea typeface="+mn-ea"/>
              </a:rPr>
              <a:t>를 사용하여 </a:t>
            </a:r>
            <a:r>
              <a:rPr lang="en-US" altLang="ko-KR" sz="3500" dirty="0">
                <a:latin typeface="+mn-ea"/>
                <a:ea typeface="+mn-ea"/>
              </a:rPr>
              <a:t>DNA </a:t>
            </a:r>
            <a:r>
              <a:rPr lang="ko-KR" altLang="en-US" sz="3500" dirty="0">
                <a:latin typeface="+mn-ea"/>
                <a:ea typeface="+mn-ea"/>
              </a:rPr>
              <a:t>추출한다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latin typeface="+mn-ea"/>
                <a:ea typeface="+mn-ea"/>
              </a:rPr>
              <a:t>PCR </a:t>
            </a:r>
            <a:r>
              <a:rPr lang="ko-KR" altLang="en-US" sz="3500" dirty="0">
                <a:latin typeface="+mn-ea"/>
                <a:ea typeface="+mn-ea"/>
              </a:rPr>
              <a:t>반응을 통한 </a:t>
            </a:r>
            <a:r>
              <a:rPr lang="en-US" altLang="ko-KR" sz="3500" dirty="0">
                <a:latin typeface="+mn-ea"/>
                <a:ea typeface="+mn-ea"/>
              </a:rPr>
              <a:t>DNA </a:t>
            </a:r>
            <a:r>
              <a:rPr lang="ko-KR" altLang="en-US" sz="3500" dirty="0">
                <a:latin typeface="+mn-ea"/>
                <a:ea typeface="+mn-ea"/>
              </a:rPr>
              <a:t>프로파일링 수행한다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분석 결과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진아이볼과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Lariva</a:t>
            </a:r>
            <a:r>
              <a:rPr lang="en-US" altLang="ko-KR" sz="3500" dirty="0">
                <a:latin typeface="+mn-ea"/>
                <a:ea typeface="+mn-ea"/>
              </a:rPr>
              <a:t> Red'</a:t>
            </a:r>
            <a:r>
              <a:rPr lang="ko-KR" altLang="en-US" sz="3500" dirty="0">
                <a:latin typeface="+mn-ea"/>
                <a:ea typeface="+mn-ea"/>
              </a:rPr>
              <a:t>의 유전적 유사성 및 차이점 확인한다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E9B056DE-E3C1-1446-44D2-BB43636B1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50" y="31877469"/>
            <a:ext cx="13343428" cy="208369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F22C77B-315A-4D30-9019-A232AEE612E2}"/>
              </a:ext>
            </a:extLst>
          </p:cNvPr>
          <p:cNvSpPr txBox="1"/>
          <p:nvPr/>
        </p:nvSpPr>
        <p:spPr>
          <a:xfrm>
            <a:off x="6979783" y="31208419"/>
            <a:ext cx="7353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dirty="0">
                <a:latin typeface="+mn-ea"/>
                <a:ea typeface="+mn-ea"/>
              </a:rPr>
              <a:t> [Table1] </a:t>
            </a:r>
            <a:r>
              <a:rPr lang="en-US" altLang="ko-KR" sz="2000" dirty="0" err="1">
                <a:latin typeface="+mn-ea"/>
                <a:ea typeface="+mn-ea"/>
              </a:rPr>
              <a:t>Summaryof</a:t>
            </a: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en-US" altLang="ko-KR" sz="2000" dirty="0" err="1">
                <a:latin typeface="+mn-ea"/>
                <a:ea typeface="+mn-ea"/>
              </a:rPr>
              <a:t>theprimer</a:t>
            </a: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en-US" altLang="ko-KR" sz="2000" dirty="0" err="1">
                <a:latin typeface="+mn-ea"/>
                <a:ea typeface="+mn-ea"/>
              </a:rPr>
              <a:t>informationused</a:t>
            </a:r>
            <a:r>
              <a:rPr lang="en-US" altLang="ko-KR" sz="2000" dirty="0">
                <a:latin typeface="+mn-ea"/>
                <a:ea typeface="+mn-ea"/>
              </a:rPr>
              <a:t> in this study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159EE68-01DC-EC62-3604-70BF3C998075}"/>
              </a:ext>
            </a:extLst>
          </p:cNvPr>
          <p:cNvSpPr/>
          <p:nvPr/>
        </p:nvSpPr>
        <p:spPr>
          <a:xfrm>
            <a:off x="269475" y="35942125"/>
            <a:ext cx="14622182" cy="5905121"/>
          </a:xfrm>
          <a:prstGeom prst="rect">
            <a:avLst/>
          </a:prstGeom>
          <a:solidFill>
            <a:schemeClr val="bg1"/>
          </a:solidFill>
          <a:ln w="889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FE340D-FA1B-658D-8B5E-25B43C143906}"/>
              </a:ext>
            </a:extLst>
          </p:cNvPr>
          <p:cNvSpPr txBox="1"/>
          <p:nvPr/>
        </p:nvSpPr>
        <p:spPr>
          <a:xfrm>
            <a:off x="989650" y="36884842"/>
            <a:ext cx="133434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1. </a:t>
            </a:r>
            <a:r>
              <a:rPr lang="ko-KR" altLang="en-US" sz="3500" b="1" dirty="0">
                <a:latin typeface="+mn-ea"/>
                <a:ea typeface="+mn-ea"/>
              </a:rPr>
              <a:t>육성 경위</a:t>
            </a:r>
            <a:endParaRPr lang="ko-KR" altLang="en-US" sz="3500" dirty="0">
              <a:latin typeface="+mn-ea"/>
              <a:ea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진아이볼은 충남농업기술원 화훼연구소에서 보존 중인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Lariva</a:t>
            </a:r>
            <a:r>
              <a:rPr lang="en-US" altLang="ko-KR" sz="3500" dirty="0">
                <a:latin typeface="+mn-ea"/>
                <a:ea typeface="+mn-ea"/>
              </a:rPr>
              <a:t> Red'</a:t>
            </a:r>
            <a:r>
              <a:rPr lang="ko-KR" altLang="en-US" sz="3500" dirty="0">
                <a:latin typeface="+mn-ea"/>
                <a:ea typeface="+mn-ea"/>
              </a:rPr>
              <a:t>를 모본으로 </a:t>
            </a:r>
            <a:r>
              <a:rPr lang="ko-KR" altLang="en-US" sz="3500" dirty="0" err="1">
                <a:latin typeface="+mn-ea"/>
                <a:ea typeface="+mn-ea"/>
              </a:rPr>
              <a:t>자유방임하여</a:t>
            </a:r>
            <a:r>
              <a:rPr lang="ko-KR" altLang="en-US" sz="3500" dirty="0">
                <a:latin typeface="+mn-ea"/>
                <a:ea typeface="+mn-ea"/>
              </a:rPr>
              <a:t> 육성된다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특징으로는 자주색 겹꽃형과 반구형 초형을 가지고 있다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latin typeface="+mn-ea"/>
                <a:ea typeface="+mn-ea"/>
              </a:rPr>
              <a:t>2018</a:t>
            </a:r>
            <a:r>
              <a:rPr lang="ko-KR" altLang="en-US" sz="3500" dirty="0">
                <a:latin typeface="+mn-ea"/>
                <a:ea typeface="+mn-ea"/>
              </a:rPr>
              <a:t>년부터 </a:t>
            </a:r>
            <a:r>
              <a:rPr lang="en-US" altLang="ko-KR" sz="3500" dirty="0">
                <a:latin typeface="+mn-ea"/>
                <a:ea typeface="+mn-ea"/>
              </a:rPr>
              <a:t>2020</a:t>
            </a:r>
            <a:r>
              <a:rPr lang="ko-KR" altLang="en-US" sz="3500" dirty="0">
                <a:latin typeface="+mn-ea"/>
                <a:ea typeface="+mn-ea"/>
              </a:rPr>
              <a:t>년까지 생육 특성 검정 및 증식을 통해 품종의 안정성과 특성을 체계적으로 확인한다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latin typeface="+mn-ea"/>
                <a:ea typeface="+mn-ea"/>
              </a:rPr>
              <a:t>2020</a:t>
            </a:r>
            <a:r>
              <a:rPr lang="ko-KR" altLang="en-US" sz="3500" dirty="0">
                <a:latin typeface="+mn-ea"/>
                <a:ea typeface="+mn-ea"/>
              </a:rPr>
              <a:t>년에는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Chungnam</a:t>
            </a:r>
            <a:r>
              <a:rPr lang="en-US" altLang="ko-KR" sz="3500" dirty="0">
                <a:latin typeface="+mn-ea"/>
                <a:ea typeface="+mn-ea"/>
              </a:rPr>
              <a:t> G-127’</a:t>
            </a:r>
            <a:r>
              <a:rPr lang="ko-KR" altLang="en-US" sz="3500" dirty="0">
                <a:latin typeface="+mn-ea"/>
                <a:ea typeface="+mn-ea"/>
              </a:rPr>
              <a:t>로 </a:t>
            </a:r>
            <a:r>
              <a:rPr lang="ko-KR" altLang="en-US" sz="3500" dirty="0" err="1">
                <a:latin typeface="+mn-ea"/>
                <a:ea typeface="+mn-ea"/>
              </a:rPr>
              <a:t>재명명하며</a:t>
            </a:r>
            <a:r>
              <a:rPr lang="ko-KR" altLang="en-US" sz="3500" dirty="0">
                <a:latin typeface="+mn-ea"/>
                <a:ea typeface="+mn-ea"/>
              </a:rPr>
              <a:t> 품종 보호권을 출원한다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C6DE76-BEE8-E882-15D2-9716093694F3}"/>
              </a:ext>
            </a:extLst>
          </p:cNvPr>
          <p:cNvSpPr txBox="1"/>
          <p:nvPr/>
        </p:nvSpPr>
        <p:spPr>
          <a:xfrm>
            <a:off x="228600" y="35376818"/>
            <a:ext cx="6910975" cy="1085848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500" b="1" dirty="0">
                <a:solidFill>
                  <a:schemeClr val="tx1"/>
                </a:solidFill>
                <a:latin typeface="+mj-ea"/>
                <a:ea typeface="+mj-ea"/>
              </a:rPr>
              <a:t>Ⅲ. </a:t>
            </a:r>
            <a:r>
              <a:rPr lang="ko-KR" altLang="en-US" sz="4500" b="1" dirty="0">
                <a:solidFill>
                  <a:schemeClr val="tx1"/>
                </a:solidFill>
                <a:latin typeface="+mj-ea"/>
                <a:ea typeface="+mj-ea"/>
              </a:rPr>
              <a:t>결과 및 고찰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5BC1936-7D93-8CD3-A667-28B877A3DD85}"/>
              </a:ext>
            </a:extLst>
          </p:cNvPr>
          <p:cNvSpPr/>
          <p:nvPr/>
        </p:nvSpPr>
        <p:spPr>
          <a:xfrm>
            <a:off x="15383556" y="37158370"/>
            <a:ext cx="14622182" cy="4688876"/>
          </a:xfrm>
          <a:prstGeom prst="rect">
            <a:avLst/>
          </a:prstGeom>
          <a:solidFill>
            <a:schemeClr val="bg1"/>
          </a:solidFill>
          <a:ln w="889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B982D0-832B-C196-361E-351A81BBA1A1}"/>
              </a:ext>
            </a:extLst>
          </p:cNvPr>
          <p:cNvSpPr txBox="1"/>
          <p:nvPr/>
        </p:nvSpPr>
        <p:spPr>
          <a:xfrm>
            <a:off x="16103731" y="38047296"/>
            <a:ext cx="133434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ko-KR" altLang="en-US" sz="3500" dirty="0" err="1">
                <a:latin typeface="+mn-ea"/>
                <a:ea typeface="+mn-ea"/>
              </a:rPr>
              <a:t>진아이볼’은</a:t>
            </a:r>
            <a:r>
              <a:rPr lang="ko-KR" altLang="en-US" sz="3500" dirty="0">
                <a:latin typeface="+mn-ea"/>
                <a:ea typeface="+mn-ea"/>
              </a:rPr>
              <a:t> 자주색 겹꽃을 가진 반구형 국화로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도로변이나 화단 등 경계 식재용으로 적합함</a:t>
            </a:r>
            <a:r>
              <a:rPr lang="en-US" altLang="ko-KR" sz="3500" dirty="0">
                <a:latin typeface="+mn-ea"/>
                <a:ea typeface="+mn-ea"/>
              </a:rPr>
              <a:t>. </a:t>
            </a:r>
            <a:r>
              <a:rPr lang="ko-KR" altLang="en-US" sz="3500" dirty="0">
                <a:latin typeface="+mn-ea"/>
                <a:ea typeface="+mn-ea"/>
              </a:rPr>
              <a:t>이 품종은 월동이 가능하여 국내 어디서나 재배가 가능하며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로열티 비용을 절감할 수 있는 경제적 이점을 제공함</a:t>
            </a:r>
            <a:r>
              <a:rPr lang="en-US" altLang="ko-KR" sz="3500" dirty="0">
                <a:latin typeface="+mn-ea"/>
                <a:ea typeface="+mn-ea"/>
              </a:rPr>
              <a:t>. '</a:t>
            </a:r>
            <a:r>
              <a:rPr lang="ko-KR" altLang="en-US" sz="3500" dirty="0" err="1">
                <a:latin typeface="+mn-ea"/>
                <a:ea typeface="+mn-ea"/>
              </a:rPr>
              <a:t>진아이볼’의</a:t>
            </a:r>
            <a:r>
              <a:rPr lang="ko-KR" altLang="en-US" sz="3500" dirty="0">
                <a:latin typeface="+mn-ea"/>
                <a:ea typeface="+mn-ea"/>
              </a:rPr>
              <a:t> 육성은 국내 화훼 농가의 소득 증대와 화훼 산업의 경쟁력 강화를 목표로 하며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앞으로도 보급 확대가 기대된다</a:t>
            </a:r>
            <a:endParaRPr lang="en-US" altLang="ko-KR" sz="3500" dirty="0">
              <a:latin typeface="+mn-ea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4BA760-D9E8-5E6B-343C-139171CBF9A6}"/>
              </a:ext>
            </a:extLst>
          </p:cNvPr>
          <p:cNvSpPr txBox="1"/>
          <p:nvPr/>
        </p:nvSpPr>
        <p:spPr>
          <a:xfrm>
            <a:off x="15342681" y="36593060"/>
            <a:ext cx="6910975" cy="1085848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500" b="1" dirty="0">
                <a:solidFill>
                  <a:schemeClr val="tx1"/>
                </a:solidFill>
                <a:latin typeface="+mj-ea"/>
                <a:ea typeface="+mj-ea"/>
              </a:rPr>
              <a:t>Ⅳ. </a:t>
            </a:r>
            <a:r>
              <a:rPr lang="ko-KR" altLang="en-US" sz="4500" b="1" dirty="0">
                <a:solidFill>
                  <a:schemeClr val="tx1"/>
                </a:solidFill>
                <a:latin typeface="+mj-ea"/>
                <a:ea typeface="+mj-ea"/>
              </a:rPr>
              <a:t>결론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958DBB5-4C96-D8AC-CECA-9489469A0B60}"/>
              </a:ext>
            </a:extLst>
          </p:cNvPr>
          <p:cNvSpPr/>
          <p:nvPr/>
        </p:nvSpPr>
        <p:spPr>
          <a:xfrm>
            <a:off x="15383556" y="7741405"/>
            <a:ext cx="14622182" cy="28034495"/>
          </a:xfrm>
          <a:prstGeom prst="rect">
            <a:avLst/>
          </a:prstGeom>
          <a:solidFill>
            <a:schemeClr val="bg1"/>
          </a:solidFill>
          <a:ln w="889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EFEA91-472B-8504-3BBA-809F35652907}"/>
              </a:ext>
            </a:extLst>
          </p:cNvPr>
          <p:cNvSpPr txBox="1"/>
          <p:nvPr/>
        </p:nvSpPr>
        <p:spPr>
          <a:xfrm>
            <a:off x="16103731" y="14480280"/>
            <a:ext cx="133434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2. </a:t>
            </a:r>
            <a:r>
              <a:rPr lang="ko-KR" altLang="en-US" sz="3500" b="1" dirty="0">
                <a:latin typeface="+mn-ea"/>
                <a:ea typeface="+mn-ea"/>
              </a:rPr>
              <a:t>품종의 </a:t>
            </a:r>
            <a:r>
              <a:rPr lang="ko-KR" altLang="en-US" sz="3500" b="1" dirty="0" err="1">
                <a:latin typeface="+mn-ea"/>
                <a:ea typeface="+mn-ea"/>
              </a:rPr>
              <a:t>구별성</a:t>
            </a:r>
            <a:r>
              <a:rPr lang="ko-KR" altLang="en-US" sz="3500" b="1" dirty="0">
                <a:latin typeface="+mn-ea"/>
                <a:ea typeface="+mn-ea"/>
              </a:rPr>
              <a:t> </a:t>
            </a:r>
            <a:r>
              <a:rPr lang="en-US" altLang="ko-KR" sz="3500" b="1" dirty="0">
                <a:latin typeface="+mn-ea"/>
                <a:ea typeface="+mn-ea"/>
              </a:rPr>
              <a:t>(</a:t>
            </a:r>
            <a:r>
              <a:rPr lang="ko-KR" altLang="en-US" sz="3500" b="1" dirty="0">
                <a:latin typeface="+mn-ea"/>
                <a:ea typeface="+mn-ea"/>
              </a:rPr>
              <a:t>유전적 분석</a:t>
            </a:r>
            <a:r>
              <a:rPr lang="en-US" altLang="ko-KR" sz="3500" b="1" dirty="0">
                <a:latin typeface="+mn-ea"/>
                <a:ea typeface="+mn-ea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진아이볼과 모본인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Lariva</a:t>
            </a:r>
            <a:r>
              <a:rPr lang="en-US" altLang="ko-KR" sz="3500" dirty="0">
                <a:latin typeface="+mn-ea"/>
                <a:ea typeface="+mn-ea"/>
              </a:rPr>
              <a:t> Red'</a:t>
            </a:r>
            <a:r>
              <a:rPr lang="ko-KR" altLang="en-US" sz="3500" dirty="0">
                <a:latin typeface="+mn-ea"/>
                <a:ea typeface="+mn-ea"/>
              </a:rPr>
              <a:t>의 유전적 유사성과 차이점을 분석하기 위해 </a:t>
            </a:r>
            <a:r>
              <a:rPr lang="en-US" altLang="ko-KR" sz="3500" dirty="0" err="1">
                <a:latin typeface="+mn-ea"/>
                <a:ea typeface="+mn-ea"/>
              </a:rPr>
              <a:t>cDNA_SSR</a:t>
            </a:r>
            <a:r>
              <a:rPr lang="en-US" altLang="ko-KR" sz="3500" dirty="0">
                <a:latin typeface="+mn-ea"/>
                <a:ea typeface="+mn-ea"/>
              </a:rPr>
              <a:t> </a:t>
            </a:r>
            <a:r>
              <a:rPr lang="ko-KR" altLang="en-US" sz="3500" dirty="0" err="1">
                <a:latin typeface="+mn-ea"/>
                <a:ea typeface="+mn-ea"/>
              </a:rPr>
              <a:t>프라이머를</a:t>
            </a:r>
            <a:r>
              <a:rPr lang="ko-KR" altLang="en-US" sz="3500" dirty="0">
                <a:latin typeface="+mn-ea"/>
                <a:ea typeface="+mn-ea"/>
              </a:rPr>
              <a:t> 사용한 </a:t>
            </a:r>
            <a:r>
              <a:rPr lang="en-US" altLang="ko-KR" sz="3500" dirty="0">
                <a:latin typeface="+mn-ea"/>
                <a:ea typeface="+mn-ea"/>
              </a:rPr>
              <a:t>PCR </a:t>
            </a:r>
            <a:r>
              <a:rPr lang="ko-KR" altLang="en-US" sz="3500">
                <a:latin typeface="+mn-ea"/>
                <a:ea typeface="+mn-ea"/>
              </a:rPr>
              <a:t>분석을 실시한다</a:t>
            </a:r>
            <a:r>
              <a:rPr lang="en-US" altLang="ko-KR" sz="3500">
                <a:latin typeface="+mn-ea"/>
                <a:ea typeface="+mn-ea"/>
              </a:rPr>
              <a:t>.</a:t>
            </a:r>
            <a:endParaRPr lang="en-US" altLang="ko-KR" sz="3500" dirty="0">
              <a:latin typeface="+mn-ea"/>
              <a:ea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분석 결과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진아이볼은 </a:t>
            </a:r>
            <a:r>
              <a:rPr lang="en-US" altLang="ko-KR" sz="3500" dirty="0">
                <a:latin typeface="+mn-ea"/>
                <a:ea typeface="+mn-ea"/>
              </a:rPr>
              <a:t>'</a:t>
            </a:r>
            <a:r>
              <a:rPr lang="en-US" altLang="ko-KR" sz="3500" dirty="0" err="1">
                <a:latin typeface="+mn-ea"/>
                <a:ea typeface="+mn-ea"/>
              </a:rPr>
              <a:t>Lariva</a:t>
            </a:r>
            <a:r>
              <a:rPr lang="en-US" altLang="ko-KR" sz="3500" dirty="0">
                <a:latin typeface="+mn-ea"/>
                <a:ea typeface="+mn-ea"/>
              </a:rPr>
              <a:t> Red’</a:t>
            </a:r>
            <a:r>
              <a:rPr lang="ko-KR" altLang="en-US" sz="3500" dirty="0">
                <a:latin typeface="+mn-ea"/>
                <a:ea typeface="+mn-ea"/>
              </a:rPr>
              <a:t>와 유사한 유전자 특성을 가지면서도 독립적인 새로운 품종으로 밝혀진다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이러한 유전적 분석 결과는 품종 보호 및 향후 육성 프로그램에 중요한 기초 자료가 될 수 있다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BB4125-2165-67CE-948E-B47D30F47348}"/>
              </a:ext>
            </a:extLst>
          </p:cNvPr>
          <p:cNvSpPr txBox="1"/>
          <p:nvPr/>
        </p:nvSpPr>
        <p:spPr>
          <a:xfrm>
            <a:off x="16103731" y="19139291"/>
            <a:ext cx="133434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3. </a:t>
            </a:r>
            <a:r>
              <a:rPr lang="ko-KR" altLang="en-US" sz="3500" b="1" dirty="0">
                <a:latin typeface="+mn-ea"/>
                <a:ea typeface="+mn-ea"/>
              </a:rPr>
              <a:t>주요 특성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진아이볼은 자주색 </a:t>
            </a:r>
            <a:r>
              <a:rPr lang="ko-KR" altLang="en-US" sz="3500" dirty="0" err="1">
                <a:latin typeface="+mn-ea"/>
                <a:ea typeface="+mn-ea"/>
              </a:rPr>
              <a:t>겹꽃형이며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반구형 초형을 가진다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개화기는 </a:t>
            </a:r>
            <a:r>
              <a:rPr lang="en-US" altLang="ko-KR" sz="3500" dirty="0">
                <a:latin typeface="+mn-ea"/>
                <a:ea typeface="+mn-ea"/>
              </a:rPr>
              <a:t>10</a:t>
            </a:r>
            <a:r>
              <a:rPr lang="ko-KR" altLang="en-US" sz="3500" dirty="0">
                <a:latin typeface="+mn-ea"/>
                <a:ea typeface="+mn-ea"/>
              </a:rPr>
              <a:t>월 상순으로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초장 </a:t>
            </a:r>
            <a:r>
              <a:rPr lang="en-US" altLang="ko-KR" sz="3500" dirty="0">
                <a:latin typeface="+mn-ea"/>
                <a:ea typeface="+mn-ea"/>
              </a:rPr>
              <a:t>24.7cm, </a:t>
            </a:r>
            <a:r>
              <a:rPr lang="ko-KR" altLang="en-US" sz="3500" dirty="0" err="1">
                <a:latin typeface="+mn-ea"/>
                <a:ea typeface="+mn-ea"/>
              </a:rPr>
              <a:t>초폭</a:t>
            </a:r>
            <a:r>
              <a:rPr lang="ko-KR" altLang="en-US" sz="3500" dirty="0">
                <a:latin typeface="+mn-ea"/>
                <a:ea typeface="+mn-ea"/>
              </a:rPr>
              <a:t> </a:t>
            </a:r>
            <a:r>
              <a:rPr lang="en-US" altLang="ko-KR" sz="3500" dirty="0">
                <a:latin typeface="+mn-ea"/>
                <a:ea typeface="+mn-ea"/>
              </a:rPr>
              <a:t>50.1cm</a:t>
            </a:r>
            <a:r>
              <a:rPr lang="ko-KR" altLang="en-US" sz="3500" dirty="0">
                <a:latin typeface="+mn-ea"/>
                <a:ea typeface="+mn-ea"/>
              </a:rPr>
              <a:t>로 대조품종인 초롱볼보다 더 큰 반구형 모양을 형성한다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꽃의 크기와 수가 많아 시각적으로 매우 매력적이며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중생종으로 자연 일장에서 </a:t>
            </a:r>
            <a:r>
              <a:rPr lang="en-US" altLang="ko-KR" sz="3500" dirty="0">
                <a:latin typeface="+mn-ea"/>
                <a:ea typeface="+mn-ea"/>
              </a:rPr>
              <a:t>10</a:t>
            </a:r>
            <a:r>
              <a:rPr lang="ko-KR" altLang="en-US" sz="3500" dirty="0">
                <a:latin typeface="+mn-ea"/>
                <a:ea typeface="+mn-ea"/>
              </a:rPr>
              <a:t>월 상순에 개화한다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1FD64A-041D-D8FF-5376-18740B387B0E}"/>
              </a:ext>
            </a:extLst>
          </p:cNvPr>
          <p:cNvSpPr txBox="1"/>
          <p:nvPr/>
        </p:nvSpPr>
        <p:spPr>
          <a:xfrm>
            <a:off x="16103731" y="30306277"/>
            <a:ext cx="1334342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latin typeface="+mn-ea"/>
                <a:ea typeface="+mn-ea"/>
              </a:rPr>
              <a:t>4. </a:t>
            </a:r>
            <a:r>
              <a:rPr lang="ko-KR" altLang="en-US" sz="3500" b="1" dirty="0">
                <a:latin typeface="+mn-ea"/>
                <a:ea typeface="+mn-ea"/>
              </a:rPr>
              <a:t>재배상 유의점 및 화훼 시장성 제안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 err="1">
                <a:latin typeface="+mn-ea"/>
                <a:ea typeface="+mn-ea"/>
              </a:rPr>
              <a:t>영양생장기에는</a:t>
            </a:r>
            <a:r>
              <a:rPr lang="ko-KR" altLang="en-US" sz="3500" dirty="0">
                <a:latin typeface="+mn-ea"/>
                <a:ea typeface="+mn-ea"/>
              </a:rPr>
              <a:t> </a:t>
            </a:r>
            <a:r>
              <a:rPr lang="ko-KR" altLang="en-US" sz="3500" dirty="0" err="1">
                <a:latin typeface="+mn-ea"/>
                <a:ea typeface="+mn-ea"/>
              </a:rPr>
              <a:t>비배관리를</a:t>
            </a:r>
            <a:r>
              <a:rPr lang="ko-KR" altLang="en-US" sz="3500" dirty="0">
                <a:latin typeface="+mn-ea"/>
                <a:ea typeface="+mn-ea"/>
              </a:rPr>
              <a:t> 철저히 수행해야 하며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노지 재배 시 무적심으로 재배할 수 있다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진아이볼은 내서성과 내습성이 강하지만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배수가 잘되도록 관리하는 것이 중요하다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월동이 가능하며</a:t>
            </a:r>
            <a:r>
              <a:rPr lang="en-US" altLang="ko-KR" sz="3500" dirty="0">
                <a:latin typeface="+mn-ea"/>
                <a:ea typeface="+mn-ea"/>
              </a:rPr>
              <a:t>, </a:t>
            </a:r>
            <a:r>
              <a:rPr lang="ko-KR" altLang="en-US" sz="3500" dirty="0">
                <a:latin typeface="+mn-ea"/>
                <a:ea typeface="+mn-ea"/>
              </a:rPr>
              <a:t>중형 화분에 식재하여 분화용으로 활용할 수 있다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500" dirty="0">
                <a:latin typeface="+mn-ea"/>
                <a:ea typeface="+mn-ea"/>
              </a:rPr>
              <a:t>자주색 겹꽃과 반구형 초형으로 소비자와 경관 화훼 이용자들의 높은 관심을 유도할 수 있는 잠재력을 가진다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2CF1DAE9-6CD5-A587-5A8D-44B492D79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97" y="8644622"/>
            <a:ext cx="12191066" cy="5699412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0D163546-B19C-DD67-B181-472B24C412A3}"/>
              </a:ext>
            </a:extLst>
          </p:cNvPr>
          <p:cNvSpPr txBox="1"/>
          <p:nvPr/>
        </p:nvSpPr>
        <p:spPr>
          <a:xfrm>
            <a:off x="20188019" y="8155835"/>
            <a:ext cx="88953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dirty="0">
                <a:latin typeface="+mn-ea"/>
                <a:ea typeface="+mn-ea"/>
              </a:rPr>
              <a:t> [Fig. 1] </a:t>
            </a:r>
            <a:r>
              <a:rPr lang="en-US" altLang="ko-KR" sz="2000" dirty="0" err="1">
                <a:latin typeface="+mn-ea"/>
                <a:ea typeface="+mn-ea"/>
              </a:rPr>
              <a:t>Pedigreediagramof</a:t>
            </a: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en-US" altLang="ko-KR" sz="2000" dirty="0" err="1">
                <a:latin typeface="+mn-ea"/>
                <a:ea typeface="+mn-ea"/>
              </a:rPr>
              <a:t>anewgardenchrysanthemumcultivar</a:t>
            </a:r>
            <a:r>
              <a:rPr lang="en-US" altLang="ko-KR" sz="2000" dirty="0">
                <a:latin typeface="+mn-ea"/>
                <a:ea typeface="+mn-ea"/>
              </a:rPr>
              <a:t> ‘</a:t>
            </a:r>
            <a:r>
              <a:rPr lang="en-US" altLang="ko-KR" sz="2000" dirty="0" err="1">
                <a:latin typeface="+mn-ea"/>
                <a:ea typeface="+mn-ea"/>
              </a:rPr>
              <a:t>JineyeBall</a:t>
            </a:r>
            <a:r>
              <a:rPr lang="en-US" altLang="ko-KR" sz="2000" dirty="0">
                <a:latin typeface="+mn-ea"/>
                <a:ea typeface="+mn-ea"/>
              </a:rPr>
              <a:t>’</a:t>
            </a:r>
            <a:endParaRPr lang="ko-KR" altLang="en-US" sz="2000" dirty="0">
              <a:latin typeface="+mn-ea"/>
              <a:ea typeface="+mn-ea"/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2147BA97-3838-961F-8676-7C2BB49F9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2337" y="23446681"/>
            <a:ext cx="11655057" cy="6647025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599A3DE-F489-7BA1-B1B0-CE9EC36866F2}"/>
              </a:ext>
            </a:extLst>
          </p:cNvPr>
          <p:cNvSpPr txBox="1"/>
          <p:nvPr/>
        </p:nvSpPr>
        <p:spPr>
          <a:xfrm>
            <a:off x="20567325" y="22646957"/>
            <a:ext cx="7980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dirty="0">
                <a:latin typeface="+mn-ea"/>
                <a:ea typeface="+mn-ea"/>
              </a:rPr>
              <a:t> [Fig. 3] </a:t>
            </a:r>
            <a:r>
              <a:rPr lang="en-US" altLang="ko-KR" sz="2000" dirty="0" err="1">
                <a:latin typeface="+mn-ea"/>
                <a:ea typeface="+mn-ea"/>
              </a:rPr>
              <a:t>Shapeof</a:t>
            </a:r>
            <a:r>
              <a:rPr lang="en-US" altLang="ko-KR" sz="2000" dirty="0">
                <a:latin typeface="+mn-ea"/>
                <a:ea typeface="+mn-ea"/>
              </a:rPr>
              <a:t> flower, leaf and </a:t>
            </a:r>
            <a:r>
              <a:rPr lang="en-US" altLang="ko-KR" sz="2000" dirty="0" err="1">
                <a:latin typeface="+mn-ea"/>
                <a:ea typeface="+mn-ea"/>
              </a:rPr>
              <a:t>stemof</a:t>
            </a:r>
            <a:r>
              <a:rPr lang="en-US" altLang="ko-KR" sz="2000" dirty="0">
                <a:latin typeface="+mn-ea"/>
                <a:ea typeface="+mn-ea"/>
              </a:rPr>
              <a:t> </a:t>
            </a:r>
            <a:r>
              <a:rPr lang="en-US" altLang="ko-KR" sz="2000" dirty="0" err="1">
                <a:latin typeface="+mn-ea"/>
                <a:ea typeface="+mn-ea"/>
              </a:rPr>
              <a:t>thenewcultivar</a:t>
            </a:r>
            <a:r>
              <a:rPr lang="en-US" altLang="ko-KR" sz="2000" dirty="0">
                <a:latin typeface="+mn-ea"/>
                <a:ea typeface="+mn-ea"/>
              </a:rPr>
              <a:t> ‘</a:t>
            </a:r>
            <a:r>
              <a:rPr lang="en-US" altLang="ko-KR" sz="2000" dirty="0" err="1">
                <a:latin typeface="+mn-ea"/>
                <a:ea typeface="+mn-ea"/>
              </a:rPr>
              <a:t>JineyeBall</a:t>
            </a:r>
            <a:r>
              <a:rPr lang="en-US" altLang="ko-KR" sz="2000" dirty="0">
                <a:latin typeface="+mn-ea"/>
                <a:ea typeface="+mn-ea"/>
              </a:rPr>
              <a:t>’</a:t>
            </a:r>
          </a:p>
          <a:p>
            <a:pPr algn="r"/>
            <a:r>
              <a:rPr lang="en-US" altLang="ko-KR" sz="2000" dirty="0">
                <a:latin typeface="+mn-ea"/>
                <a:ea typeface="+mn-ea"/>
              </a:rPr>
              <a:t> (A) and </a:t>
            </a:r>
            <a:r>
              <a:rPr lang="en-US" altLang="ko-KR" sz="2000" dirty="0" err="1">
                <a:latin typeface="+mn-ea"/>
                <a:ea typeface="+mn-ea"/>
              </a:rPr>
              <a:t>thecontrol</a:t>
            </a:r>
            <a:r>
              <a:rPr lang="en-US" altLang="ko-KR" sz="2000" dirty="0">
                <a:latin typeface="+mn-ea"/>
                <a:ea typeface="+mn-ea"/>
              </a:rPr>
              <a:t> cultivar ‘</a:t>
            </a:r>
            <a:r>
              <a:rPr lang="en-US" altLang="ko-KR" sz="2000" dirty="0" err="1">
                <a:latin typeface="+mn-ea"/>
                <a:ea typeface="+mn-ea"/>
              </a:rPr>
              <a:t>CholongBall</a:t>
            </a:r>
            <a:r>
              <a:rPr lang="en-US" altLang="ko-KR" sz="2000" dirty="0">
                <a:latin typeface="+mn-ea"/>
                <a:ea typeface="+mn-ea"/>
              </a:rPr>
              <a:t>’ (B)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A28116A-9306-4F24-029B-B23637E1A02D}"/>
              </a:ext>
            </a:extLst>
          </p:cNvPr>
          <p:cNvSpPr txBox="1"/>
          <p:nvPr/>
        </p:nvSpPr>
        <p:spPr>
          <a:xfrm>
            <a:off x="11035273" y="5334241"/>
            <a:ext cx="18970465" cy="976128"/>
          </a:xfrm>
          <a:prstGeom prst="rect">
            <a:avLst/>
          </a:prstGeom>
          <a:noFill/>
          <a:ln w="88900">
            <a:noFill/>
            <a:prstDash val="dash"/>
          </a:ln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ko-KR" altLang="en-US" sz="3200" b="1" dirty="0" err="1">
                <a:latin typeface="+mj-ea"/>
                <a:ea typeface="+mj-ea"/>
              </a:rPr>
              <a:t>이영혜</a:t>
            </a:r>
            <a:r>
              <a:rPr lang="en-US" altLang="ko-KR" sz="3200" b="1" dirty="0">
                <a:latin typeface="+mj-ea"/>
                <a:ea typeface="+mj-ea"/>
              </a:rPr>
              <a:t>, </a:t>
            </a:r>
            <a:r>
              <a:rPr lang="ko-KR" altLang="en-US" sz="3200" b="1" dirty="0">
                <a:latin typeface="+mj-ea"/>
                <a:ea typeface="+mj-ea"/>
              </a:rPr>
              <a:t>조은아</a:t>
            </a:r>
            <a:r>
              <a:rPr lang="en-US" altLang="ko-KR" sz="3200" b="1" dirty="0">
                <a:latin typeface="+mj-ea"/>
                <a:ea typeface="+mj-ea"/>
              </a:rPr>
              <a:t>, </a:t>
            </a:r>
            <a:r>
              <a:rPr lang="ko-KR" altLang="en-US" sz="3200" b="1" dirty="0" err="1">
                <a:latin typeface="+mj-ea"/>
                <a:ea typeface="+mj-ea"/>
              </a:rPr>
              <a:t>원천석</a:t>
            </a:r>
            <a:r>
              <a:rPr lang="en-US" altLang="ko-KR" sz="3200" b="1" dirty="0">
                <a:latin typeface="+mj-ea"/>
                <a:ea typeface="+mj-ea"/>
              </a:rPr>
              <a:t>, </a:t>
            </a:r>
            <a:r>
              <a:rPr lang="ko-KR" altLang="en-US" sz="3200" b="1" dirty="0" err="1">
                <a:latin typeface="+mj-ea"/>
                <a:ea typeface="+mj-ea"/>
              </a:rPr>
              <a:t>박하승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r>
              <a:rPr lang="en-US" altLang="ko-KR" sz="3000" dirty="0">
                <a:latin typeface="+mj-ea"/>
                <a:ea typeface="+mj-ea"/>
              </a:rPr>
              <a:t>(</a:t>
            </a:r>
            <a:r>
              <a:rPr lang="ko-KR" altLang="en-US" sz="3000" dirty="0">
                <a:latin typeface="+mj-ea"/>
                <a:ea typeface="+mj-ea"/>
              </a:rPr>
              <a:t>충청남도농업기술원 화훼연구소</a:t>
            </a:r>
            <a:r>
              <a:rPr lang="en-US" altLang="ko-KR" sz="3000" dirty="0">
                <a:latin typeface="+mj-ea"/>
                <a:ea typeface="+mj-ea"/>
              </a:rPr>
              <a:t>)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endParaRPr lang="en-US" altLang="ko-KR" sz="3200" b="1" dirty="0">
              <a:latin typeface="+mj-ea"/>
              <a:ea typeface="+mj-ea"/>
            </a:endParaRPr>
          </a:p>
          <a:p>
            <a:pPr algn="r"/>
            <a:r>
              <a:rPr lang="ko-KR" altLang="en-US" sz="3200" b="1" dirty="0">
                <a:latin typeface="+mj-ea"/>
                <a:ea typeface="+mj-ea"/>
              </a:rPr>
              <a:t>김태성 </a:t>
            </a:r>
            <a:r>
              <a:rPr lang="en-US" altLang="ko-KR" sz="3000" dirty="0">
                <a:latin typeface="+mj-ea"/>
                <a:ea typeface="+mj-ea"/>
              </a:rPr>
              <a:t>(</a:t>
            </a:r>
            <a:r>
              <a:rPr lang="ko-KR" altLang="en-US" sz="3000" dirty="0">
                <a:latin typeface="+mj-ea"/>
                <a:ea typeface="+mj-ea"/>
              </a:rPr>
              <a:t>한국방송통신대학교 농학과</a:t>
            </a:r>
            <a:r>
              <a:rPr lang="en-US" altLang="ko-KR" sz="3000" dirty="0">
                <a:latin typeface="+mj-ea"/>
                <a:ea typeface="+mj-ea"/>
              </a:rPr>
              <a:t>) / </a:t>
            </a:r>
            <a:r>
              <a:rPr lang="ko-KR" altLang="en-US" sz="3200" b="1" dirty="0">
                <a:latin typeface="+mj-ea"/>
                <a:ea typeface="+mj-ea"/>
              </a:rPr>
              <a:t>박기영 </a:t>
            </a:r>
            <a:r>
              <a:rPr lang="en-US" altLang="ko-KR" sz="3000" dirty="0">
                <a:latin typeface="+mj-ea"/>
                <a:ea typeface="+mj-ea"/>
              </a:rPr>
              <a:t>(</a:t>
            </a:r>
            <a:r>
              <a:rPr lang="ko-KR" altLang="en-US" sz="3000" dirty="0">
                <a:latin typeface="+mj-ea"/>
                <a:ea typeface="+mj-ea"/>
              </a:rPr>
              <a:t>공주교육대학교 실과교육과</a:t>
            </a:r>
            <a:r>
              <a:rPr lang="en-US" altLang="ko-KR" sz="3000" dirty="0">
                <a:latin typeface="+mj-ea"/>
                <a:ea typeface="+mj-ea"/>
              </a:rPr>
              <a:t>)  / </a:t>
            </a:r>
            <a:r>
              <a:rPr lang="ko-KR" altLang="en-US" sz="3200" b="1" dirty="0">
                <a:latin typeface="+mj-ea"/>
                <a:ea typeface="+mj-ea"/>
              </a:rPr>
              <a:t>이정수 </a:t>
            </a:r>
            <a:r>
              <a:rPr lang="en-US" altLang="ko-KR" sz="3000" dirty="0">
                <a:latin typeface="+mj-ea"/>
                <a:ea typeface="+mj-ea"/>
              </a:rPr>
              <a:t>(</a:t>
            </a:r>
            <a:r>
              <a:rPr lang="ko-KR" altLang="en-US" sz="3000" dirty="0">
                <a:latin typeface="+mj-ea"/>
                <a:ea typeface="+mj-ea"/>
              </a:rPr>
              <a:t>국립원예특작과학원</a:t>
            </a:r>
            <a:r>
              <a:rPr lang="en-US" altLang="ko-KR" sz="3000" dirty="0">
                <a:latin typeface="+mj-ea"/>
                <a:ea typeface="+mj-ea"/>
              </a:rPr>
              <a:t>)</a:t>
            </a:r>
            <a:endParaRPr lang="ko-KR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636</Words>
  <Application>Microsoft Office PowerPoint</Application>
  <PresentationFormat>사용자 지정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김준경</cp:lastModifiedBy>
  <cp:revision>64</cp:revision>
  <dcterms:created xsi:type="dcterms:W3CDTF">2018-10-17T01:18:09Z</dcterms:created>
  <dcterms:modified xsi:type="dcterms:W3CDTF">2025-02-17T05:50:59Z</dcterms:modified>
</cp:coreProperties>
</file>