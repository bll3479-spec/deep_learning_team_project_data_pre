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42803763" cy="30275213"/>
  <p:notesSz cx="9926638" cy="1435576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9672" userDrawn="1">
          <p15:clr>
            <a:srgbClr val="A4A3A4"/>
          </p15:clr>
        </p15:guide>
        <p15:guide id="2" pos="13482" userDrawn="1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7" roundtripDataSignature="AMtx7mgPi7jr+A4YPg74lnu0nHqD798KY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C6DC3"/>
    <a:srgbClr val="DAE3F3"/>
    <a:srgbClr val="025CBC"/>
    <a:srgbClr val="5195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904" autoAdjust="0"/>
    <p:restoredTop sz="96370" autoAdjust="0"/>
  </p:normalViewPr>
  <p:slideViewPr>
    <p:cSldViewPr snapToGrid="0">
      <p:cViewPr>
        <p:scale>
          <a:sx n="33" d="100"/>
          <a:sy n="33" d="100"/>
        </p:scale>
        <p:origin x="1002" y="-1290"/>
      </p:cViewPr>
      <p:guideLst>
        <p:guide orient="horz" pos="9672"/>
        <p:guide pos="1348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7" Type="http://customschemas.google.com/relationships/presentationmetadata" Target="metadata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11" Type="http://schemas.openxmlformats.org/officeDocument/2006/relationships/tableStyles" Target="tableStyles.xml"/><Relationship Id="rId10" Type="http://schemas.openxmlformats.org/officeDocument/2006/relationships/theme" Target="theme/theme1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4301543" cy="720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8750" tIns="69375" rIns="138750" bIns="6937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212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212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212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212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212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212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212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212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5622798" y="0"/>
            <a:ext cx="4301543" cy="720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8750" tIns="69375" rIns="138750" bIns="69375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212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212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212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212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212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212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212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212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539875" y="1793875"/>
            <a:ext cx="6846888" cy="4845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92664" y="6908711"/>
            <a:ext cx="7941310" cy="5652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8750" tIns="69375" rIns="138750" bIns="69375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98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98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98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98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98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98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98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98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98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13635484"/>
            <a:ext cx="4301543" cy="720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8750" tIns="69375" rIns="138750" bIns="69375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212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212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212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212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212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212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212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212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5622798" y="13635484"/>
            <a:ext cx="4301543" cy="720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8750" tIns="69375" rIns="138750" bIns="693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8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39875" y="1793875"/>
            <a:ext cx="6846888" cy="4845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992664" y="6908711"/>
            <a:ext cx="7941310" cy="5652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8750" tIns="69375" rIns="138750" bIns="693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Figure1, table 3, 4 </a:t>
            </a:r>
            <a:r>
              <a:rPr lang="ko-KR" altLang="en-US" dirty="0"/>
              <a:t>추가함</a:t>
            </a:r>
            <a:endParaRPr dirty="0"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5622798" y="13635484"/>
            <a:ext cx="4301543" cy="720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8750" tIns="69375" rIns="138750" bIns="69375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사용자 지정 레이아웃">
  <p:cSld name="1_사용자 지정 레이아웃">
    <p:bg>
      <p:bgPr>
        <a:solidFill>
          <a:schemeClr val="bg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2FE84203-9D17-5B96-AF59-F3D47F07B53C}"/>
              </a:ext>
            </a:extLst>
          </p:cNvPr>
          <p:cNvSpPr/>
          <p:nvPr userDrawn="1"/>
        </p:nvSpPr>
        <p:spPr>
          <a:xfrm>
            <a:off x="0" y="-16660"/>
            <a:ext cx="42803764" cy="5579259"/>
          </a:xfrm>
          <a:prstGeom prst="rect">
            <a:avLst/>
          </a:prstGeom>
          <a:solidFill>
            <a:srgbClr val="025CB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1D9A2BEB-CF97-6083-FA51-AC0E261EE5E1}"/>
              </a:ext>
            </a:extLst>
          </p:cNvPr>
          <p:cNvCxnSpPr/>
          <p:nvPr userDrawn="1"/>
        </p:nvCxnSpPr>
        <p:spPr>
          <a:xfrm>
            <a:off x="0" y="4852737"/>
            <a:ext cx="42802970" cy="0"/>
          </a:xfrm>
          <a:prstGeom prst="line">
            <a:avLst/>
          </a:prstGeom>
          <a:ln w="28575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535" userDrawn="1">
          <p15:clr>
            <a:srgbClr val="FBAE40"/>
          </p15:clr>
        </p15:guide>
        <p15:guide id="2" pos="13481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295064FD-0CAB-8BE5-0AED-4CFAE250D7F8}"/>
              </a:ext>
            </a:extLst>
          </p:cNvPr>
          <p:cNvCxnSpPr>
            <a:cxnSpLocks/>
          </p:cNvCxnSpPr>
          <p:nvPr/>
        </p:nvCxnSpPr>
        <p:spPr>
          <a:xfrm>
            <a:off x="14267921" y="6934200"/>
            <a:ext cx="0" cy="22136100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52967E09-D6AC-5ED1-B11A-984A54EB0FE4}"/>
              </a:ext>
            </a:extLst>
          </p:cNvPr>
          <p:cNvCxnSpPr>
            <a:cxnSpLocks/>
          </p:cNvCxnSpPr>
          <p:nvPr/>
        </p:nvCxnSpPr>
        <p:spPr>
          <a:xfrm>
            <a:off x="28535842" y="6934200"/>
            <a:ext cx="0" cy="22136100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68F7D19F-A0B1-9633-3E27-841D2D493F20}"/>
              </a:ext>
            </a:extLst>
          </p:cNvPr>
          <p:cNvSpPr txBox="1"/>
          <p:nvPr/>
        </p:nvSpPr>
        <p:spPr>
          <a:xfrm>
            <a:off x="925510" y="1176755"/>
            <a:ext cx="3618388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전이학습 기반 </a:t>
            </a:r>
            <a:r>
              <a:rPr lang="ko-KR" altLang="en-US" sz="8000" b="1" dirty="0" err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무인수색차량의</a:t>
            </a:r>
            <a:r>
              <a:rPr lang="ko-KR" altLang="en-US" sz="80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표적 탐지 및 식별 딥러닝 모델 분석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DB77C0C-2171-86A5-087C-A71B60AF87DA}"/>
              </a:ext>
            </a:extLst>
          </p:cNvPr>
          <p:cNvSpPr txBox="1"/>
          <p:nvPr/>
        </p:nvSpPr>
        <p:spPr>
          <a:xfrm>
            <a:off x="925510" y="2373618"/>
            <a:ext cx="35744249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0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Transfer Learning based Intelligent Target Detection and Identification Model Analysis for Unmanned Recon Vehicle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D255CA7-58CB-75BA-3866-F937AAD02E82}"/>
              </a:ext>
            </a:extLst>
          </p:cNvPr>
          <p:cNvSpPr txBox="1"/>
          <p:nvPr/>
        </p:nvSpPr>
        <p:spPr>
          <a:xfrm>
            <a:off x="925511" y="3805051"/>
            <a:ext cx="145384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김종환 </a:t>
            </a:r>
            <a:r>
              <a:rPr lang="en-US" altLang="ko-KR" sz="32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3200" b="1" dirty="0" err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육군사관학교기계시스템공학과</a:t>
            </a:r>
            <a:r>
              <a:rPr lang="ko-KR" altLang="en-US" sz="32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부교수</a:t>
            </a:r>
            <a:r>
              <a:rPr lang="en-US" altLang="ko-KR" sz="32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 · </a:t>
            </a:r>
            <a:r>
              <a:rPr lang="ko-KR" altLang="en-US" sz="32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김태완 </a:t>
            </a:r>
            <a:r>
              <a:rPr lang="en-US" altLang="ko-KR" sz="32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32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김수찬 </a:t>
            </a:r>
            <a:r>
              <a:rPr lang="en-US" altLang="ko-KR" sz="32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3200" b="1" dirty="0" err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류준열</a:t>
            </a:r>
            <a:endParaRPr lang="ko-KR" altLang="en-US" sz="32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849DC8F-D340-06A6-17B7-56492271D3D4}"/>
              </a:ext>
            </a:extLst>
          </p:cNvPr>
          <p:cNvSpPr txBox="1"/>
          <p:nvPr/>
        </p:nvSpPr>
        <p:spPr>
          <a:xfrm>
            <a:off x="653960" y="10815175"/>
            <a:ext cx="3195297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700" b="1" dirty="0">
                <a:solidFill>
                  <a:srgbClr val="23538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1. </a:t>
            </a:r>
            <a:r>
              <a:rPr lang="ko-KR" altLang="en-US" sz="3700" b="1" dirty="0">
                <a:solidFill>
                  <a:srgbClr val="23538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서론</a:t>
            </a:r>
          </a:p>
        </p:txBody>
      </p:sp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1525A0E9-753D-20DD-6C58-49B00DB236E0}"/>
              </a:ext>
            </a:extLst>
          </p:cNvPr>
          <p:cNvCxnSpPr>
            <a:cxnSpLocks/>
          </p:cNvCxnSpPr>
          <p:nvPr/>
        </p:nvCxnSpPr>
        <p:spPr>
          <a:xfrm>
            <a:off x="653960" y="10563281"/>
            <a:ext cx="12960000" cy="0"/>
          </a:xfrm>
          <a:prstGeom prst="line">
            <a:avLst/>
          </a:prstGeom>
          <a:ln w="38100">
            <a:solidFill>
              <a:schemeClr val="bg1">
                <a:lumMod val="75000"/>
              </a:schemeClr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E79C9FA5-C568-AC2A-114F-9D94D476A0DD}"/>
              </a:ext>
            </a:extLst>
          </p:cNvPr>
          <p:cNvCxnSpPr>
            <a:cxnSpLocks/>
          </p:cNvCxnSpPr>
          <p:nvPr/>
        </p:nvCxnSpPr>
        <p:spPr>
          <a:xfrm>
            <a:off x="29189802" y="23297899"/>
            <a:ext cx="12960000" cy="0"/>
          </a:xfrm>
          <a:prstGeom prst="line">
            <a:avLst/>
          </a:prstGeom>
          <a:ln w="38100">
            <a:solidFill>
              <a:schemeClr val="bg1">
                <a:lumMod val="75000"/>
              </a:schemeClr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TextBox 102">
            <a:extLst>
              <a:ext uri="{FF2B5EF4-FFF2-40B4-BE49-F238E27FC236}">
                <a16:creationId xmlns:a16="http://schemas.microsoft.com/office/drawing/2014/main" id="{C3BFBAAC-0FFD-4E6F-2084-EB4809CE8F26}"/>
              </a:ext>
            </a:extLst>
          </p:cNvPr>
          <p:cNvSpPr txBox="1"/>
          <p:nvPr/>
        </p:nvSpPr>
        <p:spPr>
          <a:xfrm>
            <a:off x="29189802" y="23734711"/>
            <a:ext cx="319529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b="1" dirty="0">
                <a:solidFill>
                  <a:srgbClr val="23538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3. </a:t>
            </a:r>
            <a:r>
              <a:rPr lang="ko-KR" altLang="en-US" sz="4000" b="1" dirty="0">
                <a:solidFill>
                  <a:srgbClr val="23538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결론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80D68FF7-ACA6-D1BF-AEAB-C4B11DAF527D}"/>
              </a:ext>
            </a:extLst>
          </p:cNvPr>
          <p:cNvSpPr txBox="1"/>
          <p:nvPr/>
        </p:nvSpPr>
        <p:spPr>
          <a:xfrm>
            <a:off x="29189801" y="24791923"/>
            <a:ext cx="13129200" cy="45487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lnSpc>
                <a:spcPct val="110000"/>
              </a:lnSpc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ko-KR" altLang="en-US" sz="28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본 연구는 기계화부대에서 운용할 무인 수색 차량의 표적 탐지 및 식별 기능을 지능화하기 위해 </a:t>
            </a:r>
            <a:r>
              <a:rPr lang="en-US" altLang="ko-KR" sz="28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</a:t>
            </a:r>
            <a:r>
              <a:rPr lang="ko-KR" altLang="en-US" sz="28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종의 아군 및 적군 무기체계를 설정하고 관련 데이터를 수집하였다</a:t>
            </a:r>
            <a:r>
              <a:rPr lang="en-US" altLang="ko-KR" sz="28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457200" indent="-457200" algn="just">
              <a:lnSpc>
                <a:spcPct val="110000"/>
              </a:lnSpc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ko-KR" altLang="en-US" sz="28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구글의 </a:t>
            </a:r>
            <a:r>
              <a:rPr lang="en-US" altLang="ko-KR" sz="28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r>
              <a:rPr lang="ko-KR" altLang="en-US" sz="28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가지 경량화 딥러닝 모델에 전이학습을 적용하여 성능을 분석한 결과</a:t>
            </a:r>
            <a:r>
              <a:rPr lang="en-US" altLang="ko-KR" sz="28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2800" b="1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XceptionNet</a:t>
            </a:r>
            <a:r>
              <a:rPr lang="ko-KR" altLang="en-US" sz="28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과 </a:t>
            </a:r>
            <a:r>
              <a:rPr lang="en-US" altLang="ko-KR" sz="2800" b="1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MobileNet</a:t>
            </a:r>
            <a:r>
              <a:rPr lang="en-US" altLang="ko-KR" sz="28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28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모델이 우수한 성능을 보였다</a:t>
            </a:r>
            <a:r>
              <a:rPr lang="en-US" altLang="ko-KR" sz="28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</a:p>
          <a:p>
            <a:pPr marL="457200" indent="-457200" algn="just">
              <a:lnSpc>
                <a:spcPct val="110000"/>
              </a:lnSpc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ko-KR" altLang="en-US" sz="28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그러나 북한군 </a:t>
            </a:r>
            <a:r>
              <a:rPr lang="en-US" altLang="ko-KR" sz="28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VTT </a:t>
            </a:r>
            <a:r>
              <a:rPr lang="ko-KR" altLang="en-US" sz="28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장갑차에 대한 판별오차가 높게 나타나 데이터 추가 확보와 검증 프로세스의 필요성이 확인되었다</a:t>
            </a:r>
            <a:r>
              <a:rPr lang="en-US" altLang="ko-KR" sz="28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</a:p>
          <a:p>
            <a:pPr marL="457200" indent="-457200" algn="just">
              <a:lnSpc>
                <a:spcPct val="110000"/>
              </a:lnSpc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ko-KR" altLang="en-US" sz="28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 연구 결과는 무인 수색 차량의 개발에 반영되어 전투 효율을 높이는 데 기여할 것으로 기대된다</a:t>
            </a:r>
            <a:r>
              <a:rPr lang="en-US" altLang="ko-KR" sz="28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28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04480AF-522C-2370-A2FB-263FA4456B9F}"/>
              </a:ext>
            </a:extLst>
          </p:cNvPr>
          <p:cNvSpPr txBox="1"/>
          <p:nvPr/>
        </p:nvSpPr>
        <p:spPr>
          <a:xfrm>
            <a:off x="653959" y="6165759"/>
            <a:ext cx="13197677" cy="4119219"/>
          </a:xfrm>
          <a:prstGeom prst="snip1Rect">
            <a:avLst>
              <a:gd name="adj" fmla="val 0"/>
            </a:avLst>
          </a:prstGeom>
          <a:solidFill>
            <a:srgbClr val="DAE3F3"/>
          </a:solidFill>
        </p:spPr>
        <p:txBody>
          <a:bodyPr wrap="none" tIns="216000" rtlCol="0" anchor="t" anchorCtr="0">
            <a:noAutofit/>
          </a:bodyPr>
          <a:lstStyle/>
          <a:p>
            <a:pPr algn="ctr"/>
            <a:r>
              <a:rPr lang="ko-KR" altLang="en-US" sz="4000" b="1" dirty="0">
                <a:solidFill>
                  <a:srgbClr val="025CB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초록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41E9E0E-4CE6-2DED-A31C-0C4BE48286B6}"/>
              </a:ext>
            </a:extLst>
          </p:cNvPr>
          <p:cNvSpPr txBox="1"/>
          <p:nvPr/>
        </p:nvSpPr>
        <p:spPr>
          <a:xfrm>
            <a:off x="958760" y="7283508"/>
            <a:ext cx="12552380" cy="2677656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pPr algn="just"/>
            <a:r>
              <a:rPr lang="ko-KR" altLang="en-US" sz="2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본 논문은 무인 수색 차량의 지능화를 위해 영상 정보를 기반으로 주요 표적 탐지 및 피아 식별이 가능한 인공지능 모델을 제안하였다</a:t>
            </a:r>
            <a:r>
              <a:rPr lang="en-US" altLang="ko-KR" sz="2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2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한국군과 북한군의 </a:t>
            </a:r>
            <a:r>
              <a:rPr lang="en-US" altLang="ko-KR" sz="2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</a:t>
            </a:r>
            <a:r>
              <a:rPr lang="ko-KR" altLang="en-US" sz="2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 무기 체계에 대한 </a:t>
            </a:r>
            <a:r>
              <a:rPr lang="en-US" altLang="ko-KR" sz="2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3,000</a:t>
            </a:r>
            <a:r>
              <a:rPr lang="ko-KR" altLang="en-US" sz="2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여 장의 영상 데이터를 활용하여 딥러닝 모델을 전이 학습하였고</a:t>
            </a:r>
            <a:r>
              <a:rPr lang="en-US" altLang="ko-KR" sz="2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2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검증 결과 정확도는 </a:t>
            </a:r>
            <a:r>
              <a:rPr lang="en-US" altLang="ko-KR" sz="2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78.19%</a:t>
            </a:r>
            <a:r>
              <a:rPr lang="ko-KR" altLang="en-US" sz="2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에서 </a:t>
            </a:r>
            <a:r>
              <a:rPr lang="en-US" altLang="ko-KR" sz="2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86.66%, </a:t>
            </a:r>
            <a:r>
              <a:rPr lang="ko-KR" altLang="en-US" sz="2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피아 식별 정확도는 </a:t>
            </a:r>
            <a:r>
              <a:rPr lang="en-US" altLang="ko-KR" sz="2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89.29%</a:t>
            </a:r>
            <a:r>
              <a:rPr lang="ko-KR" altLang="en-US" sz="2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에서 </a:t>
            </a:r>
            <a:r>
              <a:rPr lang="en-US" altLang="ko-KR" sz="2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92.11%</a:t>
            </a:r>
            <a:r>
              <a:rPr lang="ko-KR" altLang="en-US" sz="2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로 나타났다</a:t>
            </a:r>
            <a:r>
              <a:rPr lang="en-US" altLang="ko-KR" sz="2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2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이러한 결과는 무인 수색 차량의 전투 효율을 향상시키는 데 기여할 것으로 기대된다</a:t>
            </a:r>
            <a:r>
              <a:rPr lang="en-US" altLang="ko-KR" sz="2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AA508ED-DA81-1A3B-015B-301F8C74FF6A}"/>
              </a:ext>
            </a:extLst>
          </p:cNvPr>
          <p:cNvSpPr txBox="1"/>
          <p:nvPr/>
        </p:nvSpPr>
        <p:spPr>
          <a:xfrm>
            <a:off x="653960" y="11627476"/>
            <a:ext cx="13129200" cy="353943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ko-KR" altLang="en-US" sz="28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미래전</a:t>
            </a:r>
            <a:r>
              <a:rPr lang="ko-KR" altLang="en-US" sz="2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대비 및 인명 피해 최소화를 위해 전 세계적으로 무인 전투 체계 연구개발이 활발히 진행되고 있다</a:t>
            </a:r>
            <a:r>
              <a:rPr lang="en-US" altLang="ko-KR" sz="2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ko-KR" altLang="en-US" sz="2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무인 전투 차량</a:t>
            </a:r>
            <a:r>
              <a:rPr lang="en-US" altLang="ko-KR" sz="2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(UCV)</a:t>
            </a:r>
            <a:r>
              <a:rPr lang="ko-KR" altLang="en-US" sz="2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은 위험 지역에서 인명 피해를 줄이고 전투 효율성을 극대화하는 데 중요한 역할을 한다</a:t>
            </a:r>
            <a:r>
              <a:rPr lang="en-US" altLang="ko-KR" sz="2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ko-KR" altLang="en-US" sz="2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한국군은 무인 수색 차량 개발을 완료했으나</a:t>
            </a:r>
            <a:r>
              <a:rPr lang="en-US" altLang="ko-KR" sz="2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2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자율 주행 및 지능형 표적 획득 기술 개발이 필요하다</a:t>
            </a:r>
            <a:r>
              <a:rPr lang="en-US" altLang="ko-KR" sz="2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ko-KR" altLang="en-US" sz="2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본 연구는 부족한 데이터 문제를 극복하고 아군 및 적군 무기 체계 </a:t>
            </a:r>
            <a:r>
              <a:rPr lang="en-US" altLang="ko-KR" sz="2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</a:t>
            </a:r>
            <a:r>
              <a:rPr lang="ko-KR" altLang="en-US" sz="2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종에 대한 딥러닝 모델 개발과 성능 분석을 목표로 하였다</a:t>
            </a:r>
            <a:r>
              <a:rPr lang="en-US" altLang="ko-KR" sz="2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99DB47E-18EB-EFB7-84AA-688C40BC6F03}"/>
              </a:ext>
            </a:extLst>
          </p:cNvPr>
          <p:cNvSpPr txBox="1"/>
          <p:nvPr/>
        </p:nvSpPr>
        <p:spPr>
          <a:xfrm>
            <a:off x="653958" y="17176050"/>
            <a:ext cx="13129200" cy="2058833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pPr algn="just">
              <a:lnSpc>
                <a:spcPct val="110000"/>
              </a:lnSpc>
              <a:spcBef>
                <a:spcPts val="600"/>
              </a:spcBef>
              <a:buClrTx/>
            </a:pPr>
            <a:r>
              <a:rPr lang="en-US" altLang="ko-KR" sz="3000" b="1" dirty="0">
                <a:solidFill>
                  <a:srgbClr val="1C6DC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1. </a:t>
            </a:r>
            <a:r>
              <a:rPr lang="ko-KR" altLang="en-US" sz="3000" b="1" dirty="0">
                <a:solidFill>
                  <a:srgbClr val="1C6DC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딥러닝 모델  </a:t>
            </a:r>
          </a:p>
          <a:p>
            <a:pPr algn="just">
              <a:lnSpc>
                <a:spcPct val="110000"/>
              </a:lnSpc>
              <a:spcBef>
                <a:spcPts val="600"/>
              </a:spcBef>
              <a:buClrTx/>
            </a:pPr>
            <a:r>
              <a:rPr lang="ko-KR" altLang="en-US" sz="2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</a:t>
            </a:r>
            <a:r>
              <a:rPr lang="en-US" altLang="ko-KR" sz="2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2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구글의 </a:t>
            </a:r>
            <a:r>
              <a:rPr lang="ko-KR" altLang="en-US" sz="28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경량화된</a:t>
            </a:r>
            <a:r>
              <a:rPr lang="ko-KR" altLang="en-US" sz="2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2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r>
              <a:rPr lang="ko-KR" altLang="en-US" sz="2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가지 딥러닝 모델</a:t>
            </a:r>
            <a:r>
              <a:rPr lang="en-US" altLang="ko-KR" sz="2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(InceptionNetV3, </a:t>
            </a:r>
            <a:r>
              <a:rPr lang="en-US" altLang="ko-KR" sz="28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XceptionNet</a:t>
            </a:r>
            <a:r>
              <a:rPr lang="en-US" altLang="ko-KR" sz="2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28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MobileNet</a:t>
            </a:r>
            <a:r>
              <a:rPr lang="en-US" altLang="ko-KR" sz="2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MobileNetV2)</a:t>
            </a:r>
            <a:r>
              <a:rPr lang="ko-KR" altLang="en-US" sz="2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을 적용하여</a:t>
            </a:r>
            <a:r>
              <a:rPr lang="en-US" altLang="ko-KR" sz="2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2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각각 다른 레이어와 파라미터 수를 가진 모델을 사용하였다</a:t>
            </a:r>
            <a:r>
              <a:rPr lang="en-US" altLang="ko-KR" sz="2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5AEC908-116A-4033-7B74-E9B9139EEE92}"/>
              </a:ext>
            </a:extLst>
          </p:cNvPr>
          <p:cNvSpPr txBox="1"/>
          <p:nvPr/>
        </p:nvSpPr>
        <p:spPr>
          <a:xfrm>
            <a:off x="653960" y="16164357"/>
            <a:ext cx="9397203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700" b="1" dirty="0">
                <a:solidFill>
                  <a:srgbClr val="23538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2.</a:t>
            </a:r>
            <a:r>
              <a:rPr lang="ko-KR" altLang="en-US" sz="3700" b="1" dirty="0">
                <a:solidFill>
                  <a:srgbClr val="23538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본론</a:t>
            </a: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40C117B6-177A-D6D6-F585-F75EAA1CA342}"/>
              </a:ext>
            </a:extLst>
          </p:cNvPr>
          <p:cNvCxnSpPr>
            <a:cxnSpLocks/>
          </p:cNvCxnSpPr>
          <p:nvPr/>
        </p:nvCxnSpPr>
        <p:spPr>
          <a:xfrm>
            <a:off x="653960" y="15535408"/>
            <a:ext cx="12960000" cy="0"/>
          </a:xfrm>
          <a:prstGeom prst="line">
            <a:avLst/>
          </a:prstGeom>
          <a:ln w="38100">
            <a:solidFill>
              <a:schemeClr val="bg1">
                <a:lumMod val="75000"/>
              </a:schemeClr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1AD684CD-0BA8-F7ED-CA2A-B8FF377E2330}"/>
              </a:ext>
            </a:extLst>
          </p:cNvPr>
          <p:cNvSpPr txBox="1"/>
          <p:nvPr/>
        </p:nvSpPr>
        <p:spPr>
          <a:xfrm>
            <a:off x="14921882" y="6560233"/>
            <a:ext cx="13197673" cy="2831544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pPr algn="just">
              <a:spcBef>
                <a:spcPts val="600"/>
              </a:spcBef>
              <a:buClrTx/>
            </a:pPr>
            <a:r>
              <a:rPr lang="en-US" altLang="ko-KR" sz="2800" b="1" dirty="0">
                <a:solidFill>
                  <a:srgbClr val="025CB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3. </a:t>
            </a:r>
            <a:r>
              <a:rPr lang="ko-KR" altLang="en-US" sz="2800" b="1" dirty="0">
                <a:solidFill>
                  <a:srgbClr val="025CB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데이터 선정 및 수집  </a:t>
            </a:r>
          </a:p>
          <a:p>
            <a:pPr algn="just">
              <a:spcBef>
                <a:spcPts val="600"/>
              </a:spcBef>
              <a:buClrTx/>
            </a:pPr>
            <a:r>
              <a:rPr lang="ko-KR" altLang="en-US" sz="2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</a:t>
            </a:r>
            <a:r>
              <a:rPr lang="en-US" altLang="ko-KR" sz="2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2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한국군과 북한군의 </a:t>
            </a:r>
            <a:r>
              <a:rPr lang="en-US" altLang="ko-KR" sz="2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</a:t>
            </a:r>
            <a:r>
              <a:rPr lang="ko-KR" altLang="en-US" sz="2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종 무기체계를 대상으로 </a:t>
            </a:r>
            <a:r>
              <a:rPr lang="en-US" altLang="ko-KR" sz="2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3,000</a:t>
            </a:r>
            <a:r>
              <a:rPr lang="ko-KR" altLang="en-US" sz="2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장의 이미지를 수집하고</a:t>
            </a:r>
            <a:r>
              <a:rPr lang="en-US" altLang="ko-KR" sz="2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2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인터넷에서 공개된 자료를 활용하여 군사 전문가의 자문을 받아 정확한 라벨링을 수행하였다</a:t>
            </a:r>
            <a:r>
              <a:rPr lang="en-US" altLang="ko-KR" sz="2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 </a:t>
            </a:r>
          </a:p>
          <a:p>
            <a:pPr algn="just">
              <a:spcBef>
                <a:spcPts val="600"/>
              </a:spcBef>
              <a:buClrTx/>
            </a:pPr>
            <a:r>
              <a:rPr lang="en-US" altLang="ko-KR" sz="2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- </a:t>
            </a:r>
            <a:r>
              <a:rPr lang="ko-KR" altLang="en-US" sz="2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북한군 무기체계 데이터 부족 문제는 중국과 러시아의 유사 무기체계 데이터를 통해 해결하였다</a:t>
            </a:r>
            <a:r>
              <a:rPr lang="en-US" altLang="ko-KR" sz="2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D7C6BB0-6175-FAA5-6958-489B9C914597}"/>
              </a:ext>
            </a:extLst>
          </p:cNvPr>
          <p:cNvSpPr txBox="1"/>
          <p:nvPr/>
        </p:nvSpPr>
        <p:spPr>
          <a:xfrm>
            <a:off x="29189801" y="6469731"/>
            <a:ext cx="6218539" cy="10313401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pPr marL="889200" indent="-457200" algn="just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ko-KR" altLang="en-US" sz="2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한국군 무기체계의 경우 </a:t>
            </a:r>
            <a:r>
              <a:rPr lang="en-US" altLang="ko-KR" sz="2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K-2 </a:t>
            </a:r>
            <a:r>
              <a:rPr lang="ko-KR" altLang="en-US" sz="2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소총과 </a:t>
            </a:r>
            <a:r>
              <a:rPr lang="en-US" altLang="ko-KR" sz="2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PZF-III </a:t>
            </a:r>
            <a:r>
              <a:rPr lang="ko-KR" altLang="en-US" sz="2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대전차 무기가 </a:t>
            </a:r>
            <a:r>
              <a:rPr lang="en-US" altLang="ko-KR" sz="2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99% </a:t>
            </a:r>
            <a:r>
              <a:rPr lang="ko-KR" altLang="en-US" sz="2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이상의 정확도로 식별되었고</a:t>
            </a:r>
            <a:r>
              <a:rPr lang="en-US" altLang="ko-KR" sz="2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2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북한군 무기체계는 </a:t>
            </a:r>
            <a:r>
              <a:rPr lang="en-US" altLang="ko-KR" sz="2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90% </a:t>
            </a:r>
            <a:r>
              <a:rPr lang="ko-KR" altLang="en-US" sz="2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이상의 식별 정확도를 나타냈다</a:t>
            </a:r>
            <a:r>
              <a:rPr lang="en-US" altLang="ko-KR" sz="2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</a:p>
          <a:p>
            <a:pPr marL="889200" indent="-457200" algn="just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ko-KR" altLang="en-US" sz="2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각 모델의 혼동행렬을 분석하여 판별오차를 평가하였고</a:t>
            </a:r>
            <a:r>
              <a:rPr lang="en-US" altLang="ko-KR" sz="2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VTT</a:t>
            </a:r>
            <a:r>
              <a:rPr lang="ko-KR" altLang="en-US" sz="2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와 </a:t>
            </a:r>
            <a:r>
              <a:rPr lang="en-US" altLang="ko-KR" sz="2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K200</a:t>
            </a:r>
            <a:r>
              <a:rPr lang="ko-KR" altLang="en-US" sz="2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에 대한 오차가 가장 크게 나타났다</a:t>
            </a:r>
            <a:r>
              <a:rPr lang="en-US" altLang="ko-KR" sz="2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889200" indent="-457200" algn="just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ko-KR" altLang="en-US" sz="2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결과적으로</a:t>
            </a:r>
            <a:r>
              <a:rPr lang="en-US" altLang="ko-KR" sz="2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28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XceptionNet</a:t>
            </a:r>
            <a:r>
              <a:rPr lang="en-US" altLang="ko-KR" sz="2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2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및 </a:t>
            </a:r>
            <a:r>
              <a:rPr lang="en-US" altLang="ko-KR" sz="28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MobileNet</a:t>
            </a:r>
            <a:r>
              <a:rPr lang="en-US" altLang="ko-KR" sz="2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2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모델이 높은 성능을 보였으며</a:t>
            </a:r>
            <a:r>
              <a:rPr lang="en-US" altLang="ko-KR" sz="2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2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판별오차는 대부분 북한군 </a:t>
            </a:r>
            <a:r>
              <a:rPr lang="en-US" altLang="ko-KR" sz="2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VTT </a:t>
            </a:r>
            <a:r>
              <a:rPr lang="ko-KR" altLang="en-US" sz="2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장갑차에서 발생하였다</a:t>
            </a:r>
            <a:r>
              <a:rPr lang="en-US" altLang="ko-KR" sz="2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889200" indent="-457200" algn="just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ko-KR" altLang="en-US" sz="2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이는 </a:t>
            </a:r>
            <a:r>
              <a:rPr lang="en-US" altLang="ko-KR" sz="2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VTT</a:t>
            </a:r>
            <a:r>
              <a:rPr lang="ko-KR" altLang="en-US" sz="2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의 데이터 부족과 북한군의 외형 개조로 인한 것으로 판단된다</a:t>
            </a:r>
            <a:r>
              <a:rPr lang="en-US" altLang="ko-KR" sz="2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</a:p>
          <a:p>
            <a:pPr marL="889200" indent="-457200" algn="just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ko-KR" altLang="en-US" sz="2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향후 정확한 데이터 확보 및 검증 프로세스를 통해 이 문제를 보완할 예정이다</a:t>
            </a:r>
            <a:r>
              <a:rPr lang="en-US" altLang="ko-KR" sz="2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56DA0DB2-DD34-27E6-1EF5-BE5278F98E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7717" y="22148177"/>
            <a:ext cx="8992736" cy="369947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A9C02BD-DB0E-E8AE-C892-49F04629635F}"/>
              </a:ext>
            </a:extLst>
          </p:cNvPr>
          <p:cNvSpPr txBox="1"/>
          <p:nvPr/>
        </p:nvSpPr>
        <p:spPr>
          <a:xfrm>
            <a:off x="3693481" y="21746655"/>
            <a:ext cx="7544790" cy="40011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r>
              <a:rPr lang="en-US" altLang="ko-KR" sz="2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&lt;Table 1&gt; Specifications of four deep learning models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7758CC3D-41BA-A678-8A34-433F381D0C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18509" y="10365131"/>
            <a:ext cx="6362817" cy="282682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0795437-B0D0-D4E1-1AE0-A84B1BD68B00}"/>
              </a:ext>
            </a:extLst>
          </p:cNvPr>
          <p:cNvSpPr txBox="1"/>
          <p:nvPr/>
        </p:nvSpPr>
        <p:spPr>
          <a:xfrm>
            <a:off x="14964047" y="9840361"/>
            <a:ext cx="6392867" cy="40011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r>
              <a:rPr lang="en-US" altLang="ko-KR" sz="2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&lt;Table 2&gt; Architecture of the additional model</a:t>
            </a: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EF6CE608-2F10-6AC4-45DD-751BD79858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608825" y="19435728"/>
            <a:ext cx="8408643" cy="9662729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0FBC4AF0-A38A-C480-E4B6-87C472B3D09D}"/>
              </a:ext>
            </a:extLst>
          </p:cNvPr>
          <p:cNvSpPr txBox="1"/>
          <p:nvPr/>
        </p:nvSpPr>
        <p:spPr>
          <a:xfrm>
            <a:off x="14629899" y="27746861"/>
            <a:ext cx="4732642" cy="1323439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r>
              <a:rPr lang="en-US" altLang="ko-KR" sz="2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&lt;Figure 3&gt; Results of five weapon systems in Korea People’s Army by the four Deep learning models using the transfer learning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279BB7D-26CC-0956-E19B-66E7E64192F7}"/>
              </a:ext>
            </a:extLst>
          </p:cNvPr>
          <p:cNvSpPr txBox="1"/>
          <p:nvPr/>
        </p:nvSpPr>
        <p:spPr>
          <a:xfrm>
            <a:off x="36669760" y="22435321"/>
            <a:ext cx="4839715" cy="40011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pPr algn="ctr"/>
            <a:r>
              <a:rPr lang="en-US" altLang="ko-KR" sz="2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&lt;Figure 4&gt; The heatmap results </a:t>
            </a: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B63E0AE3-175F-3777-3686-FF61506C0C3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088430" y="6084041"/>
            <a:ext cx="6002377" cy="16295951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FCDBDC4C-4EB3-8689-4CCF-9EEE9C4B180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946668" y="18315412"/>
            <a:ext cx="6876861" cy="3776693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FC9C50E5-207F-366D-B0F5-83D1EABFA205}"/>
              </a:ext>
            </a:extLst>
          </p:cNvPr>
          <p:cNvSpPr txBox="1"/>
          <p:nvPr/>
        </p:nvSpPr>
        <p:spPr>
          <a:xfrm>
            <a:off x="28946668" y="17720764"/>
            <a:ext cx="6948182" cy="40011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pPr algn="ctr"/>
            <a:r>
              <a:rPr lang="en-US" altLang="ko-KR" sz="2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&lt;Table 4&gt; Results of six accuracy criteria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CC70B3F-EEAD-0183-2033-ED8FC5B62D0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61983" y="26617928"/>
            <a:ext cx="10343956" cy="3265775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CC186720-BBE6-1872-EFFA-76317D21577F}"/>
              </a:ext>
            </a:extLst>
          </p:cNvPr>
          <p:cNvSpPr txBox="1"/>
          <p:nvPr/>
        </p:nvSpPr>
        <p:spPr>
          <a:xfrm>
            <a:off x="4216506" y="26191591"/>
            <a:ext cx="607258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&lt;Figure 1&gt; The entire architecture of this study</a:t>
            </a:r>
            <a:endParaRPr lang="ko-KR" altLang="en-US" sz="20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3E3C4DB-E5D4-6E5F-E6A5-F2EC2B995B83}"/>
              </a:ext>
            </a:extLst>
          </p:cNvPr>
          <p:cNvSpPr txBox="1"/>
          <p:nvPr/>
        </p:nvSpPr>
        <p:spPr>
          <a:xfrm>
            <a:off x="653958" y="19745404"/>
            <a:ext cx="13129200" cy="2058833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pPr algn="just">
              <a:lnSpc>
                <a:spcPct val="110000"/>
              </a:lnSpc>
              <a:spcBef>
                <a:spcPts val="600"/>
              </a:spcBef>
              <a:buClrTx/>
            </a:pPr>
            <a:r>
              <a:rPr lang="en-US" altLang="ko-KR" sz="3000" b="1" dirty="0">
                <a:solidFill>
                  <a:srgbClr val="1C6DC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2. </a:t>
            </a:r>
            <a:r>
              <a:rPr lang="ko-KR" altLang="en-US" sz="3000" b="1" dirty="0">
                <a:solidFill>
                  <a:srgbClr val="1C6DC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전이학습  </a:t>
            </a:r>
          </a:p>
          <a:p>
            <a:pPr algn="just">
              <a:lnSpc>
                <a:spcPct val="110000"/>
              </a:lnSpc>
              <a:spcBef>
                <a:spcPts val="600"/>
              </a:spcBef>
              <a:buClrTx/>
            </a:pPr>
            <a:r>
              <a:rPr lang="ko-KR" altLang="en-US" sz="2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</a:t>
            </a:r>
            <a:r>
              <a:rPr lang="en-US" altLang="ko-KR" sz="2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2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전이학습을 통해 민간 영역의 검증된 딥러닝 성능을 군사 영역에 적용하고</a:t>
            </a:r>
            <a:r>
              <a:rPr lang="en-US" altLang="ko-KR" sz="2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2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데이터 부족 문제를 극복하기 위해 추가 모델을 최소화하여 학습 효율성을 높였다</a:t>
            </a:r>
            <a:r>
              <a:rPr lang="en-US" altLang="ko-KR" sz="2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9F96D1F-DF06-3192-E142-87F845956483}"/>
              </a:ext>
            </a:extLst>
          </p:cNvPr>
          <p:cNvSpPr txBox="1"/>
          <p:nvPr/>
        </p:nvSpPr>
        <p:spPr>
          <a:xfrm>
            <a:off x="14921882" y="14444529"/>
            <a:ext cx="6801099" cy="4244239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pPr algn="just">
              <a:lnSpc>
                <a:spcPct val="110000"/>
              </a:lnSpc>
              <a:spcBef>
                <a:spcPts val="600"/>
              </a:spcBef>
              <a:buClrTx/>
            </a:pPr>
            <a:r>
              <a:rPr lang="en-US" altLang="ko-KR" sz="2800" b="1" dirty="0">
                <a:solidFill>
                  <a:srgbClr val="025CB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4. </a:t>
            </a:r>
            <a:r>
              <a:rPr lang="ko-KR" altLang="en-US" sz="2800" b="1" dirty="0">
                <a:solidFill>
                  <a:srgbClr val="025CB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학습 방법  </a:t>
            </a:r>
          </a:p>
          <a:p>
            <a:pPr algn="just">
              <a:spcBef>
                <a:spcPts val="600"/>
              </a:spcBef>
              <a:buClrTx/>
            </a:pPr>
            <a:r>
              <a:rPr lang="ko-KR" altLang="en-US" sz="2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</a:t>
            </a:r>
            <a:r>
              <a:rPr lang="en-US" altLang="ko-KR" sz="2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 Windows 10 </a:t>
            </a:r>
            <a:r>
              <a:rPr lang="ko-KR" altLang="en-US" sz="2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시스템에서 </a:t>
            </a:r>
            <a:r>
              <a:rPr lang="en-US" altLang="ko-KR" sz="2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TensorFlow 2.6.0</a:t>
            </a:r>
            <a:r>
              <a:rPr lang="ko-KR" altLang="en-US" sz="2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과 </a:t>
            </a:r>
            <a:r>
              <a:rPr lang="en-US" altLang="ko-KR" sz="2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Nvidia RTX 2080Ti</a:t>
            </a:r>
            <a:r>
              <a:rPr lang="ko-KR" altLang="en-US" sz="2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를 사용하여 학습을 진행하였다</a:t>
            </a:r>
            <a:r>
              <a:rPr lang="en-US" altLang="ko-KR" sz="2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 </a:t>
            </a:r>
          </a:p>
          <a:p>
            <a:pPr algn="just">
              <a:spcBef>
                <a:spcPts val="600"/>
              </a:spcBef>
              <a:buClrTx/>
            </a:pPr>
            <a:r>
              <a:rPr lang="en-US" altLang="ko-KR" sz="2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- </a:t>
            </a:r>
            <a:r>
              <a:rPr lang="ko-KR" altLang="en-US" sz="2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수집된 데이터는 이미지 증강을 통해 </a:t>
            </a:r>
            <a:r>
              <a:rPr lang="en-US" altLang="ko-KR" sz="2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26</a:t>
            </a:r>
            <a:r>
              <a:rPr lang="ko-KR" altLang="en-US" sz="2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배로 늘리고</a:t>
            </a:r>
            <a:r>
              <a:rPr lang="en-US" altLang="ko-KR" sz="2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2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학습용과 검증용 데이터를 </a:t>
            </a:r>
            <a:r>
              <a:rPr lang="en-US" altLang="ko-KR" sz="2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65:35 </a:t>
            </a:r>
            <a:r>
              <a:rPr lang="ko-KR" altLang="en-US" sz="2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비율로 분할하였다</a:t>
            </a:r>
            <a:r>
              <a:rPr lang="en-US" altLang="ko-KR" sz="2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 </a:t>
            </a:r>
          </a:p>
          <a:p>
            <a:pPr algn="just">
              <a:spcBef>
                <a:spcPts val="600"/>
              </a:spcBef>
              <a:buClrTx/>
            </a:pPr>
            <a:r>
              <a:rPr lang="en-US" altLang="ko-KR" sz="2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- </a:t>
            </a:r>
            <a:r>
              <a:rPr lang="ko-KR" altLang="en-US" sz="2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배치 크기 </a:t>
            </a:r>
            <a:r>
              <a:rPr lang="en-US" altLang="ko-KR" sz="2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26, </a:t>
            </a:r>
            <a:r>
              <a:rPr lang="ko-KR" altLang="en-US" sz="2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학습 비율 </a:t>
            </a:r>
            <a:r>
              <a:rPr lang="en-US" altLang="ko-KR" sz="2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10^-4</a:t>
            </a:r>
            <a:r>
              <a:rPr lang="ko-KR" altLang="en-US" sz="2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로 설정하여 총 </a:t>
            </a:r>
            <a:r>
              <a:rPr lang="en-US" altLang="ko-KR" sz="2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</a:t>
            </a:r>
            <a:r>
              <a:rPr lang="ko-KR" altLang="en-US" sz="2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회의 학습을 진행하였다</a:t>
            </a:r>
            <a:r>
              <a:rPr lang="en-US" altLang="ko-KR" sz="2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A32BBB7-DA34-5DED-1B23-29035F947F99}"/>
              </a:ext>
            </a:extLst>
          </p:cNvPr>
          <p:cNvSpPr txBox="1"/>
          <p:nvPr/>
        </p:nvSpPr>
        <p:spPr>
          <a:xfrm>
            <a:off x="14921882" y="19357215"/>
            <a:ext cx="4202180" cy="3228576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pPr algn="just">
              <a:lnSpc>
                <a:spcPct val="110000"/>
              </a:lnSpc>
              <a:spcBef>
                <a:spcPts val="600"/>
              </a:spcBef>
              <a:buClrTx/>
            </a:pPr>
            <a:r>
              <a:rPr lang="en-US" altLang="ko-KR" sz="2800" b="1" dirty="0">
                <a:solidFill>
                  <a:srgbClr val="025CB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5. </a:t>
            </a:r>
            <a:r>
              <a:rPr lang="ko-KR" altLang="en-US" sz="2800" b="1" dirty="0">
                <a:solidFill>
                  <a:srgbClr val="025CB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학습 결과 및 분석 </a:t>
            </a:r>
          </a:p>
          <a:p>
            <a:pPr algn="just">
              <a:spcBef>
                <a:spcPts val="600"/>
              </a:spcBef>
              <a:buClrTx/>
            </a:pPr>
            <a:r>
              <a:rPr lang="ko-KR" altLang="en-US" sz="2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</a:t>
            </a:r>
            <a:r>
              <a:rPr lang="en-US" altLang="ko-KR" sz="2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2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무인 수색 차량이 탐지할 </a:t>
            </a:r>
            <a:r>
              <a:rPr lang="en-US" altLang="ko-KR" sz="2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</a:t>
            </a:r>
            <a:r>
              <a:rPr lang="ko-KR" altLang="en-US" sz="2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종의 한국군과 북한군 무기체계에 대해 </a:t>
            </a:r>
            <a:r>
              <a:rPr lang="en-US" altLang="ko-KR" sz="2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r>
              <a:rPr lang="ko-KR" altLang="en-US" sz="2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가지 딥러닝 모델을 적용하여 전이학습을 수행하였다</a:t>
            </a:r>
            <a:r>
              <a:rPr lang="en-US" altLang="ko-KR" sz="2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94FDA0E0-A6C0-7A46-5342-A45F0C8F9CC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662214" y="9682307"/>
            <a:ext cx="6362815" cy="4649749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91211346-5B48-CFCB-4028-DA4B37307E17}"/>
              </a:ext>
            </a:extLst>
          </p:cNvPr>
          <p:cNvSpPr txBox="1"/>
          <p:nvPr/>
        </p:nvSpPr>
        <p:spPr>
          <a:xfrm>
            <a:off x="21181326" y="9327778"/>
            <a:ext cx="7354516" cy="40011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r>
              <a:rPr lang="en-US" altLang="ko-KR" sz="2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&lt;Table 3&gt; The list of ten weapon systems in the dataset</a:t>
            </a:r>
          </a:p>
        </p:txBody>
      </p:sp>
      <p:pic>
        <p:nvPicPr>
          <p:cNvPr id="27" name="그림 26">
            <a:extLst>
              <a:ext uri="{FF2B5EF4-FFF2-40B4-BE49-F238E27FC236}">
                <a16:creationId xmlns:a16="http://schemas.microsoft.com/office/drawing/2014/main" id="{E03A83F6-6823-AB6C-1756-EBAF8EF9AF2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2100705" y="15465251"/>
            <a:ext cx="5993197" cy="2850161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9933D32F-4AFD-EFFB-FFDB-87F2657766B4}"/>
              </a:ext>
            </a:extLst>
          </p:cNvPr>
          <p:cNvSpPr txBox="1"/>
          <p:nvPr/>
        </p:nvSpPr>
        <p:spPr>
          <a:xfrm>
            <a:off x="21961701" y="15121080"/>
            <a:ext cx="6437341" cy="40011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r>
              <a:rPr lang="en-US" altLang="ko-KR" sz="2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&lt;Table 4&gt; Specifications for the transfer learning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</TotalTime>
  <Words>639</Words>
  <Application>Microsoft Office PowerPoint</Application>
  <PresentationFormat>사용자 지정</PresentationFormat>
  <Paragraphs>44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Malgun Gothic</vt:lpstr>
      <vt:lpstr>Malgun Gothic</vt:lpstr>
      <vt:lpstr>Arial</vt:lpstr>
      <vt:lpstr>Wingdings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user</dc:creator>
  <cp:lastModifiedBy>하유 무</cp:lastModifiedBy>
  <cp:revision>25</cp:revision>
  <dcterms:created xsi:type="dcterms:W3CDTF">2018-10-17T01:18:09Z</dcterms:created>
  <dcterms:modified xsi:type="dcterms:W3CDTF">2024-11-14T05:37:24Z</dcterms:modified>
</cp:coreProperties>
</file>