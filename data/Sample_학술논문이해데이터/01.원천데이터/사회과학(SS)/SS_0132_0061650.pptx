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144000"/>
  <p:defaultTextStyle>
    <a:defPPr>
      <a:defRPr lang="ko-KR"/>
    </a:defPPr>
    <a:lvl1pPr marL="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1pPr>
    <a:lvl2pPr marL="226314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2pPr>
    <a:lvl3pPr marL="452628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3pPr>
    <a:lvl4pPr marL="678942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4pPr>
    <a:lvl5pPr marL="905256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5pPr>
    <a:lvl6pPr marL="1131570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6pPr>
    <a:lvl7pPr marL="1357884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7pPr>
    <a:lvl8pPr marL="1584198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8pPr>
    <a:lvl9pPr marL="18105120" algn="l" defTabSz="4526280" rtl="0" eaLnBrk="1" latinLnBrk="1" hangingPunct="1">
      <a:defRPr sz="8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B56AC1"/>
    <a:srgbClr val="E5EFE9"/>
    <a:srgbClr val="508063"/>
    <a:srgbClr val="BDD5C7"/>
    <a:srgbClr val="9AC0A9"/>
    <a:srgbClr val="EBD0EF"/>
    <a:srgbClr val="A4ACF5"/>
    <a:srgbClr val="BDBAFF"/>
    <a:srgbClr val="F6D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9" autoAdjust="0"/>
    <p:restoredTop sz="94496" autoAdjust="0"/>
  </p:normalViewPr>
  <p:slideViewPr>
    <p:cSldViewPr>
      <p:cViewPr varScale="1">
        <p:scale>
          <a:sx n="17" d="100"/>
          <a:sy n="17" d="100"/>
        </p:scale>
        <p:origin x="3636" y="132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3AE0A-3CEB-417E-A06E-D1A49EC7273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69988-0B96-41E0-B140-6B939B91D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737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9988-0B96-41E0-B140-6B939B91DDC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87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26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789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052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31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578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841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105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09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0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59697" y="27763474"/>
            <a:ext cx="27543443" cy="8581073"/>
          </a:xfrm>
        </p:spPr>
        <p:txBody>
          <a:bodyPr anchor="t"/>
          <a:lstStyle>
            <a:lvl1pPr algn="l">
              <a:defRPr sz="198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59697" y="18312295"/>
            <a:ext cx="27543443" cy="9451178"/>
          </a:xfrm>
        </p:spPr>
        <p:txBody>
          <a:bodyPr anchor="b"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226314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2pPr>
            <a:lvl3pPr marL="452628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3pPr>
            <a:lvl4pPr marL="678942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4pPr>
            <a:lvl5pPr marL="905256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5pPr>
            <a:lvl6pPr marL="1131570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6pPr>
            <a:lvl7pPr marL="1357884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7pPr>
            <a:lvl8pPr marL="1584198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8pPr>
            <a:lvl9pPr marL="1810512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42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79549" y="63507941"/>
            <a:ext cx="57145892" cy="179642453"/>
          </a:xfrm>
        </p:spPr>
        <p:txBody>
          <a:bodyPr/>
          <a:lstStyle>
            <a:lvl1pPr>
              <a:defRPr sz="13900"/>
            </a:lvl1pPr>
            <a:lvl2pPr>
              <a:defRPr sz="11900"/>
            </a:lvl2pPr>
            <a:lvl3pPr>
              <a:defRPr sz="99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65509" y="63507941"/>
            <a:ext cx="57145892" cy="179642453"/>
          </a:xfrm>
        </p:spPr>
        <p:txBody>
          <a:bodyPr/>
          <a:lstStyle>
            <a:lvl1pPr>
              <a:defRPr sz="13900"/>
            </a:lvl1pPr>
            <a:lvl2pPr>
              <a:defRPr sz="11900"/>
            </a:lvl2pPr>
            <a:lvl3pPr>
              <a:defRPr sz="99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2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0203" y="9671213"/>
            <a:ext cx="14317416" cy="4030501"/>
          </a:xfrm>
        </p:spPr>
        <p:txBody>
          <a:bodyPr anchor="b"/>
          <a:lstStyle>
            <a:lvl1pPr marL="0" indent="0">
              <a:buNone/>
              <a:defRPr sz="11900" b="1"/>
            </a:lvl1pPr>
            <a:lvl2pPr marL="2263140" indent="0">
              <a:buNone/>
              <a:defRPr sz="9900" b="1"/>
            </a:lvl2pPr>
            <a:lvl3pPr marL="4526280" indent="0">
              <a:buNone/>
              <a:defRPr sz="8900" b="1"/>
            </a:lvl3pPr>
            <a:lvl4pPr marL="6789420" indent="0">
              <a:buNone/>
              <a:defRPr sz="7900" b="1"/>
            </a:lvl4pPr>
            <a:lvl5pPr marL="9052560" indent="0">
              <a:buNone/>
              <a:defRPr sz="7900" b="1"/>
            </a:lvl5pPr>
            <a:lvl6pPr marL="11315700" indent="0">
              <a:buNone/>
              <a:defRPr sz="7900" b="1"/>
            </a:lvl6pPr>
            <a:lvl7pPr marL="13578840" indent="0">
              <a:buNone/>
              <a:defRPr sz="7900" b="1"/>
            </a:lvl7pPr>
            <a:lvl8pPr marL="15841980" indent="0">
              <a:buNone/>
              <a:defRPr sz="7900" b="1"/>
            </a:lvl8pPr>
            <a:lvl9pPr marL="18105120" indent="0">
              <a:buNone/>
              <a:defRPr sz="7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900"/>
            </a:lvl1pPr>
            <a:lvl2pPr>
              <a:defRPr sz="9900"/>
            </a:lvl2pPr>
            <a:lvl3pPr>
              <a:defRPr sz="89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6460810" y="9671213"/>
            <a:ext cx="14323040" cy="4030501"/>
          </a:xfrm>
        </p:spPr>
        <p:txBody>
          <a:bodyPr anchor="b"/>
          <a:lstStyle>
            <a:lvl1pPr marL="0" indent="0">
              <a:buNone/>
              <a:defRPr sz="11900" b="1"/>
            </a:lvl1pPr>
            <a:lvl2pPr marL="2263140" indent="0">
              <a:buNone/>
              <a:defRPr sz="9900" b="1"/>
            </a:lvl2pPr>
            <a:lvl3pPr marL="4526280" indent="0">
              <a:buNone/>
              <a:defRPr sz="8900" b="1"/>
            </a:lvl3pPr>
            <a:lvl4pPr marL="6789420" indent="0">
              <a:buNone/>
              <a:defRPr sz="7900" b="1"/>
            </a:lvl4pPr>
            <a:lvl5pPr marL="9052560" indent="0">
              <a:buNone/>
              <a:defRPr sz="7900" b="1"/>
            </a:lvl5pPr>
            <a:lvl6pPr marL="11315700" indent="0">
              <a:buNone/>
              <a:defRPr sz="7900" b="1"/>
            </a:lvl6pPr>
            <a:lvl7pPr marL="13578840" indent="0">
              <a:buNone/>
              <a:defRPr sz="7900" b="1"/>
            </a:lvl7pPr>
            <a:lvl8pPr marL="15841980" indent="0">
              <a:buNone/>
              <a:defRPr sz="7900" b="1"/>
            </a:lvl8pPr>
            <a:lvl9pPr marL="18105120" indent="0">
              <a:buNone/>
              <a:defRPr sz="7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6460810" y="13701713"/>
            <a:ext cx="14323040" cy="24893114"/>
          </a:xfrm>
        </p:spPr>
        <p:txBody>
          <a:bodyPr/>
          <a:lstStyle>
            <a:lvl1pPr>
              <a:defRPr sz="11900"/>
            </a:lvl1pPr>
            <a:lvl2pPr>
              <a:defRPr sz="9900"/>
            </a:lvl2pPr>
            <a:lvl3pPr>
              <a:defRPr sz="89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56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07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20204" y="1720216"/>
            <a:ext cx="10660709" cy="7320915"/>
          </a:xfrm>
        </p:spPr>
        <p:txBody>
          <a:bodyPr anchor="b"/>
          <a:lstStyle>
            <a:lvl1pPr algn="l">
              <a:defRPr sz="99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800"/>
            </a:lvl1pPr>
            <a:lvl2pPr>
              <a:defRPr sz="13900"/>
            </a:lvl2pPr>
            <a:lvl3pPr>
              <a:defRPr sz="11900"/>
            </a:lvl3pPr>
            <a:lvl4pPr>
              <a:defRPr sz="9900"/>
            </a:lvl4pPr>
            <a:lvl5pPr>
              <a:defRPr sz="9900"/>
            </a:lvl5pPr>
            <a:lvl6pPr>
              <a:defRPr sz="9900"/>
            </a:lvl6pPr>
            <a:lvl7pPr>
              <a:defRPr sz="9900"/>
            </a:lvl7pPr>
            <a:lvl8pPr>
              <a:defRPr sz="9900"/>
            </a:lvl8pPr>
            <a:lvl9pPr>
              <a:defRPr sz="9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</p:spPr>
        <p:txBody>
          <a:bodyPr/>
          <a:lstStyle>
            <a:lvl1pPr marL="0" indent="0">
              <a:buNone/>
              <a:defRPr sz="6900"/>
            </a:lvl1pPr>
            <a:lvl2pPr marL="2263140" indent="0">
              <a:buNone/>
              <a:defRPr sz="5900"/>
            </a:lvl2pPr>
            <a:lvl3pPr marL="4526280" indent="0">
              <a:buNone/>
              <a:defRPr sz="5000"/>
            </a:lvl3pPr>
            <a:lvl4pPr marL="6789420" indent="0">
              <a:buNone/>
              <a:defRPr sz="4500"/>
            </a:lvl4pPr>
            <a:lvl5pPr marL="9052560" indent="0">
              <a:buNone/>
              <a:defRPr sz="4500"/>
            </a:lvl5pPr>
            <a:lvl6pPr marL="11315700" indent="0">
              <a:buNone/>
              <a:defRPr sz="4500"/>
            </a:lvl6pPr>
            <a:lvl7pPr marL="13578840" indent="0">
              <a:buNone/>
              <a:defRPr sz="4500"/>
            </a:lvl7pPr>
            <a:lvl8pPr marL="15841980" indent="0">
              <a:buNone/>
              <a:defRPr sz="4500"/>
            </a:lvl8pPr>
            <a:lvl9pPr marL="18105120" indent="0">
              <a:buNone/>
              <a:defRPr sz="4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51421" y="30243781"/>
            <a:ext cx="19442430" cy="3570449"/>
          </a:xfrm>
        </p:spPr>
        <p:txBody>
          <a:bodyPr anchor="b"/>
          <a:lstStyle>
            <a:lvl1pPr algn="l">
              <a:defRPr sz="99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/>
          <a:lstStyle>
            <a:lvl1pPr marL="0" indent="0">
              <a:buNone/>
              <a:defRPr sz="15800"/>
            </a:lvl1pPr>
            <a:lvl2pPr marL="2263140" indent="0">
              <a:buNone/>
              <a:defRPr sz="13900"/>
            </a:lvl2pPr>
            <a:lvl3pPr marL="4526280" indent="0">
              <a:buNone/>
              <a:defRPr sz="11900"/>
            </a:lvl3pPr>
            <a:lvl4pPr marL="6789420" indent="0">
              <a:buNone/>
              <a:defRPr sz="9900"/>
            </a:lvl4pPr>
            <a:lvl5pPr marL="9052560" indent="0">
              <a:buNone/>
              <a:defRPr sz="9900"/>
            </a:lvl5pPr>
            <a:lvl6pPr marL="11315700" indent="0">
              <a:buNone/>
              <a:defRPr sz="9900"/>
            </a:lvl6pPr>
            <a:lvl7pPr marL="13578840" indent="0">
              <a:buNone/>
              <a:defRPr sz="9900"/>
            </a:lvl7pPr>
            <a:lvl8pPr marL="15841980" indent="0">
              <a:buNone/>
              <a:defRPr sz="9900"/>
            </a:lvl8pPr>
            <a:lvl9pPr marL="18105120" indent="0">
              <a:buNone/>
              <a:defRPr sz="99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51421" y="33814230"/>
            <a:ext cx="19442430" cy="5070631"/>
          </a:xfrm>
        </p:spPr>
        <p:txBody>
          <a:bodyPr/>
          <a:lstStyle>
            <a:lvl1pPr marL="0" indent="0">
              <a:buNone/>
              <a:defRPr sz="6900"/>
            </a:lvl1pPr>
            <a:lvl2pPr marL="2263140" indent="0">
              <a:buNone/>
              <a:defRPr sz="5900"/>
            </a:lvl2pPr>
            <a:lvl3pPr marL="4526280" indent="0">
              <a:buNone/>
              <a:defRPr sz="5000"/>
            </a:lvl3pPr>
            <a:lvl4pPr marL="6789420" indent="0">
              <a:buNone/>
              <a:defRPr sz="4500"/>
            </a:lvl4pPr>
            <a:lvl5pPr marL="9052560" indent="0">
              <a:buNone/>
              <a:defRPr sz="4500"/>
            </a:lvl5pPr>
            <a:lvl6pPr marL="11315700" indent="0">
              <a:buNone/>
              <a:defRPr sz="4500"/>
            </a:lvl6pPr>
            <a:lvl7pPr marL="13578840" indent="0">
              <a:buNone/>
              <a:defRPr sz="4500"/>
            </a:lvl7pPr>
            <a:lvl8pPr marL="15841980" indent="0">
              <a:buNone/>
              <a:defRPr sz="4500"/>
            </a:lvl8pPr>
            <a:lvl9pPr marL="18105120" indent="0">
              <a:buNone/>
              <a:defRPr sz="4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80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99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503438" y="10901365"/>
            <a:ext cx="28707962" cy="2322490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79548" y="10901365"/>
            <a:ext cx="85583823" cy="2322490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75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A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52628" tIns="226314" rIns="452628" bIns="226314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0203" y="10081264"/>
            <a:ext cx="29163645" cy="28513567"/>
          </a:xfrm>
          <a:prstGeom prst="rect">
            <a:avLst/>
          </a:prstGeom>
        </p:spPr>
        <p:txBody>
          <a:bodyPr vert="horz" lIns="452628" tIns="226314" rIns="452628" bIns="226314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52628" tIns="226314" rIns="452628" bIns="226314" rtlCol="0" anchor="ctr"/>
          <a:lstStyle>
            <a:lvl1pPr algn="l">
              <a:defRPr sz="5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73935-F827-4826-A9A7-C5B8A3AA5945}" type="datetimeFigureOut">
              <a:rPr lang="ko-KR" altLang="en-US" smtClean="0"/>
              <a:t>2024-11-18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52628" tIns="226314" rIns="452628" bIns="226314" rtlCol="0" anchor="ctr"/>
          <a:lstStyle>
            <a:lvl1pPr algn="ctr">
              <a:defRPr sz="5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52628" tIns="226314" rIns="452628" bIns="226314" rtlCol="0" anchor="ctr"/>
          <a:lstStyle>
            <a:lvl1pPr algn="r">
              <a:defRPr sz="5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3C185-7EA2-4A25-9A59-280D1EAA3F3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D4E4D9-304A-888C-A968-3A7EC43ED1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5" y="0"/>
            <a:ext cx="32404050" cy="94333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0FD753-56D0-688C-537E-3FF6358137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33699743"/>
            <a:ext cx="32404049" cy="943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6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26280" rtl="0" eaLnBrk="1" latinLnBrk="1" hangingPunct="1">
        <a:spcBef>
          <a:spcPct val="0"/>
        </a:spcBef>
        <a:buNone/>
        <a:defRPr sz="2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7355" indent="-1697355" algn="l" defTabSz="4526280" rtl="0" eaLnBrk="1" latinLnBrk="1" hangingPunct="1">
        <a:spcBef>
          <a:spcPct val="20000"/>
        </a:spcBef>
        <a:buFont typeface="Arial" pitchFamily="34" charset="0"/>
        <a:buChar char="•"/>
        <a:defRPr sz="15800" kern="1200">
          <a:solidFill>
            <a:schemeClr val="tx1"/>
          </a:solidFill>
          <a:latin typeface="+mn-lt"/>
          <a:ea typeface="+mn-ea"/>
          <a:cs typeface="+mn-cs"/>
        </a:defRPr>
      </a:lvl1pPr>
      <a:lvl2pPr marL="3677603" indent="-1414463" algn="l" defTabSz="4526280" rtl="0" eaLnBrk="1" latinLnBrk="1" hangingPunct="1">
        <a:spcBef>
          <a:spcPct val="20000"/>
        </a:spcBef>
        <a:buFont typeface="Arial" pitchFamily="34" charset="0"/>
        <a:buChar char="–"/>
        <a:defRPr sz="139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0" indent="-1131570" algn="l" defTabSz="4526280" rtl="0" eaLnBrk="1" latinLnBrk="1" hangingPunct="1">
        <a:spcBef>
          <a:spcPct val="20000"/>
        </a:spcBef>
        <a:buFont typeface="Arial" pitchFamily="34" charset="0"/>
        <a:buChar char="•"/>
        <a:defRPr sz="11900" kern="1200">
          <a:solidFill>
            <a:schemeClr val="tx1"/>
          </a:solidFill>
          <a:latin typeface="+mn-lt"/>
          <a:ea typeface="+mn-ea"/>
          <a:cs typeface="+mn-cs"/>
        </a:defRPr>
      </a:lvl3pPr>
      <a:lvl4pPr marL="7920990" indent="-1131570" algn="l" defTabSz="4526280" rtl="0" eaLnBrk="1" latinLnBrk="1" hangingPunct="1">
        <a:spcBef>
          <a:spcPct val="20000"/>
        </a:spcBef>
        <a:buFont typeface="Arial" pitchFamily="34" charset="0"/>
        <a:buChar char="–"/>
        <a:defRPr sz="9900" kern="1200">
          <a:solidFill>
            <a:schemeClr val="tx1"/>
          </a:solidFill>
          <a:latin typeface="+mn-lt"/>
          <a:ea typeface="+mn-ea"/>
          <a:cs typeface="+mn-cs"/>
        </a:defRPr>
      </a:lvl4pPr>
      <a:lvl5pPr marL="10184130" indent="-1131570" algn="l" defTabSz="4526280" rtl="0" eaLnBrk="1" latinLnBrk="1" hangingPunct="1">
        <a:spcBef>
          <a:spcPct val="20000"/>
        </a:spcBef>
        <a:buFont typeface="Arial" pitchFamily="34" charset="0"/>
        <a:buChar char="»"/>
        <a:defRPr sz="9900" kern="1200">
          <a:solidFill>
            <a:schemeClr val="tx1"/>
          </a:solidFill>
          <a:latin typeface="+mn-lt"/>
          <a:ea typeface="+mn-ea"/>
          <a:cs typeface="+mn-cs"/>
        </a:defRPr>
      </a:lvl5pPr>
      <a:lvl6pPr marL="12447270" indent="-1131570" algn="l" defTabSz="4526280" rtl="0" eaLnBrk="1" latinLnBrk="1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0410" indent="-1131570" algn="l" defTabSz="4526280" rtl="0" eaLnBrk="1" latinLnBrk="1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7pPr>
      <a:lvl8pPr marL="16973550" indent="-1131570" algn="l" defTabSz="4526280" rtl="0" eaLnBrk="1" latinLnBrk="1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8pPr>
      <a:lvl9pPr marL="19236690" indent="-1131570" algn="l" defTabSz="4526280" rtl="0" eaLnBrk="1" latinLnBrk="1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2pPr>
      <a:lvl3pPr marL="452628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3pPr>
      <a:lvl4pPr marL="678942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05256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884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198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8105120" algn="l" defTabSz="4526280" rtl="0" eaLnBrk="1" latinLnBrk="1" hangingPunct="1"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A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A71394A-E9DC-9644-5E12-64996D121DBF}"/>
              </a:ext>
            </a:extLst>
          </p:cNvPr>
          <p:cNvSpPr txBox="1"/>
          <p:nvPr/>
        </p:nvSpPr>
        <p:spPr>
          <a:xfrm>
            <a:off x="2448496" y="1296444"/>
            <a:ext cx="277230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 spc="-100" dirty="0">
                <a:solidFill>
                  <a:schemeClr val="bg1"/>
                </a:solidFill>
                <a:latin typeface="+mj-ea"/>
                <a:ea typeface="+mj-ea"/>
              </a:rPr>
              <a:t>언론에 보도된 체육계 학교폭력 이슈 분석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4744D74-8D10-596F-FDDF-4F3F3708B7D7}"/>
              </a:ext>
            </a:extLst>
          </p:cNvPr>
          <p:cNvSpPr txBox="1"/>
          <p:nvPr/>
        </p:nvSpPr>
        <p:spPr>
          <a:xfrm>
            <a:off x="2520506" y="3960740"/>
            <a:ext cx="27579064" cy="51730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ko-KR" altLang="en-US" sz="3200" b="1" spc="-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이승만 </a:t>
            </a:r>
            <a:r>
              <a:rPr lang="en-US" altLang="ko-KR" sz="3200" b="1" spc="-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(</a:t>
            </a:r>
            <a:r>
              <a:rPr lang="ko-KR" altLang="en-US" sz="3200" b="1" spc="-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한경국립대학교 교수</a:t>
            </a:r>
            <a:r>
              <a:rPr lang="en-US" altLang="ko-KR" sz="3200" b="1" spc="-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00" name="모서리가 둥근 직사각형 2">
            <a:extLst>
              <a:ext uri="{FF2B5EF4-FFF2-40B4-BE49-F238E27FC236}">
                <a16:creationId xmlns:a16="http://schemas.microsoft.com/office/drawing/2014/main" id="{74829181-A3EC-9157-0D58-0B870F077CB4}"/>
              </a:ext>
            </a:extLst>
          </p:cNvPr>
          <p:cNvSpPr/>
          <p:nvPr/>
        </p:nvSpPr>
        <p:spPr>
          <a:xfrm>
            <a:off x="1086052" y="6697045"/>
            <a:ext cx="30275656" cy="35715968"/>
          </a:xfrm>
          <a:prstGeom prst="roundRect">
            <a:avLst>
              <a:gd name="adj" fmla="val 35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5" name="모서리가 둥근 직사각형 2">
            <a:extLst>
              <a:ext uri="{FF2B5EF4-FFF2-40B4-BE49-F238E27FC236}">
                <a16:creationId xmlns:a16="http://schemas.microsoft.com/office/drawing/2014/main" id="{6B5756C0-0CED-7E59-B34C-7ADA3CAC7351}"/>
              </a:ext>
            </a:extLst>
          </p:cNvPr>
          <p:cNvSpPr/>
          <p:nvPr/>
        </p:nvSpPr>
        <p:spPr>
          <a:xfrm>
            <a:off x="2474373" y="7777164"/>
            <a:ext cx="10861930" cy="123097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8" name="모서리가 둥근 직사각형 2">
            <a:extLst>
              <a:ext uri="{FF2B5EF4-FFF2-40B4-BE49-F238E27FC236}">
                <a16:creationId xmlns:a16="http://schemas.microsoft.com/office/drawing/2014/main" id="{B987EEC7-AF60-5CCB-39AA-8B3D168AB319}"/>
              </a:ext>
            </a:extLst>
          </p:cNvPr>
          <p:cNvSpPr/>
          <p:nvPr/>
        </p:nvSpPr>
        <p:spPr>
          <a:xfrm>
            <a:off x="12921567" y="7777164"/>
            <a:ext cx="498022" cy="122612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326AD16-41D7-C9A1-D431-FA9DEEBF6DF1}"/>
              </a:ext>
            </a:extLst>
          </p:cNvPr>
          <p:cNvSpPr/>
          <p:nvPr/>
        </p:nvSpPr>
        <p:spPr>
          <a:xfrm>
            <a:off x="12767389" y="7777164"/>
            <a:ext cx="284584" cy="12309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직각 삼각형 209">
            <a:extLst>
              <a:ext uri="{FF2B5EF4-FFF2-40B4-BE49-F238E27FC236}">
                <a16:creationId xmlns:a16="http://schemas.microsoft.com/office/drawing/2014/main" id="{B714C1DF-CE3D-8BC4-4DF3-656CEDB1DBED}"/>
              </a:ext>
            </a:extLst>
          </p:cNvPr>
          <p:cNvSpPr/>
          <p:nvPr/>
        </p:nvSpPr>
        <p:spPr>
          <a:xfrm rot="10800000">
            <a:off x="12166093" y="7777164"/>
            <a:ext cx="612695" cy="1230978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EA8C808-F5E1-32F5-EFB6-26F0AA20E7DA}"/>
              </a:ext>
            </a:extLst>
          </p:cNvPr>
          <p:cNvSpPr txBox="1"/>
          <p:nvPr/>
        </p:nvSpPr>
        <p:spPr>
          <a:xfrm>
            <a:off x="2832999" y="7777164"/>
            <a:ext cx="10214141" cy="1226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ko-KR" altLang="en-US" sz="3800" b="1" spc="-100" dirty="0">
                <a:latin typeface="+mj-ea"/>
                <a:ea typeface="+mj-ea"/>
              </a:rPr>
              <a:t> 초록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EBB7711-2645-A5C2-22E0-B7C560DE9081}"/>
              </a:ext>
            </a:extLst>
          </p:cNvPr>
          <p:cNvSpPr txBox="1"/>
          <p:nvPr/>
        </p:nvSpPr>
        <p:spPr>
          <a:xfrm>
            <a:off x="2520505" y="9145317"/>
            <a:ext cx="10833250" cy="33123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accent3">
                <a:lumMod val="75000"/>
              </a:schemeClr>
            </a:solidFill>
          </a:ln>
        </p:spPr>
        <p:txBody>
          <a:bodyPr wrap="square" rtlCol="0" anchor="t" anchorCtr="0">
            <a:noAutofit/>
          </a:bodyPr>
          <a:lstStyle/>
          <a:p>
            <a:pPr algn="just"/>
            <a:r>
              <a:rPr lang="ko-KR" altLang="en-US" sz="3200" spc="-50" dirty="0">
                <a:latin typeface="+mn-ea"/>
              </a:rPr>
              <a:t>본 연구는 언론 보도를 통해 체육계 학교폭력 이슈를 분석하고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해결 방안을 마련하기 위한 기초 자료를 제공하는 것을 목표로 한다</a:t>
            </a:r>
            <a:r>
              <a:rPr lang="en-US" altLang="ko-KR" sz="3200" spc="-50" dirty="0">
                <a:latin typeface="+mn-ea"/>
              </a:rPr>
              <a:t>. </a:t>
            </a:r>
          </a:p>
          <a:p>
            <a:pPr algn="just"/>
            <a:r>
              <a:rPr lang="en-US" altLang="ko-KR" sz="3200" spc="-50" dirty="0">
                <a:latin typeface="+mn-ea"/>
              </a:rPr>
              <a:t>2019</a:t>
            </a:r>
            <a:r>
              <a:rPr lang="ko-KR" altLang="en-US" sz="3200" spc="-50" dirty="0">
                <a:latin typeface="+mn-ea"/>
              </a:rPr>
              <a:t>년부터 </a:t>
            </a:r>
            <a:r>
              <a:rPr lang="en-US" altLang="ko-KR" sz="3200" spc="-50" dirty="0">
                <a:latin typeface="+mn-ea"/>
              </a:rPr>
              <a:t>2023</a:t>
            </a:r>
            <a:r>
              <a:rPr lang="ko-KR" altLang="en-US" sz="3200" spc="-50" dirty="0">
                <a:latin typeface="+mn-ea"/>
              </a:rPr>
              <a:t>년까지의 기사를 분석한 결과를 토대로 한 연구 결과는 체육계 학교폭력의 사회적 문제와 개선 방안에 대한 정보를 제공할 것으로 기대된다</a:t>
            </a:r>
            <a:r>
              <a:rPr lang="en-US" altLang="ko-KR" sz="3200" spc="-50" dirty="0">
                <a:latin typeface="+mn-ea"/>
              </a:rPr>
              <a:t>.</a:t>
            </a:r>
          </a:p>
        </p:txBody>
      </p:sp>
      <p:sp>
        <p:nvSpPr>
          <p:cNvPr id="218" name="모서리가 둥근 직사각형 2">
            <a:extLst>
              <a:ext uri="{FF2B5EF4-FFF2-40B4-BE49-F238E27FC236}">
                <a16:creationId xmlns:a16="http://schemas.microsoft.com/office/drawing/2014/main" id="{4B15CAB7-761F-725B-A90E-303184D2EDDA}"/>
              </a:ext>
            </a:extLst>
          </p:cNvPr>
          <p:cNvSpPr/>
          <p:nvPr/>
        </p:nvSpPr>
        <p:spPr>
          <a:xfrm>
            <a:off x="14177622" y="8482397"/>
            <a:ext cx="17171590" cy="27231018"/>
          </a:xfrm>
          <a:prstGeom prst="roundRect">
            <a:avLst>
              <a:gd name="adj" fmla="val 66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" name="모서리가 둥근 직사각형 2">
            <a:extLst>
              <a:ext uri="{FF2B5EF4-FFF2-40B4-BE49-F238E27FC236}">
                <a16:creationId xmlns:a16="http://schemas.microsoft.com/office/drawing/2014/main" id="{D59BA275-A076-94EE-2938-6DB4616FB80F}"/>
              </a:ext>
            </a:extLst>
          </p:cNvPr>
          <p:cNvSpPr/>
          <p:nvPr/>
        </p:nvSpPr>
        <p:spPr>
          <a:xfrm>
            <a:off x="2487900" y="18355498"/>
            <a:ext cx="10848506" cy="1230978"/>
          </a:xfrm>
          <a:prstGeom prst="roundRect">
            <a:avLst/>
          </a:prstGeom>
          <a:solidFill>
            <a:srgbClr val="50A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1" name="모서리가 둥근 직사각형 2">
            <a:extLst>
              <a:ext uri="{FF2B5EF4-FFF2-40B4-BE49-F238E27FC236}">
                <a16:creationId xmlns:a16="http://schemas.microsoft.com/office/drawing/2014/main" id="{E9183F0A-08DD-DC90-E35A-5A7E1D03E206}"/>
              </a:ext>
            </a:extLst>
          </p:cNvPr>
          <p:cNvSpPr/>
          <p:nvPr/>
        </p:nvSpPr>
        <p:spPr>
          <a:xfrm>
            <a:off x="12922183" y="18355498"/>
            <a:ext cx="497406" cy="1230978"/>
          </a:xfrm>
          <a:prstGeom prst="round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CABD734E-376E-CF24-1BDC-CA0E4A16906B}"/>
              </a:ext>
            </a:extLst>
          </p:cNvPr>
          <p:cNvSpPr/>
          <p:nvPr/>
        </p:nvSpPr>
        <p:spPr>
          <a:xfrm>
            <a:off x="12768195" y="18355498"/>
            <a:ext cx="284232" cy="1230978"/>
          </a:xfrm>
          <a:prstGeom prst="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직각 삼각형 222">
            <a:extLst>
              <a:ext uri="{FF2B5EF4-FFF2-40B4-BE49-F238E27FC236}">
                <a16:creationId xmlns:a16="http://schemas.microsoft.com/office/drawing/2014/main" id="{7A52F267-7CB2-DF1A-D8DB-417A8A876FA7}"/>
              </a:ext>
            </a:extLst>
          </p:cNvPr>
          <p:cNvSpPr/>
          <p:nvPr/>
        </p:nvSpPr>
        <p:spPr>
          <a:xfrm rot="10800000">
            <a:off x="12167642" y="18355498"/>
            <a:ext cx="611937" cy="1230978"/>
          </a:xfrm>
          <a:prstGeom prst="rtTriangle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FB8F966-9266-FC9F-12B2-4B745CE2EB5E}"/>
              </a:ext>
            </a:extLst>
          </p:cNvPr>
          <p:cNvSpPr txBox="1"/>
          <p:nvPr/>
        </p:nvSpPr>
        <p:spPr>
          <a:xfrm>
            <a:off x="2766463" y="18355498"/>
            <a:ext cx="10285965" cy="123097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3800" b="1" spc="-100" dirty="0">
                <a:solidFill>
                  <a:schemeClr val="bg1"/>
                </a:solidFill>
                <a:latin typeface="+mj-ea"/>
                <a:ea typeface="+mj-ea"/>
              </a:rPr>
              <a:t>Ⅱ. </a:t>
            </a:r>
            <a:r>
              <a:rPr lang="ko-KR" altLang="en-US" sz="3800" b="1" spc="-100" dirty="0">
                <a:solidFill>
                  <a:schemeClr val="bg1"/>
                </a:solidFill>
                <a:latin typeface="+mj-ea"/>
                <a:ea typeface="+mj-ea"/>
              </a:rPr>
              <a:t>연구방법</a:t>
            </a:r>
          </a:p>
        </p:txBody>
      </p:sp>
      <p:sp>
        <p:nvSpPr>
          <p:cNvPr id="233" name="모서리가 둥근 직사각형 2">
            <a:extLst>
              <a:ext uri="{FF2B5EF4-FFF2-40B4-BE49-F238E27FC236}">
                <a16:creationId xmlns:a16="http://schemas.microsoft.com/office/drawing/2014/main" id="{C26F63B9-BFE3-440C-1A46-55CC94055CDE}"/>
              </a:ext>
            </a:extLst>
          </p:cNvPr>
          <p:cNvSpPr/>
          <p:nvPr/>
        </p:nvSpPr>
        <p:spPr>
          <a:xfrm>
            <a:off x="15121905" y="7804856"/>
            <a:ext cx="10848506" cy="1230978"/>
          </a:xfrm>
          <a:prstGeom prst="roundRect">
            <a:avLst/>
          </a:prstGeom>
          <a:solidFill>
            <a:srgbClr val="50A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4" name="모서리가 둥근 직사각형 2">
            <a:extLst>
              <a:ext uri="{FF2B5EF4-FFF2-40B4-BE49-F238E27FC236}">
                <a16:creationId xmlns:a16="http://schemas.microsoft.com/office/drawing/2014/main" id="{28718302-9EB6-CA49-A141-C8CC678A812A}"/>
              </a:ext>
            </a:extLst>
          </p:cNvPr>
          <p:cNvSpPr/>
          <p:nvPr/>
        </p:nvSpPr>
        <p:spPr>
          <a:xfrm>
            <a:off x="25556188" y="7804856"/>
            <a:ext cx="497406" cy="1230978"/>
          </a:xfrm>
          <a:prstGeom prst="round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763AED8E-BBED-F59B-C11D-F3B3CBDF042E}"/>
              </a:ext>
            </a:extLst>
          </p:cNvPr>
          <p:cNvSpPr/>
          <p:nvPr/>
        </p:nvSpPr>
        <p:spPr>
          <a:xfrm>
            <a:off x="25402200" y="7804856"/>
            <a:ext cx="284232" cy="1230978"/>
          </a:xfrm>
          <a:prstGeom prst="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직각 삼각형 235">
            <a:extLst>
              <a:ext uri="{FF2B5EF4-FFF2-40B4-BE49-F238E27FC236}">
                <a16:creationId xmlns:a16="http://schemas.microsoft.com/office/drawing/2014/main" id="{6D0318BF-D4C9-BD9B-DB73-090F9A43BFC8}"/>
              </a:ext>
            </a:extLst>
          </p:cNvPr>
          <p:cNvSpPr/>
          <p:nvPr/>
        </p:nvSpPr>
        <p:spPr>
          <a:xfrm rot="10800000">
            <a:off x="24801647" y="7804856"/>
            <a:ext cx="611937" cy="1230978"/>
          </a:xfrm>
          <a:prstGeom prst="rtTriangle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08CE694-8F48-1047-7276-28CAF65B8E10}"/>
              </a:ext>
            </a:extLst>
          </p:cNvPr>
          <p:cNvSpPr txBox="1"/>
          <p:nvPr/>
        </p:nvSpPr>
        <p:spPr>
          <a:xfrm>
            <a:off x="15400468" y="7777164"/>
            <a:ext cx="10285965" cy="125866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3800" b="1" spc="-100" dirty="0">
                <a:solidFill>
                  <a:schemeClr val="bg1"/>
                </a:solidFill>
                <a:latin typeface="+mj-ea"/>
                <a:ea typeface="+mj-ea"/>
              </a:rPr>
              <a:t>Ⅲ. </a:t>
            </a:r>
            <a:r>
              <a:rPr lang="ko-KR" altLang="en-US" sz="3800" b="1" spc="-100" dirty="0">
                <a:solidFill>
                  <a:schemeClr val="bg1"/>
                </a:solidFill>
                <a:latin typeface="+mj-ea"/>
                <a:ea typeface="+mj-ea"/>
              </a:rPr>
              <a:t>연구결과</a:t>
            </a:r>
          </a:p>
        </p:txBody>
      </p:sp>
      <p:sp>
        <p:nvSpPr>
          <p:cNvPr id="239" name="모서리가 둥근 직사각형 2">
            <a:extLst>
              <a:ext uri="{FF2B5EF4-FFF2-40B4-BE49-F238E27FC236}">
                <a16:creationId xmlns:a16="http://schemas.microsoft.com/office/drawing/2014/main" id="{366DE37B-57CA-3EB7-0638-9C55759E34B0}"/>
              </a:ext>
            </a:extLst>
          </p:cNvPr>
          <p:cNvSpPr/>
          <p:nvPr/>
        </p:nvSpPr>
        <p:spPr>
          <a:xfrm>
            <a:off x="2495142" y="34781904"/>
            <a:ext cx="10841319" cy="1230978"/>
          </a:xfrm>
          <a:prstGeom prst="round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2" name="모서리가 둥근 직사각형 2">
            <a:extLst>
              <a:ext uri="{FF2B5EF4-FFF2-40B4-BE49-F238E27FC236}">
                <a16:creationId xmlns:a16="http://schemas.microsoft.com/office/drawing/2014/main" id="{4BACDC80-BA96-6E7E-F096-1CD77ABC0106}"/>
              </a:ext>
            </a:extLst>
          </p:cNvPr>
          <p:cNvSpPr/>
          <p:nvPr/>
        </p:nvSpPr>
        <p:spPr>
          <a:xfrm>
            <a:off x="12922512" y="34781904"/>
            <a:ext cx="497077" cy="1230978"/>
          </a:xfrm>
          <a:prstGeom prst="roundRect">
            <a:avLst/>
          </a:prstGeom>
          <a:solidFill>
            <a:srgbClr val="C4BD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3AF8CFB4-EB60-ACE1-8467-27B5A21C29EC}"/>
              </a:ext>
            </a:extLst>
          </p:cNvPr>
          <p:cNvSpPr/>
          <p:nvPr/>
        </p:nvSpPr>
        <p:spPr>
          <a:xfrm>
            <a:off x="12768627" y="34781904"/>
            <a:ext cx="284044" cy="1230978"/>
          </a:xfrm>
          <a:prstGeom prst="rect">
            <a:avLst/>
          </a:prstGeom>
          <a:solidFill>
            <a:srgbClr val="C4BD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각 삼각형 243">
            <a:extLst>
              <a:ext uri="{FF2B5EF4-FFF2-40B4-BE49-F238E27FC236}">
                <a16:creationId xmlns:a16="http://schemas.microsoft.com/office/drawing/2014/main" id="{B42D8CDC-7FD6-FBA6-1AF3-4B0E4D3BB167}"/>
              </a:ext>
            </a:extLst>
          </p:cNvPr>
          <p:cNvSpPr/>
          <p:nvPr/>
        </p:nvSpPr>
        <p:spPr>
          <a:xfrm rot="10800000">
            <a:off x="12168472" y="34781904"/>
            <a:ext cx="611532" cy="1230978"/>
          </a:xfrm>
          <a:prstGeom prst="rtTriangle">
            <a:avLst/>
          </a:prstGeom>
          <a:solidFill>
            <a:srgbClr val="C4BD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45A6306-467D-5C22-60A7-63FCEF8DE3DB}"/>
              </a:ext>
            </a:extLst>
          </p:cNvPr>
          <p:cNvSpPr txBox="1"/>
          <p:nvPr/>
        </p:nvSpPr>
        <p:spPr>
          <a:xfrm>
            <a:off x="2773519" y="34781905"/>
            <a:ext cx="10294061" cy="123097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3800" b="1" spc="-100" dirty="0">
                <a:solidFill>
                  <a:schemeClr val="bg1"/>
                </a:solidFill>
                <a:latin typeface="+mj-ea"/>
                <a:ea typeface="+mj-ea"/>
              </a:rPr>
              <a:t>Ⅴ. </a:t>
            </a:r>
            <a:r>
              <a:rPr lang="ko-KR" altLang="en-US" sz="3800" b="1" spc="-100" dirty="0">
                <a:solidFill>
                  <a:schemeClr val="bg1"/>
                </a:solidFill>
                <a:latin typeface="+mj-ea"/>
                <a:ea typeface="+mj-ea"/>
              </a:rPr>
              <a:t>결론 및 제언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6916374-E55B-6E90-CDD6-0EB8B6B5D8A7}"/>
              </a:ext>
            </a:extLst>
          </p:cNvPr>
          <p:cNvSpPr txBox="1"/>
          <p:nvPr/>
        </p:nvSpPr>
        <p:spPr>
          <a:xfrm>
            <a:off x="2520505" y="2736604"/>
            <a:ext cx="27579064" cy="725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altLang="ko-KR" sz="4800" b="1" spc="-1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Analysis of School Violence Issues in </a:t>
            </a:r>
            <a:r>
              <a:rPr lang="en-US" altLang="ko-KR" sz="4800" b="1" spc="-1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Sportsdom</a:t>
            </a:r>
            <a:r>
              <a:rPr lang="en-US" altLang="ko-KR" sz="4800" b="1" spc="-1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Reported in The Media</a:t>
            </a:r>
          </a:p>
        </p:txBody>
      </p:sp>
      <p:sp>
        <p:nvSpPr>
          <p:cNvPr id="247" name="모서리가 둥근 직사각형 2">
            <a:extLst>
              <a:ext uri="{FF2B5EF4-FFF2-40B4-BE49-F238E27FC236}">
                <a16:creationId xmlns:a16="http://schemas.microsoft.com/office/drawing/2014/main" id="{3695FF80-0D69-1D33-0DE5-CE98C608E49D}"/>
              </a:ext>
            </a:extLst>
          </p:cNvPr>
          <p:cNvSpPr/>
          <p:nvPr/>
        </p:nvSpPr>
        <p:spPr>
          <a:xfrm>
            <a:off x="2477994" y="13325654"/>
            <a:ext cx="10861930" cy="12309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0" name="모서리가 둥근 직사각형 2">
            <a:extLst>
              <a:ext uri="{FF2B5EF4-FFF2-40B4-BE49-F238E27FC236}">
                <a16:creationId xmlns:a16="http://schemas.microsoft.com/office/drawing/2014/main" id="{4C70BBBC-BF8F-F53F-AB26-7F9BE4501A9D}"/>
              </a:ext>
            </a:extLst>
          </p:cNvPr>
          <p:cNvSpPr/>
          <p:nvPr/>
        </p:nvSpPr>
        <p:spPr>
          <a:xfrm>
            <a:off x="12925188" y="13325654"/>
            <a:ext cx="498022" cy="122612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02B2EE1F-72C6-55C7-989E-104489702F0D}"/>
              </a:ext>
            </a:extLst>
          </p:cNvPr>
          <p:cNvSpPr/>
          <p:nvPr/>
        </p:nvSpPr>
        <p:spPr>
          <a:xfrm>
            <a:off x="12771010" y="13325654"/>
            <a:ext cx="284584" cy="12309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직각 삼각형 251">
            <a:extLst>
              <a:ext uri="{FF2B5EF4-FFF2-40B4-BE49-F238E27FC236}">
                <a16:creationId xmlns:a16="http://schemas.microsoft.com/office/drawing/2014/main" id="{69C404D4-710E-63C2-62B8-3B42FC0E7459}"/>
              </a:ext>
            </a:extLst>
          </p:cNvPr>
          <p:cNvSpPr/>
          <p:nvPr/>
        </p:nvSpPr>
        <p:spPr>
          <a:xfrm rot="10800000">
            <a:off x="12169714" y="13325654"/>
            <a:ext cx="612695" cy="1230978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0CB513FA-5F6A-83C6-45C5-4EC11D7245AB}"/>
              </a:ext>
            </a:extLst>
          </p:cNvPr>
          <p:cNvSpPr txBox="1"/>
          <p:nvPr/>
        </p:nvSpPr>
        <p:spPr>
          <a:xfrm>
            <a:off x="2836620" y="13325654"/>
            <a:ext cx="10214141" cy="12261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3800" b="1" spc="-100" dirty="0">
                <a:solidFill>
                  <a:srgbClr val="338BA3"/>
                </a:solidFill>
                <a:latin typeface="+mj-ea"/>
                <a:ea typeface="+mj-ea"/>
              </a:rPr>
              <a:t>Ⅰ. </a:t>
            </a:r>
            <a:r>
              <a:rPr lang="ko-KR" altLang="en-US" sz="3800" b="1" spc="-100" dirty="0">
                <a:solidFill>
                  <a:srgbClr val="338BA3"/>
                </a:solidFill>
                <a:latin typeface="+mj-ea"/>
                <a:ea typeface="+mj-ea"/>
              </a:rPr>
              <a:t>서론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2BFD046-1B96-1FE3-C1D5-598E695775F5}"/>
              </a:ext>
            </a:extLst>
          </p:cNvPr>
          <p:cNvSpPr txBox="1"/>
          <p:nvPr/>
        </p:nvSpPr>
        <p:spPr>
          <a:xfrm>
            <a:off x="2838034" y="15031357"/>
            <a:ext cx="10214142" cy="275491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spc="-50" dirty="0">
                <a:latin typeface="+mn-ea"/>
              </a:rPr>
              <a:t>2016</a:t>
            </a:r>
            <a:r>
              <a:rPr lang="ko-KR" altLang="en-US" sz="3200" spc="-50" dirty="0">
                <a:latin typeface="+mn-ea"/>
              </a:rPr>
              <a:t>년부터 시작된 미투 운동이 체육계 학교폭력 이슈로 확산된 배경을 분석하고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학교폭력의 정의와 현황을 소개한다</a:t>
            </a:r>
            <a:r>
              <a:rPr lang="en-US" altLang="ko-KR" sz="3200" spc="-50" dirty="0">
                <a:latin typeface="+mn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체육계의 변화 필요성을 제시하고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언론 보도의 구조적 분석을 통해 향후 개선 방안을 모색할 것이다</a:t>
            </a:r>
            <a:r>
              <a:rPr lang="en-US" altLang="ko-KR" sz="3200" spc="-50" dirty="0">
                <a:latin typeface="+mn-ea"/>
              </a:rPr>
              <a:t>.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8A285C7-9E03-48F2-A466-8D156DA261E5}"/>
              </a:ext>
            </a:extLst>
          </p:cNvPr>
          <p:cNvSpPr txBox="1"/>
          <p:nvPr/>
        </p:nvSpPr>
        <p:spPr>
          <a:xfrm>
            <a:off x="2812564" y="36738958"/>
            <a:ext cx="5916285" cy="445404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ko-KR" altLang="en-US" sz="3400" b="1" spc="-50" dirty="0">
                <a:solidFill>
                  <a:srgbClr val="7030A0"/>
                </a:solidFill>
                <a:latin typeface="+mn-ea"/>
              </a:rPr>
              <a:t>키워드 분석</a:t>
            </a:r>
            <a:r>
              <a:rPr lang="en-US" altLang="ko-KR" sz="3400" b="1" spc="-50" dirty="0">
                <a:solidFill>
                  <a:srgbClr val="7030A0"/>
                </a:solidFill>
                <a:latin typeface="+mn-ea"/>
              </a:rPr>
              <a:t>:</a:t>
            </a:r>
          </a:p>
          <a:p>
            <a:r>
              <a:rPr lang="ko-KR" altLang="en-US" sz="3400" spc="-50" dirty="0">
                <a:latin typeface="+mn-ea"/>
              </a:rPr>
              <a:t>‘</a:t>
            </a:r>
            <a:r>
              <a:rPr lang="ko-KR" altLang="en-US" sz="3400" spc="-50" dirty="0" err="1">
                <a:latin typeface="+mn-ea"/>
              </a:rPr>
              <a:t>학교폭력’이</a:t>
            </a:r>
            <a:r>
              <a:rPr lang="ko-KR" altLang="en-US" sz="3400" spc="-50" dirty="0">
                <a:latin typeface="+mn-ea"/>
              </a:rPr>
              <a:t> 가장 많이 노출되었으며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그 뒤를 이어 ‘</a:t>
            </a:r>
            <a:r>
              <a:rPr lang="ko-KR" altLang="en-US" sz="3400" spc="-50" dirty="0" err="1">
                <a:latin typeface="+mn-ea"/>
              </a:rPr>
              <a:t>이다영</a:t>
            </a:r>
            <a:r>
              <a:rPr lang="ko-KR" altLang="en-US" sz="3400" spc="-50" dirty="0">
                <a:latin typeface="+mn-ea"/>
              </a:rPr>
              <a:t>’</a:t>
            </a:r>
            <a:r>
              <a:rPr lang="en-US" altLang="ko-KR" sz="3400" spc="-50" dirty="0">
                <a:latin typeface="+mn-ea"/>
              </a:rPr>
              <a:t>, ‘</a:t>
            </a:r>
            <a:r>
              <a:rPr lang="ko-KR" altLang="en-US" sz="3400" spc="-50" dirty="0">
                <a:latin typeface="+mn-ea"/>
              </a:rPr>
              <a:t>이재영’</a:t>
            </a:r>
            <a:r>
              <a:rPr lang="en-US" altLang="ko-KR" sz="3400" spc="-50" dirty="0">
                <a:latin typeface="+mn-ea"/>
              </a:rPr>
              <a:t>, ‘</a:t>
            </a:r>
            <a:r>
              <a:rPr lang="ko-KR" altLang="en-US" sz="3400" spc="-50" dirty="0">
                <a:latin typeface="+mn-ea"/>
              </a:rPr>
              <a:t>논란’</a:t>
            </a:r>
            <a:r>
              <a:rPr lang="en-US" altLang="ko-KR" sz="3400" spc="-50" dirty="0">
                <a:latin typeface="+mn-ea"/>
              </a:rPr>
              <a:t>, ‘</a:t>
            </a:r>
            <a:r>
              <a:rPr lang="ko-KR" altLang="en-US" sz="3400" spc="-50" dirty="0">
                <a:latin typeface="+mn-ea"/>
              </a:rPr>
              <a:t>그리스행’ 등 주요 키워드가 확인되었다</a:t>
            </a:r>
            <a:r>
              <a:rPr lang="en-US" altLang="ko-KR" sz="3400" spc="-50" dirty="0">
                <a:latin typeface="+mn-ea"/>
              </a:rPr>
              <a:t>.</a:t>
            </a:r>
          </a:p>
        </p:txBody>
      </p: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5FD74BD4-A358-E701-AA31-89C54C9BD814}"/>
              </a:ext>
            </a:extLst>
          </p:cNvPr>
          <p:cNvCxnSpPr>
            <a:cxnSpLocks/>
          </p:cNvCxnSpPr>
          <p:nvPr/>
        </p:nvCxnSpPr>
        <p:spPr>
          <a:xfrm>
            <a:off x="9187101" y="36893850"/>
            <a:ext cx="0" cy="408758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3A73F049-181D-AF0F-12BE-70EDE1D1AEC5}"/>
              </a:ext>
            </a:extLst>
          </p:cNvPr>
          <p:cNvCxnSpPr>
            <a:cxnSpLocks/>
          </p:cNvCxnSpPr>
          <p:nvPr/>
        </p:nvCxnSpPr>
        <p:spPr>
          <a:xfrm>
            <a:off x="16214487" y="36961076"/>
            <a:ext cx="0" cy="3996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C3BED52C-1602-22DB-2B9A-927D951B58BD}"/>
              </a:ext>
            </a:extLst>
          </p:cNvPr>
          <p:cNvSpPr txBox="1"/>
          <p:nvPr/>
        </p:nvSpPr>
        <p:spPr>
          <a:xfrm>
            <a:off x="9781684" y="36732962"/>
            <a:ext cx="5916285" cy="445404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ko-KR" altLang="en-US" sz="3400" b="1" spc="-50" dirty="0">
                <a:solidFill>
                  <a:srgbClr val="7030A0"/>
                </a:solidFill>
                <a:latin typeface="+mn-ea"/>
              </a:rPr>
              <a:t>네트워크 분석</a:t>
            </a:r>
            <a:r>
              <a:rPr lang="en-US" altLang="ko-KR" sz="3400" b="1" spc="-50" dirty="0">
                <a:solidFill>
                  <a:srgbClr val="7030A0"/>
                </a:solidFill>
                <a:latin typeface="+mn-ea"/>
              </a:rPr>
              <a:t>:</a:t>
            </a:r>
          </a:p>
          <a:p>
            <a:r>
              <a:rPr lang="ko-KR" altLang="en-US" sz="3400" spc="-50" dirty="0">
                <a:latin typeface="+mn-ea"/>
              </a:rPr>
              <a:t>연결 중심성과 근접 중심성에서 주요 키워드는 ‘학교폭력’</a:t>
            </a:r>
            <a:r>
              <a:rPr lang="en-US" altLang="ko-KR" sz="3400" spc="-50" dirty="0">
                <a:latin typeface="+mn-ea"/>
              </a:rPr>
              <a:t>, ‘</a:t>
            </a:r>
            <a:r>
              <a:rPr lang="ko-KR" altLang="en-US" sz="3400" spc="-50" dirty="0">
                <a:latin typeface="+mn-ea"/>
              </a:rPr>
              <a:t>논란’</a:t>
            </a:r>
            <a:r>
              <a:rPr lang="en-US" altLang="ko-KR" sz="3400" spc="-50" dirty="0">
                <a:latin typeface="+mn-ea"/>
              </a:rPr>
              <a:t>, ‘</a:t>
            </a:r>
            <a:r>
              <a:rPr lang="ko-KR" altLang="en-US" sz="3400" spc="-50" dirty="0" err="1">
                <a:latin typeface="+mn-ea"/>
              </a:rPr>
              <a:t>이다영</a:t>
            </a:r>
            <a:r>
              <a:rPr lang="ko-KR" altLang="en-US" sz="3400" spc="-50" dirty="0">
                <a:latin typeface="+mn-ea"/>
              </a:rPr>
              <a:t>’ 등이었으며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매개 중심성에서는 다소 차이가 있었다</a:t>
            </a:r>
            <a:r>
              <a:rPr lang="en-US" altLang="ko-KR" sz="3400" spc="-50" dirty="0">
                <a:latin typeface="+mn-ea"/>
              </a:rPr>
              <a:t>.</a:t>
            </a: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E2C6887F-D44F-3830-70A4-010BA71064D1}"/>
              </a:ext>
            </a:extLst>
          </p:cNvPr>
          <p:cNvCxnSpPr>
            <a:cxnSpLocks/>
          </p:cNvCxnSpPr>
          <p:nvPr/>
        </p:nvCxnSpPr>
        <p:spPr>
          <a:xfrm>
            <a:off x="23156655" y="36971523"/>
            <a:ext cx="0" cy="3996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07D5A750-6A36-09E5-6EC3-55C2C9439871}"/>
              </a:ext>
            </a:extLst>
          </p:cNvPr>
          <p:cNvSpPr txBox="1"/>
          <p:nvPr/>
        </p:nvSpPr>
        <p:spPr>
          <a:xfrm>
            <a:off x="16766460" y="36743409"/>
            <a:ext cx="5916285" cy="445404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ko-KR" altLang="en-US" sz="3400" b="1" spc="-50" dirty="0">
                <a:solidFill>
                  <a:srgbClr val="7030A0"/>
                </a:solidFill>
                <a:latin typeface="+mn-ea"/>
              </a:rPr>
              <a:t>군집 분석</a:t>
            </a:r>
            <a:r>
              <a:rPr lang="en-US" altLang="ko-KR" sz="3400" b="1" spc="-50" dirty="0">
                <a:solidFill>
                  <a:srgbClr val="7030A0"/>
                </a:solidFill>
                <a:latin typeface="+mn-ea"/>
              </a:rPr>
              <a:t>:</a:t>
            </a:r>
          </a:p>
          <a:p>
            <a:r>
              <a:rPr lang="ko-KR" altLang="en-US" sz="3400" spc="-50" dirty="0">
                <a:latin typeface="+mn-ea"/>
              </a:rPr>
              <a:t>네 가지 주요 그룹으로 구분되었으며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쌍둥이자매 국가대표 박탈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복귀 논란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야구 및 기타 종목의 </a:t>
            </a:r>
            <a:r>
              <a:rPr lang="ko-KR" altLang="en-US" sz="3400" spc="-50" dirty="0" err="1">
                <a:latin typeface="+mn-ea"/>
              </a:rPr>
              <a:t>학폭</a:t>
            </a:r>
            <a:r>
              <a:rPr lang="ko-KR" altLang="en-US" sz="3400" spc="-50" dirty="0">
                <a:latin typeface="+mn-ea"/>
              </a:rPr>
              <a:t> 문제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남자배구 </a:t>
            </a:r>
            <a:r>
              <a:rPr lang="ko-KR" altLang="en-US" sz="3400" spc="-50" dirty="0" err="1">
                <a:latin typeface="+mn-ea"/>
              </a:rPr>
              <a:t>학폭</a:t>
            </a:r>
            <a:r>
              <a:rPr lang="ko-KR" altLang="en-US" sz="3400" spc="-50" dirty="0">
                <a:latin typeface="+mn-ea"/>
              </a:rPr>
              <a:t> 이슈로 나타났다</a:t>
            </a:r>
            <a:r>
              <a:rPr lang="en-US" altLang="ko-KR" sz="3400" spc="-50" dirty="0">
                <a:latin typeface="+mn-ea"/>
              </a:rPr>
              <a:t>.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2A8CF253-06E6-6958-A4B8-F9EAE36D2DBE}"/>
              </a:ext>
            </a:extLst>
          </p:cNvPr>
          <p:cNvSpPr txBox="1"/>
          <p:nvPr/>
        </p:nvSpPr>
        <p:spPr>
          <a:xfrm>
            <a:off x="23751236" y="36734231"/>
            <a:ext cx="5916285" cy="445404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ko-KR" altLang="en-US" sz="3400" b="1" spc="-50" dirty="0">
                <a:solidFill>
                  <a:srgbClr val="7030A0"/>
                </a:solidFill>
                <a:latin typeface="+mn-ea"/>
              </a:rPr>
              <a:t>연구 시사점</a:t>
            </a:r>
            <a:r>
              <a:rPr lang="en-US" altLang="ko-KR" sz="3400" b="1" spc="-50" dirty="0">
                <a:solidFill>
                  <a:srgbClr val="7030A0"/>
                </a:solidFill>
                <a:latin typeface="+mn-ea"/>
              </a:rPr>
              <a:t>:</a:t>
            </a:r>
          </a:p>
          <a:p>
            <a:r>
              <a:rPr lang="ko-KR" altLang="en-US" sz="3400" spc="-50" dirty="0">
                <a:latin typeface="+mn-ea"/>
              </a:rPr>
              <a:t>체육계 학교폭력은 구조적 특성으로 인해 일반적인 학교폭력과는 다른 양상을 보이며</a:t>
            </a:r>
            <a:r>
              <a:rPr lang="en-US" altLang="ko-KR" sz="3400" spc="-50" dirty="0">
                <a:latin typeface="+mn-ea"/>
              </a:rPr>
              <a:t>, </a:t>
            </a:r>
            <a:r>
              <a:rPr lang="ko-KR" altLang="en-US" sz="3400" spc="-50" dirty="0">
                <a:latin typeface="+mn-ea"/>
              </a:rPr>
              <a:t>이러한 문제를 해결하기 위한 사회적 노력이 필요하다</a:t>
            </a:r>
            <a:r>
              <a:rPr lang="en-US" altLang="ko-KR" sz="3400" spc="-50" dirty="0">
                <a:latin typeface="+mn-ea"/>
              </a:rPr>
              <a:t>.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A49AED96-8276-0BA0-4461-DEEF545CDC74}"/>
              </a:ext>
            </a:extLst>
          </p:cNvPr>
          <p:cNvSpPr txBox="1"/>
          <p:nvPr/>
        </p:nvSpPr>
        <p:spPr>
          <a:xfrm>
            <a:off x="2853438" y="19924015"/>
            <a:ext cx="10214142" cy="353807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en-US" altLang="ko-KR" sz="3200" b="1" spc="-50" dirty="0">
                <a:latin typeface="+mn-ea"/>
              </a:rPr>
              <a:t>2-1. </a:t>
            </a:r>
            <a:r>
              <a:rPr lang="ko-KR" altLang="en-US" sz="3200" b="1" spc="-50" dirty="0">
                <a:latin typeface="+mn-ea"/>
              </a:rPr>
              <a:t>연구자료</a:t>
            </a:r>
            <a:endParaRPr lang="en-US" altLang="ko-KR" sz="3200" b="1" spc="-5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본 연구는 체육계 학교폭력 이슈와 관련된 언론 보도를 분석하여 대안 마련의 이론적 토대를 제공한다</a:t>
            </a:r>
            <a:r>
              <a:rPr lang="en-US" altLang="ko-KR" sz="3200" spc="-50" dirty="0"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spc="-50" dirty="0">
                <a:latin typeface="+mn-ea"/>
              </a:rPr>
              <a:t>2019</a:t>
            </a:r>
            <a:r>
              <a:rPr lang="ko-KR" altLang="en-US" sz="3200" spc="-50" dirty="0">
                <a:latin typeface="+mn-ea"/>
              </a:rPr>
              <a:t>년 </a:t>
            </a:r>
            <a:r>
              <a:rPr lang="en-US" altLang="ko-KR" sz="3200" spc="-50" dirty="0">
                <a:latin typeface="+mn-ea"/>
              </a:rPr>
              <a:t>1</a:t>
            </a:r>
            <a:r>
              <a:rPr lang="ko-KR" altLang="en-US" sz="3200" spc="-50" dirty="0">
                <a:latin typeface="+mn-ea"/>
              </a:rPr>
              <a:t>월부터 </a:t>
            </a:r>
            <a:r>
              <a:rPr lang="en-US" altLang="ko-KR" sz="3200" spc="-50" dirty="0">
                <a:latin typeface="+mn-ea"/>
              </a:rPr>
              <a:t>2023</a:t>
            </a:r>
            <a:r>
              <a:rPr lang="ko-KR" altLang="en-US" sz="3200" spc="-50" dirty="0">
                <a:latin typeface="+mn-ea"/>
              </a:rPr>
              <a:t>년 </a:t>
            </a:r>
            <a:r>
              <a:rPr lang="en-US" altLang="ko-KR" sz="3200" spc="-50" dirty="0">
                <a:latin typeface="+mn-ea"/>
              </a:rPr>
              <a:t>12</a:t>
            </a:r>
            <a:r>
              <a:rPr lang="ko-KR" altLang="en-US" sz="3200" spc="-50" dirty="0">
                <a:latin typeface="+mn-ea"/>
              </a:rPr>
              <a:t>월까지의 뉴스 기사 </a:t>
            </a:r>
            <a:r>
              <a:rPr lang="en-US" altLang="ko-KR" sz="3200" spc="-50" dirty="0">
                <a:latin typeface="+mn-ea"/>
              </a:rPr>
              <a:t>2,016</a:t>
            </a:r>
            <a:r>
              <a:rPr lang="ko-KR" altLang="en-US" sz="3200" spc="-50" dirty="0">
                <a:latin typeface="+mn-ea"/>
              </a:rPr>
              <a:t>건을 수집하고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최종적으로 </a:t>
            </a:r>
            <a:r>
              <a:rPr lang="en-US" altLang="ko-KR" sz="3200" spc="-50" dirty="0">
                <a:latin typeface="+mn-ea"/>
              </a:rPr>
              <a:t>1,674</a:t>
            </a:r>
            <a:r>
              <a:rPr lang="ko-KR" altLang="en-US" sz="3200" spc="-50" dirty="0">
                <a:latin typeface="+mn-ea"/>
              </a:rPr>
              <a:t>건을 연구 자료로 선정하였다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ko-KR" altLang="en-US" sz="3200" spc="-50" dirty="0">
                <a:latin typeface="+mn-ea"/>
              </a:rPr>
              <a:t>특히 </a:t>
            </a:r>
            <a:r>
              <a:rPr lang="en-US" altLang="ko-KR" sz="3200" spc="-50" dirty="0">
                <a:latin typeface="+mn-ea"/>
              </a:rPr>
              <a:t>2021</a:t>
            </a:r>
            <a:r>
              <a:rPr lang="ko-KR" altLang="en-US" sz="3200" spc="-50" dirty="0">
                <a:latin typeface="+mn-ea"/>
              </a:rPr>
              <a:t>년 </a:t>
            </a:r>
            <a:r>
              <a:rPr lang="en-US" altLang="ko-KR" sz="3200" spc="-50" dirty="0">
                <a:latin typeface="+mn-ea"/>
              </a:rPr>
              <a:t>1</a:t>
            </a:r>
            <a:r>
              <a:rPr lang="ko-KR" altLang="en-US" sz="3200" spc="-50" dirty="0">
                <a:latin typeface="+mn-ea"/>
              </a:rPr>
              <a:t>분기에 여자 프로배구 쌍둥이 자매의 폭로 이후 보도가 급증한 점이 특징이다</a:t>
            </a:r>
            <a:r>
              <a:rPr lang="en-US" altLang="ko-KR" sz="3200" spc="-50" dirty="0">
                <a:latin typeface="+mn-ea"/>
              </a:rPr>
              <a:t>.</a:t>
            </a:r>
            <a:endParaRPr lang="ko-KR" altLang="en-US" sz="3200" spc="-5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0B48658-BC30-F309-42FF-631BE6EE5040}"/>
              </a:ext>
            </a:extLst>
          </p:cNvPr>
          <p:cNvSpPr txBox="1"/>
          <p:nvPr/>
        </p:nvSpPr>
        <p:spPr>
          <a:xfrm>
            <a:off x="15193913" y="9461660"/>
            <a:ext cx="15331432" cy="55973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en-US" altLang="ko-KR" sz="3200" b="1" spc="-50" dirty="0">
                <a:latin typeface="+mn-ea"/>
              </a:rPr>
              <a:t>3-1. </a:t>
            </a:r>
            <a:r>
              <a:rPr lang="ko-KR" altLang="en-US" sz="3200" b="1" spc="-50" dirty="0">
                <a:latin typeface="+mn-ea"/>
              </a:rPr>
              <a:t>키워드 빈도 및 </a:t>
            </a:r>
            <a:r>
              <a:rPr lang="en-US" altLang="ko-KR" sz="3200" b="1" spc="-50" dirty="0">
                <a:latin typeface="+mn-ea"/>
              </a:rPr>
              <a:t>TF-IDF </a:t>
            </a:r>
            <a:r>
              <a:rPr lang="ko-KR" altLang="en-US" sz="3200" b="1" spc="-50" dirty="0">
                <a:latin typeface="+mn-ea"/>
              </a:rPr>
              <a:t>분석</a:t>
            </a:r>
            <a:endParaRPr lang="en-US" altLang="ko-KR" sz="3200" b="1" spc="-5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b="1" spc="-50" dirty="0">
                <a:latin typeface="+mn-ea"/>
              </a:rPr>
              <a:t>키워드 빈도</a:t>
            </a:r>
            <a:r>
              <a:rPr lang="en-US" altLang="ko-KR" sz="3200" b="1" spc="-50" dirty="0">
                <a:latin typeface="+mn-ea"/>
              </a:rPr>
              <a:t>: '</a:t>
            </a:r>
            <a:r>
              <a:rPr lang="ko-KR" altLang="en-US" sz="3200" spc="-50" dirty="0">
                <a:latin typeface="+mn-ea"/>
              </a:rPr>
              <a:t>학교폭력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이 </a:t>
            </a:r>
            <a:r>
              <a:rPr lang="en-US" altLang="ko-KR" sz="3200" spc="-50" dirty="0">
                <a:latin typeface="+mn-ea"/>
              </a:rPr>
              <a:t>707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(6.003%)</a:t>
            </a:r>
            <a:r>
              <a:rPr lang="ko-KR" altLang="en-US" sz="3200" spc="-50" dirty="0">
                <a:latin typeface="+mn-ea"/>
              </a:rPr>
              <a:t>로 가장 많이 언급되었으며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그 외에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 err="1">
                <a:latin typeface="+mn-ea"/>
              </a:rPr>
              <a:t>이다영</a:t>
            </a:r>
            <a:r>
              <a:rPr lang="en-US" altLang="ko-KR" sz="3200" spc="-50" dirty="0">
                <a:latin typeface="+mn-ea"/>
              </a:rPr>
              <a:t>'(425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), '</a:t>
            </a:r>
            <a:r>
              <a:rPr lang="ko-KR" altLang="en-US" sz="3200" spc="-50" dirty="0">
                <a:latin typeface="+mn-ea"/>
              </a:rPr>
              <a:t>이재영</a:t>
            </a:r>
            <a:r>
              <a:rPr lang="en-US" altLang="ko-KR" sz="3200" spc="-50" dirty="0">
                <a:latin typeface="+mn-ea"/>
              </a:rPr>
              <a:t>'(367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), '</a:t>
            </a:r>
            <a:r>
              <a:rPr lang="ko-KR" altLang="en-US" sz="3200" spc="-50" dirty="0">
                <a:latin typeface="+mn-ea"/>
              </a:rPr>
              <a:t>논란</a:t>
            </a:r>
            <a:r>
              <a:rPr lang="en-US" altLang="ko-KR" sz="3200" spc="-50" dirty="0">
                <a:latin typeface="+mn-ea"/>
              </a:rPr>
              <a:t>'(183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), '</a:t>
            </a:r>
            <a:r>
              <a:rPr lang="ko-KR" altLang="en-US" sz="3200" spc="-50" dirty="0">
                <a:latin typeface="+mn-ea"/>
              </a:rPr>
              <a:t>그리스행</a:t>
            </a:r>
            <a:r>
              <a:rPr lang="en-US" altLang="ko-KR" sz="3200" spc="-50" dirty="0">
                <a:latin typeface="+mn-ea"/>
              </a:rPr>
              <a:t>'(147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) </a:t>
            </a:r>
            <a:r>
              <a:rPr lang="ko-KR" altLang="en-US" sz="3200" spc="-50" dirty="0">
                <a:latin typeface="+mn-ea"/>
              </a:rPr>
              <a:t>등이 뒤를 이었다</a:t>
            </a:r>
            <a:r>
              <a:rPr lang="en-US" altLang="ko-KR" sz="3200" spc="-50" dirty="0"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spc="-50" dirty="0">
                <a:latin typeface="+mn-ea"/>
              </a:rPr>
              <a:t>TF-IDF </a:t>
            </a:r>
            <a:r>
              <a:rPr lang="ko-KR" altLang="en-US" sz="3200" b="1" spc="-50" dirty="0">
                <a:latin typeface="+mn-ea"/>
              </a:rPr>
              <a:t>결과</a:t>
            </a:r>
            <a:r>
              <a:rPr lang="en-US" altLang="ko-KR" sz="3200" b="1" spc="-50" dirty="0">
                <a:latin typeface="+mn-ea"/>
              </a:rPr>
              <a:t>: </a:t>
            </a:r>
            <a:r>
              <a:rPr lang="en-US" altLang="ko-KR" sz="3200" spc="-50" dirty="0">
                <a:latin typeface="+mn-ea"/>
              </a:rPr>
              <a:t>TF-IDF </a:t>
            </a:r>
            <a:r>
              <a:rPr lang="ko-KR" altLang="en-US" sz="3200" spc="-50" dirty="0">
                <a:latin typeface="+mn-ea"/>
              </a:rPr>
              <a:t>값이 가장 높은 키워드는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학교폭력</a:t>
            </a:r>
            <a:r>
              <a:rPr lang="en-US" altLang="ko-KR" sz="3200" spc="-50" dirty="0">
                <a:latin typeface="+mn-ea"/>
              </a:rPr>
              <a:t>'(583.835)</a:t>
            </a:r>
            <a:r>
              <a:rPr lang="ko-KR" altLang="en-US" sz="3200" spc="-50" dirty="0">
                <a:latin typeface="+mn-ea"/>
              </a:rPr>
              <a:t>으로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그 다음은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 err="1">
                <a:latin typeface="+mn-ea"/>
              </a:rPr>
              <a:t>이다영</a:t>
            </a:r>
            <a:r>
              <a:rPr lang="en-US" altLang="ko-KR" sz="3200" spc="-50" dirty="0">
                <a:latin typeface="+mn-ea"/>
              </a:rPr>
              <a:t>'(566.058), '</a:t>
            </a:r>
            <a:r>
              <a:rPr lang="ko-KR" altLang="en-US" sz="3200" spc="-50" dirty="0">
                <a:latin typeface="+mn-ea"/>
              </a:rPr>
              <a:t>이재영</a:t>
            </a:r>
            <a:r>
              <a:rPr lang="en-US" altLang="ko-KR" sz="3200" spc="-50" dirty="0">
                <a:latin typeface="+mn-ea"/>
              </a:rPr>
              <a:t>'(542.657), '</a:t>
            </a:r>
            <a:r>
              <a:rPr lang="ko-KR" altLang="en-US" sz="3200" spc="-50" dirty="0">
                <a:latin typeface="+mn-ea"/>
              </a:rPr>
              <a:t>논란</a:t>
            </a:r>
            <a:r>
              <a:rPr lang="en-US" altLang="ko-KR" sz="3200" spc="-50" dirty="0">
                <a:latin typeface="+mn-ea"/>
              </a:rPr>
              <a:t>'(397.934)</a:t>
            </a:r>
            <a:r>
              <a:rPr lang="ko-KR" altLang="en-US" sz="3200" spc="-50" dirty="0">
                <a:latin typeface="+mn-ea"/>
              </a:rPr>
              <a:t>으로 나타났다</a:t>
            </a:r>
            <a:r>
              <a:rPr lang="en-US" altLang="ko-KR" sz="3200" spc="-50" dirty="0">
                <a:latin typeface="+mn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spc="-50" dirty="0">
                <a:latin typeface="+mn-ea"/>
              </a:rPr>
              <a:t>N-gram </a:t>
            </a:r>
            <a:r>
              <a:rPr lang="ko-KR" altLang="en-US" sz="3200" b="1" spc="-50" dirty="0">
                <a:latin typeface="+mn-ea"/>
              </a:rPr>
              <a:t>분석</a:t>
            </a:r>
            <a:r>
              <a:rPr lang="en-US" altLang="ko-KR" sz="3200" b="1" spc="-50" dirty="0">
                <a:latin typeface="+mn-ea"/>
              </a:rPr>
              <a:t>: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이재영</a:t>
            </a:r>
            <a:r>
              <a:rPr lang="en-US" altLang="ko-KR" sz="3200" spc="-50" dirty="0">
                <a:latin typeface="+mn-ea"/>
              </a:rPr>
              <a:t>-</a:t>
            </a:r>
            <a:r>
              <a:rPr lang="ko-KR" altLang="en-US" sz="3200" spc="-50" dirty="0" err="1">
                <a:latin typeface="+mn-ea"/>
              </a:rPr>
              <a:t>이다영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의 연속 출현 빈도가 </a:t>
            </a:r>
            <a:r>
              <a:rPr lang="en-US" altLang="ko-KR" sz="3200" spc="-50" dirty="0">
                <a:latin typeface="+mn-ea"/>
              </a:rPr>
              <a:t>291</a:t>
            </a:r>
            <a:r>
              <a:rPr lang="ko-KR" altLang="en-US" sz="3200" spc="-50" dirty="0">
                <a:latin typeface="+mn-ea"/>
              </a:rPr>
              <a:t>회로 가장 높았고</a:t>
            </a:r>
            <a:r>
              <a:rPr lang="en-US" altLang="ko-KR" sz="3200" spc="-50" dirty="0">
                <a:latin typeface="+mn-ea"/>
              </a:rPr>
              <a:t>, '</a:t>
            </a:r>
            <a:r>
              <a:rPr lang="ko-KR" altLang="en-US" sz="3200" spc="-50" dirty="0">
                <a:latin typeface="+mn-ea"/>
              </a:rPr>
              <a:t>학교폭력</a:t>
            </a:r>
            <a:r>
              <a:rPr lang="en-US" altLang="ko-KR" sz="3200" spc="-50" dirty="0">
                <a:latin typeface="+mn-ea"/>
              </a:rPr>
              <a:t>-</a:t>
            </a:r>
            <a:r>
              <a:rPr lang="ko-KR" altLang="en-US" sz="3200" spc="-50" dirty="0">
                <a:latin typeface="+mn-ea"/>
              </a:rPr>
              <a:t>논란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이 </a:t>
            </a:r>
            <a:r>
              <a:rPr lang="en-US" altLang="ko-KR" sz="3200" spc="-50" dirty="0">
                <a:latin typeface="+mn-ea"/>
              </a:rPr>
              <a:t>130</a:t>
            </a:r>
            <a:r>
              <a:rPr lang="ko-KR" altLang="en-US" sz="3200" spc="-50" dirty="0">
                <a:latin typeface="+mn-ea"/>
              </a:rPr>
              <a:t>회</a:t>
            </a:r>
            <a:r>
              <a:rPr lang="en-US" altLang="ko-KR" sz="3200" spc="-50" dirty="0">
                <a:latin typeface="+mn-ea"/>
              </a:rPr>
              <a:t>, '</a:t>
            </a:r>
            <a:r>
              <a:rPr lang="ko-KR" altLang="en-US" sz="3200" spc="-50" dirty="0" err="1">
                <a:latin typeface="+mn-ea"/>
              </a:rPr>
              <a:t>이다영</a:t>
            </a:r>
            <a:r>
              <a:rPr lang="en-US" altLang="ko-KR" sz="3200" spc="-50" dirty="0">
                <a:latin typeface="+mn-ea"/>
              </a:rPr>
              <a:t>-</a:t>
            </a:r>
            <a:r>
              <a:rPr lang="ko-KR" altLang="en-US" sz="3200" spc="-50" dirty="0">
                <a:latin typeface="+mn-ea"/>
              </a:rPr>
              <a:t>그리스행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이 </a:t>
            </a:r>
            <a:r>
              <a:rPr lang="en-US" altLang="ko-KR" sz="3200" spc="-50" dirty="0">
                <a:latin typeface="+mn-ea"/>
              </a:rPr>
              <a:t>53</a:t>
            </a:r>
            <a:r>
              <a:rPr lang="ko-KR" altLang="en-US" sz="3200" spc="-50" dirty="0">
                <a:latin typeface="+mn-ea"/>
              </a:rPr>
              <a:t>회로 나타났다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ko-KR" altLang="en-US" sz="3200" spc="-50" dirty="0">
                <a:latin typeface="+mn-ea"/>
              </a:rPr>
              <a:t>이 결과는 여자배구계에서의 학교폭력이 주요 이슈로 자리잡고 있음을 보여준다</a:t>
            </a:r>
            <a:r>
              <a:rPr lang="en-US" altLang="ko-KR" sz="3200" spc="-50" dirty="0">
                <a:latin typeface="+mn-ea"/>
              </a:rPr>
              <a:t>.</a:t>
            </a: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155A56DF-DFE4-4926-FD64-59DC5478A94D}"/>
              </a:ext>
            </a:extLst>
          </p:cNvPr>
          <p:cNvSpPr/>
          <p:nvPr/>
        </p:nvSpPr>
        <p:spPr>
          <a:xfrm>
            <a:off x="16680656" y="18960661"/>
            <a:ext cx="5684145" cy="379268"/>
          </a:xfrm>
          <a:prstGeom prst="rect">
            <a:avLst/>
          </a:prstGeom>
        </p:spPr>
        <p:txBody>
          <a:bodyPr wrap="square" lIns="70800" tIns="35400" rIns="70800" bIns="35400">
            <a:spAutoFit/>
          </a:bodyPr>
          <a:lstStyle/>
          <a:p>
            <a:pPr marL="0" lvl="1"/>
            <a:r>
              <a:rPr lang="en-US" altLang="ko-KR" sz="2000" spc="-50" dirty="0">
                <a:latin typeface="+mn-ea"/>
              </a:rPr>
              <a:t>&lt;</a:t>
            </a:r>
            <a:r>
              <a:rPr lang="ko-KR" altLang="en-US" sz="2000" spc="-50" dirty="0">
                <a:latin typeface="+mn-ea"/>
              </a:rPr>
              <a:t>표</a:t>
            </a:r>
            <a:r>
              <a:rPr lang="en-US" altLang="ko-KR" sz="2000" spc="-50" dirty="0">
                <a:latin typeface="+mn-ea"/>
              </a:rPr>
              <a:t>2&gt; </a:t>
            </a:r>
            <a:r>
              <a:rPr lang="ko-KR" altLang="en-US" sz="2000" spc="-50" dirty="0">
                <a:latin typeface="+mn-ea"/>
              </a:rPr>
              <a:t>키워드 빈도 및 </a:t>
            </a:r>
            <a:r>
              <a:rPr lang="en-US" altLang="ko-KR" sz="2000" spc="-50" dirty="0">
                <a:latin typeface="+mn-ea"/>
              </a:rPr>
              <a:t>TF-IDF </a:t>
            </a:r>
            <a:r>
              <a:rPr lang="ko-KR" altLang="en-US" sz="2000" spc="-50" dirty="0">
                <a:latin typeface="+mn-ea"/>
              </a:rPr>
              <a:t>결과</a:t>
            </a:r>
            <a:endParaRPr lang="en-US" altLang="ko-KR" sz="2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289" name="그림 288">
            <a:extLst>
              <a:ext uri="{FF2B5EF4-FFF2-40B4-BE49-F238E27FC236}">
                <a16:creationId xmlns:a16="http://schemas.microsoft.com/office/drawing/2014/main" id="{2D3F420C-55D8-8B0E-E334-271460CD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4439" y="13788397"/>
            <a:ext cx="7412215" cy="5138355"/>
          </a:xfrm>
          <a:prstGeom prst="rect">
            <a:avLst/>
          </a:prstGeom>
        </p:spPr>
      </p:pic>
      <p:pic>
        <p:nvPicPr>
          <p:cNvPr id="291" name="그림 290">
            <a:extLst>
              <a:ext uri="{FF2B5EF4-FFF2-40B4-BE49-F238E27FC236}">
                <a16:creationId xmlns:a16="http://schemas.microsoft.com/office/drawing/2014/main" id="{3B6B27EE-963A-C532-59ED-D68E5127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5696" y="13746974"/>
            <a:ext cx="7079649" cy="5179777"/>
          </a:xfrm>
          <a:prstGeom prst="rect">
            <a:avLst/>
          </a:prstGeom>
        </p:spPr>
      </p:pic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A9A08C5A-EAEA-D476-7CE0-3EC5D88DC291}"/>
              </a:ext>
            </a:extLst>
          </p:cNvPr>
          <p:cNvSpPr/>
          <p:nvPr/>
        </p:nvSpPr>
        <p:spPr>
          <a:xfrm>
            <a:off x="25253133" y="18954443"/>
            <a:ext cx="5684145" cy="379268"/>
          </a:xfrm>
          <a:prstGeom prst="rect">
            <a:avLst/>
          </a:prstGeom>
        </p:spPr>
        <p:txBody>
          <a:bodyPr wrap="square" lIns="70800" tIns="35400" rIns="70800" bIns="35400">
            <a:spAutoFit/>
          </a:bodyPr>
          <a:lstStyle/>
          <a:p>
            <a:pPr marL="0" lvl="1"/>
            <a:r>
              <a:rPr lang="en-US" altLang="ko-KR" sz="2000" spc="-50" dirty="0">
                <a:latin typeface="+mn-ea"/>
              </a:rPr>
              <a:t>&lt;</a:t>
            </a:r>
            <a:r>
              <a:rPr lang="ko-KR" altLang="en-US" sz="2000" spc="-50" dirty="0">
                <a:latin typeface="+mn-ea"/>
              </a:rPr>
              <a:t>표</a:t>
            </a:r>
            <a:r>
              <a:rPr lang="en-US" altLang="ko-KR" sz="2000" spc="-50" dirty="0">
                <a:latin typeface="+mn-ea"/>
              </a:rPr>
              <a:t>3&gt; N-gram </a:t>
            </a:r>
            <a:r>
              <a:rPr lang="ko-KR" altLang="en-US" sz="2000" spc="-50" dirty="0">
                <a:latin typeface="+mn-ea"/>
              </a:rPr>
              <a:t>네트워크 분석</a:t>
            </a:r>
            <a:endParaRPr lang="en-US" altLang="ko-KR" sz="2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48A288C-0F9B-908B-1CAB-17FFD8174B2E}"/>
              </a:ext>
            </a:extLst>
          </p:cNvPr>
          <p:cNvSpPr txBox="1"/>
          <p:nvPr/>
        </p:nvSpPr>
        <p:spPr>
          <a:xfrm>
            <a:off x="15193914" y="19772228"/>
            <a:ext cx="7962740" cy="454296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en-US" altLang="ko-KR" sz="3200" b="1" spc="-50" dirty="0">
                <a:latin typeface="+mn-ea"/>
              </a:rPr>
              <a:t>3-2. </a:t>
            </a:r>
            <a:r>
              <a:rPr lang="ko-KR" altLang="en-US" sz="3200" b="1" spc="-50" dirty="0">
                <a:latin typeface="+mn-ea"/>
              </a:rPr>
              <a:t>키워드 네트워크</a:t>
            </a:r>
            <a:r>
              <a:rPr lang="en-US" altLang="ko-KR" sz="3200" b="1" spc="-50" dirty="0">
                <a:latin typeface="+mn-ea"/>
              </a:rPr>
              <a:t> </a:t>
            </a:r>
            <a:r>
              <a:rPr lang="ko-KR" altLang="en-US" sz="3200" b="1" spc="-50" dirty="0">
                <a:latin typeface="+mn-ea"/>
              </a:rPr>
              <a:t>분석</a:t>
            </a:r>
            <a:endParaRPr lang="en-US" altLang="ko-KR" sz="3200" b="1" spc="-5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체육계 학교폭력과 관련된 주요 키워드</a:t>
            </a:r>
            <a:r>
              <a:rPr lang="en-US" altLang="ko-KR" sz="3200" spc="-50" dirty="0">
                <a:latin typeface="+mn-ea"/>
              </a:rPr>
              <a:t>(</a:t>
            </a:r>
            <a:r>
              <a:rPr lang="ko-KR" altLang="en-US" sz="3200" spc="-50" dirty="0">
                <a:latin typeface="+mn-ea"/>
              </a:rPr>
              <a:t>예</a:t>
            </a:r>
            <a:r>
              <a:rPr lang="en-US" altLang="ko-KR" sz="3200" spc="-50" dirty="0">
                <a:latin typeface="+mn-ea"/>
              </a:rPr>
              <a:t>: '</a:t>
            </a:r>
            <a:r>
              <a:rPr lang="ko-KR" altLang="en-US" sz="3200" spc="-50" dirty="0">
                <a:latin typeface="+mn-ea"/>
              </a:rPr>
              <a:t>학교폭력</a:t>
            </a:r>
            <a:r>
              <a:rPr lang="en-US" altLang="ko-KR" sz="3200" spc="-50" dirty="0">
                <a:latin typeface="+mn-ea"/>
              </a:rPr>
              <a:t>', '</a:t>
            </a:r>
            <a:r>
              <a:rPr lang="ko-KR" altLang="en-US" sz="3200" spc="-50" dirty="0">
                <a:latin typeface="+mn-ea"/>
              </a:rPr>
              <a:t>논란</a:t>
            </a:r>
            <a:r>
              <a:rPr lang="en-US" altLang="ko-KR" sz="3200" spc="-50" dirty="0">
                <a:latin typeface="+mn-ea"/>
              </a:rPr>
              <a:t>', '</a:t>
            </a:r>
            <a:r>
              <a:rPr lang="ko-KR" altLang="en-US" sz="3200" spc="-50" dirty="0" err="1">
                <a:latin typeface="+mn-ea"/>
              </a:rPr>
              <a:t>이다영</a:t>
            </a:r>
            <a:r>
              <a:rPr lang="en-US" altLang="ko-KR" sz="3200" spc="-50" dirty="0">
                <a:latin typeface="+mn-ea"/>
              </a:rPr>
              <a:t>', '</a:t>
            </a:r>
            <a:r>
              <a:rPr lang="ko-KR" altLang="en-US" sz="3200" spc="-50" dirty="0">
                <a:latin typeface="+mn-ea"/>
              </a:rPr>
              <a:t>이재영</a:t>
            </a:r>
            <a:r>
              <a:rPr lang="en-US" altLang="ko-KR" sz="3200" spc="-50" dirty="0">
                <a:latin typeface="+mn-ea"/>
              </a:rPr>
              <a:t>')</a:t>
            </a:r>
            <a:r>
              <a:rPr lang="ko-KR" altLang="en-US" sz="3200" spc="-50" dirty="0">
                <a:latin typeface="+mn-ea"/>
              </a:rPr>
              <a:t>를 포함한 상위 </a:t>
            </a:r>
            <a:r>
              <a:rPr lang="en-US" altLang="ko-KR" sz="3200" spc="-50" dirty="0">
                <a:latin typeface="+mn-ea"/>
              </a:rPr>
              <a:t>50</a:t>
            </a:r>
            <a:r>
              <a:rPr lang="ko-KR" altLang="en-US" sz="3200" spc="-50" dirty="0">
                <a:latin typeface="+mn-ea"/>
              </a:rPr>
              <a:t>개 키워드를 설정하고</a:t>
            </a:r>
            <a:r>
              <a:rPr lang="en-US" altLang="ko-KR" sz="3200" spc="-50" dirty="0">
                <a:latin typeface="+mn-ea"/>
              </a:rPr>
              <a:t>, 1-mode </a:t>
            </a:r>
            <a:r>
              <a:rPr lang="ko-KR" altLang="en-US" sz="3200" spc="-50" dirty="0">
                <a:latin typeface="+mn-ea"/>
              </a:rPr>
              <a:t>매트릭스 행렬을 구성하여 네트워크 </a:t>
            </a:r>
            <a:r>
              <a:rPr lang="ko-KR" altLang="en-US" sz="3200" spc="-50" dirty="0" err="1">
                <a:latin typeface="+mn-ea"/>
              </a:rPr>
              <a:t>중심성</a:t>
            </a:r>
            <a:r>
              <a:rPr lang="ko-KR" altLang="en-US" sz="3200" spc="-50" dirty="0">
                <a:latin typeface="+mn-ea"/>
              </a:rPr>
              <a:t> 분석을 실시하였다</a:t>
            </a:r>
            <a:r>
              <a:rPr lang="en-US" altLang="ko-KR" sz="3200" spc="-50" dirty="0"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시각화 작업을 통해 체육계 학교폭력과 관련된 언론 보도의 구조적 특성과 주요 키워드 간의 관계를 도출하였다</a:t>
            </a:r>
            <a:r>
              <a:rPr lang="en-US" altLang="ko-KR" sz="3200" spc="-50" dirty="0">
                <a:latin typeface="+mn-ea"/>
              </a:rPr>
              <a:t>.</a:t>
            </a:r>
          </a:p>
        </p:txBody>
      </p:sp>
      <p:pic>
        <p:nvPicPr>
          <p:cNvPr id="297" name="그림 296">
            <a:extLst>
              <a:ext uri="{FF2B5EF4-FFF2-40B4-BE49-F238E27FC236}">
                <a16:creationId xmlns:a16="http://schemas.microsoft.com/office/drawing/2014/main" id="{F957123B-6EAF-1AFC-4059-D74CB4058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5696" y="19818989"/>
            <a:ext cx="7079648" cy="4408404"/>
          </a:xfrm>
          <a:prstGeom prst="rect">
            <a:avLst/>
          </a:prstGeom>
        </p:spPr>
      </p:pic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06A6418B-E8EB-5661-B534-DAFAC4D093CA}"/>
              </a:ext>
            </a:extLst>
          </p:cNvPr>
          <p:cNvSpPr/>
          <p:nvPr/>
        </p:nvSpPr>
        <p:spPr>
          <a:xfrm>
            <a:off x="24905502" y="24391784"/>
            <a:ext cx="4685985" cy="379268"/>
          </a:xfrm>
          <a:prstGeom prst="rect">
            <a:avLst/>
          </a:prstGeom>
        </p:spPr>
        <p:txBody>
          <a:bodyPr wrap="square" lIns="70800" tIns="35400" rIns="70800" bIns="35400">
            <a:spAutoFit/>
          </a:bodyPr>
          <a:lstStyle/>
          <a:p>
            <a:pPr marL="0" lvl="1"/>
            <a:r>
              <a:rPr lang="ko-KR" altLang="en-US" sz="2000" spc="-50" dirty="0">
                <a:latin typeface="+mn-ea"/>
              </a:rPr>
              <a:t>그림 </a:t>
            </a:r>
            <a:r>
              <a:rPr lang="en-US" altLang="ko-KR" sz="2000" spc="-50" dirty="0">
                <a:latin typeface="+mn-ea"/>
              </a:rPr>
              <a:t>2. </a:t>
            </a:r>
            <a:r>
              <a:rPr lang="ko-KR" altLang="en-US" sz="2000" spc="-50" dirty="0">
                <a:latin typeface="+mn-ea"/>
              </a:rPr>
              <a:t>키워드 네트워크 </a:t>
            </a:r>
            <a:r>
              <a:rPr lang="ko-KR" altLang="en-US" sz="2000" spc="-50" dirty="0" err="1">
                <a:latin typeface="+mn-ea"/>
              </a:rPr>
              <a:t>중심성</a:t>
            </a:r>
            <a:r>
              <a:rPr lang="ko-KR" altLang="en-US" sz="2000" spc="-50" dirty="0">
                <a:latin typeface="+mn-ea"/>
              </a:rPr>
              <a:t> 시각화</a:t>
            </a:r>
            <a:endParaRPr lang="en-US" altLang="ko-KR" sz="2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44FD3BD-BE60-866D-C9C9-7C23150BAFD5}"/>
              </a:ext>
            </a:extLst>
          </p:cNvPr>
          <p:cNvSpPr txBox="1"/>
          <p:nvPr/>
        </p:nvSpPr>
        <p:spPr>
          <a:xfrm>
            <a:off x="15197658" y="24464930"/>
            <a:ext cx="9937104" cy="32712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en-US" altLang="ko-KR" sz="3200" b="1" spc="-50" dirty="0">
                <a:latin typeface="+mn-ea"/>
              </a:rPr>
              <a:t>3-3. </a:t>
            </a:r>
            <a:r>
              <a:rPr lang="ko-KR" altLang="en-US" sz="3200" b="1" spc="-50" dirty="0">
                <a:latin typeface="+mn-ea"/>
              </a:rPr>
              <a:t>군집 분석</a:t>
            </a:r>
            <a:endParaRPr lang="en-US" altLang="ko-KR" sz="3200" b="1" spc="-5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상위 </a:t>
            </a:r>
            <a:r>
              <a:rPr lang="en-US" altLang="ko-KR" sz="3200" spc="-50" dirty="0">
                <a:latin typeface="+mn-ea"/>
              </a:rPr>
              <a:t>50</a:t>
            </a:r>
            <a:r>
              <a:rPr lang="ko-KR" altLang="en-US" sz="3200" spc="-50" dirty="0">
                <a:latin typeface="+mn-ea"/>
              </a:rPr>
              <a:t>개 </a:t>
            </a:r>
            <a:r>
              <a:rPr lang="en-US" altLang="ko-KR" sz="3200" spc="-50" dirty="0">
                <a:latin typeface="+mn-ea"/>
              </a:rPr>
              <a:t>Node</a:t>
            </a:r>
            <a:r>
              <a:rPr lang="ko-KR" altLang="en-US" sz="3200" spc="-50" dirty="0">
                <a:latin typeface="+mn-ea"/>
              </a:rPr>
              <a:t>를 중심으로 </a:t>
            </a:r>
            <a:r>
              <a:rPr lang="en-US" altLang="ko-KR" sz="3200" spc="-50" dirty="0">
                <a:latin typeface="+mn-ea"/>
              </a:rPr>
              <a:t>CONCOR </a:t>
            </a:r>
            <a:r>
              <a:rPr lang="ko-KR" altLang="en-US" sz="3200" spc="-50" dirty="0">
                <a:latin typeface="+mn-ea"/>
              </a:rPr>
              <a:t>분석을 진행한 결과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네 개의 주요 그룹으로 분리되었다</a:t>
            </a:r>
            <a:r>
              <a:rPr lang="en-US" altLang="ko-KR" sz="3200" spc="-50" dirty="0"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쌍둥이자매 국가대표 박탈 및 국내 퇴출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쌍둥이자매 사과 및 복귀 논란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프로야구 및 기타종목 학교폭력 이슈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남자배구 학교폭력 이슈 순으로 나타났다</a:t>
            </a:r>
            <a:endParaRPr lang="en-US" altLang="ko-KR" sz="3200" spc="-50" dirty="0">
              <a:latin typeface="+mn-ea"/>
            </a:endParaRPr>
          </a:p>
        </p:txBody>
      </p:sp>
      <p:pic>
        <p:nvPicPr>
          <p:cNvPr id="301" name="그림 300">
            <a:extLst>
              <a:ext uri="{FF2B5EF4-FFF2-40B4-BE49-F238E27FC236}">
                <a16:creationId xmlns:a16="http://schemas.microsoft.com/office/drawing/2014/main" id="{803C95E9-8C3A-B232-0165-C48959EBA3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17956" y="25145407"/>
            <a:ext cx="5328592" cy="2197330"/>
          </a:xfrm>
          <a:prstGeom prst="rect">
            <a:avLst/>
          </a:prstGeom>
        </p:spPr>
      </p:pic>
      <p:sp>
        <p:nvSpPr>
          <p:cNvPr id="303" name="모서리가 둥근 직사각형 2">
            <a:extLst>
              <a:ext uri="{FF2B5EF4-FFF2-40B4-BE49-F238E27FC236}">
                <a16:creationId xmlns:a16="http://schemas.microsoft.com/office/drawing/2014/main" id="{37FC58C7-5F5C-11D5-33B9-231E9896B682}"/>
              </a:ext>
            </a:extLst>
          </p:cNvPr>
          <p:cNvSpPr/>
          <p:nvPr/>
        </p:nvSpPr>
        <p:spPr>
          <a:xfrm>
            <a:off x="15533933" y="28354748"/>
            <a:ext cx="10848506" cy="1230978"/>
          </a:xfrm>
          <a:prstGeom prst="roundRect">
            <a:avLst/>
          </a:prstGeom>
          <a:solidFill>
            <a:srgbClr val="50A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4" name="모서리가 둥근 직사각형 2">
            <a:extLst>
              <a:ext uri="{FF2B5EF4-FFF2-40B4-BE49-F238E27FC236}">
                <a16:creationId xmlns:a16="http://schemas.microsoft.com/office/drawing/2014/main" id="{09CAD26F-1D8E-EE19-ED32-00D8DE9EA8B3}"/>
              </a:ext>
            </a:extLst>
          </p:cNvPr>
          <p:cNvSpPr/>
          <p:nvPr/>
        </p:nvSpPr>
        <p:spPr>
          <a:xfrm>
            <a:off x="25968216" y="28354748"/>
            <a:ext cx="497406" cy="1230978"/>
          </a:xfrm>
          <a:prstGeom prst="round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690C9CDF-8E39-5C90-DB07-2AD8AF86CE5F}"/>
              </a:ext>
            </a:extLst>
          </p:cNvPr>
          <p:cNvSpPr/>
          <p:nvPr/>
        </p:nvSpPr>
        <p:spPr>
          <a:xfrm>
            <a:off x="25814228" y="28354748"/>
            <a:ext cx="284232" cy="1230978"/>
          </a:xfrm>
          <a:prstGeom prst="rect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직각 삼각형 305">
            <a:extLst>
              <a:ext uri="{FF2B5EF4-FFF2-40B4-BE49-F238E27FC236}">
                <a16:creationId xmlns:a16="http://schemas.microsoft.com/office/drawing/2014/main" id="{E7AF76D1-DE6A-35B8-CD8F-D612CC08F56F}"/>
              </a:ext>
            </a:extLst>
          </p:cNvPr>
          <p:cNvSpPr/>
          <p:nvPr/>
        </p:nvSpPr>
        <p:spPr>
          <a:xfrm rot="10800000">
            <a:off x="25213675" y="28354748"/>
            <a:ext cx="611937" cy="1230978"/>
          </a:xfrm>
          <a:prstGeom prst="rtTriangle">
            <a:avLst/>
          </a:prstGeom>
          <a:solidFill>
            <a:srgbClr val="338B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F75FA2C4-F52E-AD33-040C-4B370C4CC636}"/>
              </a:ext>
            </a:extLst>
          </p:cNvPr>
          <p:cNvSpPr txBox="1"/>
          <p:nvPr/>
        </p:nvSpPr>
        <p:spPr>
          <a:xfrm>
            <a:off x="15812496" y="28327056"/>
            <a:ext cx="10285965" cy="125866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3800" b="1" spc="-100" dirty="0">
                <a:solidFill>
                  <a:schemeClr val="bg1"/>
                </a:solidFill>
                <a:latin typeface="+mj-ea"/>
                <a:ea typeface="+mj-ea"/>
              </a:rPr>
              <a:t>Ⅳ. </a:t>
            </a:r>
            <a:r>
              <a:rPr lang="ko-KR" altLang="en-US" sz="3800" b="1" spc="-100" dirty="0">
                <a:solidFill>
                  <a:schemeClr val="bg1"/>
                </a:solidFill>
                <a:latin typeface="+mj-ea"/>
                <a:ea typeface="+mj-ea"/>
              </a:rPr>
              <a:t>논의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034C691B-810D-A1B7-83E2-35E71A3869FC}"/>
              </a:ext>
            </a:extLst>
          </p:cNvPr>
          <p:cNvSpPr txBox="1"/>
          <p:nvPr/>
        </p:nvSpPr>
        <p:spPr>
          <a:xfrm>
            <a:off x="15240831" y="29919424"/>
            <a:ext cx="15331432" cy="459453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본 연구는 체육계 학교폭력 이슈에 대한 해결 방안을 탐색하기 위해 언론 보도를 분석하였다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ko-KR" altLang="en-US" sz="3200" spc="-50" dirty="0">
                <a:latin typeface="+mn-ea"/>
              </a:rPr>
              <a:t>키워드 네트워크 분석과 군집 분석을 통해</a:t>
            </a:r>
            <a:r>
              <a:rPr lang="en-US" altLang="ko-KR" sz="3200" spc="-50" dirty="0">
                <a:latin typeface="+mn-ea"/>
              </a:rPr>
              <a:t>, 2019</a:t>
            </a:r>
            <a:r>
              <a:rPr lang="ko-KR" altLang="en-US" sz="3200" spc="-50" dirty="0">
                <a:latin typeface="+mn-ea"/>
              </a:rPr>
              <a:t>년 유도 선수의 폭로로 시작된 </a:t>
            </a:r>
            <a:r>
              <a:rPr lang="ko-KR" altLang="en-US" sz="3200" spc="-50" dirty="0" err="1">
                <a:latin typeface="+mn-ea"/>
              </a:rPr>
              <a:t>학폭</a:t>
            </a:r>
            <a:r>
              <a:rPr lang="ko-KR" altLang="en-US" sz="3200" spc="-50" dirty="0">
                <a:latin typeface="+mn-ea"/>
              </a:rPr>
              <a:t> 미투 운동이 다양한 종목에서 나타났음을 확인했다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ko-KR" altLang="en-US" sz="3200" spc="-50" dirty="0">
                <a:latin typeface="+mn-ea"/>
              </a:rPr>
              <a:t>특히 여자배구 쌍둥이 자매의 학교폭력 사건이 주요 이슈로 다뤄졌으며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언론은 인기 종목과 비인기 종목 간 차별적 보도를 보였다</a:t>
            </a:r>
            <a:r>
              <a:rPr lang="en-US" altLang="ko-KR" sz="3200" spc="-50" dirty="0">
                <a:latin typeface="+mn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연구 결과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체육계 학교폭력의 주요 원인으로 지도자의 권력 행사와 폐쇄적 훈련환경을 지적하며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문제 해결을 위한 체계적인 관리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교육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제도 정비 등의 방안을 제시했다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ko-KR" altLang="en-US" sz="3200" spc="-50" dirty="0">
                <a:latin typeface="+mn-ea"/>
              </a:rPr>
              <a:t>또한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학교폭력 예방을 위해 지도자의 역할이 중요하다고 강조하며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체육계의 구조적 문제를 해결해야 한다는 결론을 도출했다</a:t>
            </a:r>
            <a:r>
              <a:rPr lang="en-US" altLang="ko-KR" sz="3200" spc="-50" dirty="0">
                <a:latin typeface="+mn-ea"/>
              </a:rPr>
              <a:t>.</a:t>
            </a: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B8F666BC-498F-29B5-C891-53835C5444B1}"/>
              </a:ext>
            </a:extLst>
          </p:cNvPr>
          <p:cNvSpPr/>
          <p:nvPr/>
        </p:nvSpPr>
        <p:spPr>
          <a:xfrm>
            <a:off x="25107615" y="27430039"/>
            <a:ext cx="5285744" cy="379268"/>
          </a:xfrm>
          <a:prstGeom prst="rect">
            <a:avLst/>
          </a:prstGeom>
        </p:spPr>
        <p:txBody>
          <a:bodyPr wrap="square" lIns="70800" tIns="35400" rIns="70800" bIns="35400">
            <a:spAutoFit/>
          </a:bodyPr>
          <a:lstStyle/>
          <a:p>
            <a:pPr marL="0" lvl="1" algn="ctr"/>
            <a:r>
              <a:rPr lang="en-US" altLang="ko-KR" sz="2000" spc="-50" dirty="0">
                <a:latin typeface="+mn-ea"/>
              </a:rPr>
              <a:t>&lt;</a:t>
            </a:r>
            <a:r>
              <a:rPr lang="ko-KR" altLang="en-US" sz="2000" spc="-50" dirty="0">
                <a:latin typeface="+mn-ea"/>
              </a:rPr>
              <a:t>표 </a:t>
            </a:r>
            <a:r>
              <a:rPr lang="en-US" altLang="ko-KR" sz="2000" spc="-50" dirty="0">
                <a:latin typeface="+mn-ea"/>
              </a:rPr>
              <a:t>6&gt; </a:t>
            </a:r>
            <a:r>
              <a:rPr lang="ko-KR" altLang="en-US" sz="2000" spc="-50" dirty="0">
                <a:latin typeface="+mn-ea"/>
              </a:rPr>
              <a:t>군집</a:t>
            </a:r>
            <a:r>
              <a:rPr lang="en-US" altLang="ko-KR" sz="2000" spc="-50" dirty="0">
                <a:latin typeface="+mn-ea"/>
              </a:rPr>
              <a:t>(CONCOR) </a:t>
            </a:r>
            <a:r>
              <a:rPr lang="ko-KR" altLang="en-US" sz="2000" spc="-50" dirty="0">
                <a:latin typeface="+mn-ea"/>
              </a:rPr>
              <a:t>분석 결과</a:t>
            </a:r>
            <a:endParaRPr lang="en-US" altLang="ko-KR" sz="2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05993-CB09-58DC-443D-D01E3199E717}"/>
              </a:ext>
            </a:extLst>
          </p:cNvPr>
          <p:cNvSpPr txBox="1"/>
          <p:nvPr/>
        </p:nvSpPr>
        <p:spPr>
          <a:xfrm>
            <a:off x="2832999" y="27187845"/>
            <a:ext cx="5821023" cy="50678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en-US" altLang="ko-KR" sz="3200" b="1" spc="-50" dirty="0">
                <a:latin typeface="+mn-ea"/>
              </a:rPr>
              <a:t>2-2. </a:t>
            </a:r>
            <a:r>
              <a:rPr lang="ko-KR" altLang="en-US" sz="3200" b="1" spc="-50" dirty="0">
                <a:latin typeface="+mn-ea"/>
              </a:rPr>
              <a:t>연구 절차 및 자료 처리</a:t>
            </a:r>
            <a:endParaRPr lang="en-US" altLang="ko-KR" sz="3200" b="1" spc="-5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spc="-50" dirty="0">
                <a:latin typeface="+mn-ea"/>
              </a:rPr>
              <a:t>본 연구는 </a:t>
            </a:r>
            <a:r>
              <a:rPr lang="en-US" altLang="ko-KR" sz="3200" spc="-50" dirty="0">
                <a:latin typeface="+mn-ea"/>
              </a:rPr>
              <a:t>2019</a:t>
            </a:r>
            <a:r>
              <a:rPr lang="ko-KR" altLang="en-US" sz="3200" spc="-50" dirty="0">
                <a:latin typeface="+mn-ea"/>
              </a:rPr>
              <a:t>년부터 </a:t>
            </a:r>
            <a:r>
              <a:rPr lang="en-US" altLang="ko-KR" sz="3200" spc="-50" dirty="0">
                <a:latin typeface="+mn-ea"/>
              </a:rPr>
              <a:t>2023</a:t>
            </a:r>
            <a:r>
              <a:rPr lang="ko-KR" altLang="en-US" sz="3200" spc="-50" dirty="0">
                <a:latin typeface="+mn-ea"/>
              </a:rPr>
              <a:t>년까지 체육계 학교폭력 뉴스 기사를 수집하여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>
                <a:latin typeface="+mn-ea"/>
              </a:rPr>
              <a:t>키워드 네트워크 분석을 진행했다</a:t>
            </a:r>
            <a:r>
              <a:rPr lang="en-US" altLang="ko-KR" sz="3200" spc="-50" dirty="0"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spc="-50" dirty="0">
                <a:latin typeface="+mn-ea"/>
              </a:rPr>
              <a:t>Big Kinds</a:t>
            </a:r>
            <a:r>
              <a:rPr lang="ko-KR" altLang="en-US" sz="3200" spc="-50" dirty="0">
                <a:latin typeface="+mn-ea"/>
              </a:rPr>
              <a:t>에서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학교폭력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>
                <a:latin typeface="+mn-ea"/>
              </a:rPr>
              <a:t>과 </a:t>
            </a:r>
            <a:r>
              <a:rPr lang="en-US" altLang="ko-KR" sz="3200" spc="-50" dirty="0">
                <a:latin typeface="+mn-ea"/>
              </a:rPr>
              <a:t>'</a:t>
            </a:r>
            <a:r>
              <a:rPr lang="ko-KR" altLang="en-US" sz="3200" spc="-50" dirty="0" err="1">
                <a:latin typeface="+mn-ea"/>
              </a:rPr>
              <a:t>학폭</a:t>
            </a:r>
            <a:r>
              <a:rPr lang="en-US" altLang="ko-KR" sz="3200" spc="-50" dirty="0">
                <a:latin typeface="+mn-ea"/>
              </a:rPr>
              <a:t>' </a:t>
            </a:r>
            <a:r>
              <a:rPr lang="ko-KR" altLang="en-US" sz="3200" spc="-50" dirty="0">
                <a:latin typeface="+mn-ea"/>
              </a:rPr>
              <a:t>키워드로 기사 </a:t>
            </a:r>
            <a:r>
              <a:rPr lang="en-US" altLang="ko-KR" sz="3200" spc="-50" dirty="0">
                <a:latin typeface="+mn-ea"/>
              </a:rPr>
              <a:t>1,674</a:t>
            </a:r>
            <a:r>
              <a:rPr lang="ko-KR" altLang="en-US" sz="3200" spc="-50" dirty="0">
                <a:latin typeface="+mn-ea"/>
              </a:rPr>
              <a:t>건을 확보하고</a:t>
            </a:r>
            <a:r>
              <a:rPr lang="en-US" altLang="ko-KR" sz="3200" spc="-50" dirty="0">
                <a:latin typeface="+mn-ea"/>
              </a:rPr>
              <a:t>, </a:t>
            </a:r>
            <a:r>
              <a:rPr lang="ko-KR" altLang="en-US" sz="3200" spc="-50" dirty="0" err="1">
                <a:latin typeface="+mn-ea"/>
              </a:rPr>
              <a:t>전처리</a:t>
            </a:r>
            <a:r>
              <a:rPr lang="ko-KR" altLang="en-US" sz="3200" spc="-50" dirty="0">
                <a:latin typeface="+mn-ea"/>
              </a:rPr>
              <a:t> 후 상위 </a:t>
            </a:r>
            <a:r>
              <a:rPr lang="en-US" altLang="ko-KR" sz="3200" spc="-50" dirty="0">
                <a:latin typeface="+mn-ea"/>
              </a:rPr>
              <a:t>50</a:t>
            </a:r>
            <a:r>
              <a:rPr lang="ko-KR" altLang="en-US" sz="3200" spc="-50" dirty="0">
                <a:latin typeface="+mn-ea"/>
              </a:rPr>
              <a:t>개 키워드를 선정하여 네트워크 </a:t>
            </a:r>
            <a:r>
              <a:rPr lang="ko-KR" altLang="en-US" sz="3200" spc="-50" dirty="0" err="1">
                <a:latin typeface="+mn-ea"/>
              </a:rPr>
              <a:t>중심성</a:t>
            </a:r>
            <a:r>
              <a:rPr lang="ko-KR" altLang="en-US" sz="3200" spc="-50" dirty="0">
                <a:latin typeface="+mn-ea"/>
              </a:rPr>
              <a:t> 분석과 군집화 분석을 실시했다</a:t>
            </a:r>
            <a:r>
              <a:rPr lang="en-US" altLang="ko-KR" sz="3200" spc="-50" dirty="0">
                <a:latin typeface="+mn-ea"/>
              </a:rPr>
              <a:t>. </a:t>
            </a:r>
            <a:r>
              <a:rPr lang="en-US" altLang="ko-KR" sz="3200" spc="-50" dirty="0" err="1">
                <a:latin typeface="+mn-ea"/>
              </a:rPr>
              <a:t>NetMiner</a:t>
            </a:r>
            <a:r>
              <a:rPr lang="en-US" altLang="ko-KR" sz="3200" spc="-50" dirty="0">
                <a:latin typeface="+mn-ea"/>
              </a:rPr>
              <a:t> </a:t>
            </a:r>
            <a:r>
              <a:rPr lang="ko-KR" altLang="en-US" sz="3200" spc="-50" dirty="0">
                <a:latin typeface="+mn-ea"/>
              </a:rPr>
              <a:t>프로그램을 사용해 분석 결과를 </a:t>
            </a:r>
            <a:r>
              <a:rPr lang="ko-KR" altLang="en-US" sz="3200" spc="-50" dirty="0" err="1">
                <a:latin typeface="+mn-ea"/>
              </a:rPr>
              <a:t>시각화하였다</a:t>
            </a:r>
            <a:r>
              <a:rPr lang="en-US" altLang="ko-KR" sz="3200" spc="-50" dirty="0">
                <a:latin typeface="+mn-ea"/>
              </a:rPr>
              <a:t>.</a:t>
            </a:r>
            <a:endParaRPr lang="ko-KR" altLang="en-US" sz="3200" spc="-5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005EA7-0CC3-D3CB-43CD-934ECCA759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2563" y="23537669"/>
            <a:ext cx="10523739" cy="3121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C1F6D-C063-DCEB-886E-8FDA2085D1D2}"/>
              </a:ext>
            </a:extLst>
          </p:cNvPr>
          <p:cNvSpPr txBox="1"/>
          <p:nvPr/>
        </p:nvSpPr>
        <p:spPr>
          <a:xfrm>
            <a:off x="5029200" y="26702953"/>
            <a:ext cx="620427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2000" dirty="0"/>
              <a:t>&lt;그림 1&gt; 연도별 체육계 학교폭력 관련 뉴스 빈도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BC000E-C6F0-7B95-5DBC-F4E1E5ACB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8849" y="27406215"/>
            <a:ext cx="4741765" cy="60015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0E20B0-F0A7-9D02-8C77-D9EB1C3560DA}"/>
              </a:ext>
            </a:extLst>
          </p:cNvPr>
          <p:cNvSpPr txBox="1"/>
          <p:nvPr/>
        </p:nvSpPr>
        <p:spPr>
          <a:xfrm>
            <a:off x="9452138" y="33506833"/>
            <a:ext cx="34694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2000" dirty="0"/>
              <a:t>&lt;표 1&gt; 데이터 분석 절차</a:t>
            </a:r>
          </a:p>
        </p:txBody>
      </p:sp>
    </p:spTree>
    <p:extLst>
      <p:ext uri="{BB962C8B-B14F-4D97-AF65-F5344CB8AC3E}">
        <p14:creationId xmlns:p14="http://schemas.microsoft.com/office/powerpoint/2010/main" val="326502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wrap="square" rtlCol="0" anchor="t" anchorCtr="0">
        <a:noAutofit/>
      </a:bodyPr>
      <a:lstStyle>
        <a:defPPr algn="just">
          <a:lnSpc>
            <a:spcPct val="120000"/>
          </a:lnSpc>
          <a:defRPr sz="3800" spc="-40" dirty="0" smtClean="0">
            <a:latin typeface="+mj-lt"/>
            <a:ea typeface="나눔고딕" pitchFamily="2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736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user</cp:lastModifiedBy>
  <cp:revision>425</cp:revision>
  <dcterms:created xsi:type="dcterms:W3CDTF">2019-04-02T05:15:26Z</dcterms:created>
  <dcterms:modified xsi:type="dcterms:W3CDTF">2024-11-18T05:36:05Z</dcterms:modified>
</cp:coreProperties>
</file>