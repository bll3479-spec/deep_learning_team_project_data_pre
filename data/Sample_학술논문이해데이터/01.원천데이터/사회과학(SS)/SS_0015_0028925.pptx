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504" userDrawn="1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Pi7jr+A4YPg74lnu0nHqD798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7D56"/>
    <a:srgbClr val="F3F3F3"/>
    <a:srgbClr val="000000"/>
    <a:srgbClr val="392619"/>
    <a:srgbClr val="ECB48D"/>
    <a:srgbClr val="415059"/>
    <a:srgbClr val="CCD8DE"/>
    <a:srgbClr val="1F3764"/>
    <a:srgbClr val="ACC0E5"/>
    <a:srgbClr val="C3D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0" autoAdjust="0"/>
    <p:restoredTop sz="94660"/>
  </p:normalViewPr>
  <p:slideViewPr>
    <p:cSldViewPr snapToGrid="0">
      <p:cViewPr varScale="1">
        <p:scale>
          <a:sx n="19" d="100"/>
          <a:sy n="19" d="100"/>
        </p:scale>
        <p:origin x="4018" y="106"/>
      </p:cViewPr>
      <p:guideLst>
        <p:guide orient="horz" pos="13504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2798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51200" y="1793875"/>
            <a:ext cx="3424200" cy="484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481" userDrawn="1">
          <p15:clr>
            <a:srgbClr val="FBAE40"/>
          </p15:clr>
        </p15:guide>
        <p15:guide id="2" pos="95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34E4EC-3E11-80C5-3CC7-334688020912}"/>
              </a:ext>
            </a:extLst>
          </p:cNvPr>
          <p:cNvSpPr/>
          <p:nvPr userDrawn="1"/>
        </p:nvSpPr>
        <p:spPr>
          <a:xfrm>
            <a:off x="0" y="-1"/>
            <a:ext cx="30275213" cy="42803764"/>
          </a:xfrm>
          <a:prstGeom prst="rect">
            <a:avLst/>
          </a:prstGeom>
          <a:solidFill>
            <a:srgbClr val="4150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0E2AFC-B20D-4AF1-12CA-1B312BD608E9}"/>
              </a:ext>
            </a:extLst>
          </p:cNvPr>
          <p:cNvSpPr/>
          <p:nvPr userDrawn="1"/>
        </p:nvSpPr>
        <p:spPr>
          <a:xfrm>
            <a:off x="0" y="6024282"/>
            <a:ext cx="30278216" cy="36779480"/>
          </a:xfrm>
          <a:prstGeom prst="roundRect">
            <a:avLst>
              <a:gd name="adj" fmla="val 3877"/>
            </a:avLst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1" userDrawn="1">
          <p15:clr>
            <a:srgbClr val="F26B43"/>
          </p15:clr>
        </p15:guide>
        <p15:guide id="2" pos="95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33">
            <a:extLst>
              <a:ext uri="{FF2B5EF4-FFF2-40B4-BE49-F238E27FC236}">
                <a16:creationId xmlns:a16="http://schemas.microsoft.com/office/drawing/2014/main" id="{FEFE8983-335E-EAF0-FA93-ACF0A03498E5}"/>
              </a:ext>
            </a:extLst>
          </p:cNvPr>
          <p:cNvSpPr txBox="1"/>
          <p:nvPr/>
        </p:nvSpPr>
        <p:spPr>
          <a:xfrm>
            <a:off x="1512554" y="787252"/>
            <a:ext cx="27251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 dirty="0" err="1">
                <a:solidFill>
                  <a:srgbClr val="ECB48D"/>
                </a:solidFill>
                <a:latin typeface="+mj-ea"/>
                <a:ea typeface="+mj-ea"/>
              </a:rPr>
              <a:t>상호교호적</a:t>
            </a:r>
            <a:r>
              <a:rPr lang="ko-KR" altLang="en-US" sz="8000" b="1" dirty="0">
                <a:solidFill>
                  <a:srgbClr val="ECB48D"/>
                </a:solidFill>
                <a:latin typeface="+mj-ea"/>
                <a:ea typeface="+mj-ea"/>
              </a:rPr>
              <a:t> 다목적최적화 방법론 개발 및 신규지점 </a:t>
            </a:r>
          </a:p>
          <a:p>
            <a:pPr algn="ctr"/>
            <a:r>
              <a:rPr lang="ko-KR" altLang="en-US" sz="8000" b="1" dirty="0">
                <a:solidFill>
                  <a:srgbClr val="ECB48D"/>
                </a:solidFill>
                <a:latin typeface="+mj-ea"/>
                <a:ea typeface="+mj-ea"/>
              </a:rPr>
              <a:t>운영설계와 생산목표설정으로의 적용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A4A78C9-86B5-E6F9-468F-49CFEFC93F7F}"/>
              </a:ext>
            </a:extLst>
          </p:cNvPr>
          <p:cNvSpPr txBox="1"/>
          <p:nvPr/>
        </p:nvSpPr>
        <p:spPr>
          <a:xfrm>
            <a:off x="11437376" y="3814100"/>
            <a:ext cx="17880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b="1" dirty="0" err="1">
                <a:solidFill>
                  <a:srgbClr val="ECB48D"/>
                </a:solidFill>
                <a:latin typeface="+mj-ea"/>
                <a:ea typeface="+mj-ea"/>
              </a:rPr>
              <a:t>박경삼</a:t>
            </a:r>
            <a:r>
              <a:rPr lang="en-US" altLang="ko-KR" sz="3600" b="1" dirty="0">
                <a:solidFill>
                  <a:srgbClr val="ECB48D"/>
                </a:solidFill>
                <a:latin typeface="+mj-ea"/>
                <a:ea typeface="+mj-ea"/>
              </a:rPr>
              <a:t>(</a:t>
            </a:r>
            <a:r>
              <a:rPr lang="ko-KR" altLang="en-US" sz="3600" b="1" dirty="0">
                <a:solidFill>
                  <a:srgbClr val="ECB48D"/>
                </a:solidFill>
                <a:latin typeface="+mj-ea"/>
                <a:ea typeface="+mj-ea"/>
              </a:rPr>
              <a:t>고려대학교 경영대학 교수</a:t>
            </a:r>
            <a:r>
              <a:rPr lang="en-US" altLang="ko-KR" sz="3600" b="1" dirty="0">
                <a:solidFill>
                  <a:srgbClr val="ECB48D"/>
                </a:solidFill>
                <a:latin typeface="+mj-ea"/>
                <a:ea typeface="+mj-ea"/>
              </a:rPr>
              <a:t>, </a:t>
            </a:r>
            <a:r>
              <a:rPr lang="ko-KR" altLang="en-US" sz="3600" b="1" dirty="0">
                <a:solidFill>
                  <a:srgbClr val="ECB48D"/>
                </a:solidFill>
                <a:latin typeface="+mj-ea"/>
                <a:ea typeface="+mj-ea"/>
              </a:rPr>
              <a:t>교신저자</a:t>
            </a:r>
            <a:r>
              <a:rPr lang="en-US" altLang="ko-KR" sz="3600" b="1" dirty="0">
                <a:solidFill>
                  <a:srgbClr val="ECB48D"/>
                </a:solidFill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3600" b="1" dirty="0">
                <a:solidFill>
                  <a:srgbClr val="ECB48D"/>
                </a:solidFill>
                <a:latin typeface="+mj-ea"/>
                <a:ea typeface="+mj-ea"/>
              </a:rPr>
              <a:t>신동은</a:t>
            </a:r>
            <a:r>
              <a:rPr lang="en-US" altLang="ko-KR" sz="3600" b="1" dirty="0">
                <a:solidFill>
                  <a:srgbClr val="ECB48D"/>
                </a:solidFill>
                <a:latin typeface="+mj-ea"/>
                <a:ea typeface="+mj-ea"/>
              </a:rPr>
              <a:t>(</a:t>
            </a:r>
            <a:r>
              <a:rPr lang="ko-KR" altLang="en-US" sz="3600" b="1" dirty="0">
                <a:solidFill>
                  <a:srgbClr val="ECB48D"/>
                </a:solidFill>
                <a:latin typeface="+mj-ea"/>
                <a:ea typeface="+mj-ea"/>
              </a:rPr>
              <a:t>고려대학교 경영대학 박사과정</a:t>
            </a:r>
            <a:r>
              <a:rPr lang="en-US" altLang="ko-KR" sz="3600" b="1" dirty="0">
                <a:solidFill>
                  <a:srgbClr val="ECB48D"/>
                </a:solidFill>
                <a:latin typeface="+mj-ea"/>
                <a:ea typeface="+mj-ea"/>
              </a:rPr>
              <a:t>)</a:t>
            </a:r>
            <a:endParaRPr lang="ko-KR" altLang="en-US" sz="3600" b="1" dirty="0">
              <a:solidFill>
                <a:srgbClr val="ECB48D"/>
              </a:solidFill>
              <a:latin typeface="+mj-ea"/>
              <a:ea typeface="+mj-ea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3D3396F-5195-41FB-9603-090E682F1C7C}"/>
              </a:ext>
            </a:extLst>
          </p:cNvPr>
          <p:cNvSpPr/>
          <p:nvPr/>
        </p:nvSpPr>
        <p:spPr>
          <a:xfrm>
            <a:off x="1144814" y="6187213"/>
            <a:ext cx="13485585" cy="5447833"/>
          </a:xfrm>
          <a:prstGeom prst="roundRect">
            <a:avLst>
              <a:gd name="adj" fmla="val 8829"/>
            </a:avLst>
          </a:prstGeom>
          <a:solidFill>
            <a:schemeClr val="bg1"/>
          </a:solidFill>
          <a:ln w="57150" cmpd="sng">
            <a:solidFill>
              <a:srgbClr val="000000"/>
            </a:solidFill>
            <a:round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B8C6A38-7D0C-960A-81AA-3DFF3EF92DFA}"/>
              </a:ext>
            </a:extLst>
          </p:cNvPr>
          <p:cNvSpPr/>
          <p:nvPr/>
        </p:nvSpPr>
        <p:spPr>
          <a:xfrm>
            <a:off x="1485900" y="5813376"/>
            <a:ext cx="5429250" cy="1120416"/>
          </a:xfrm>
          <a:prstGeom prst="rect">
            <a:avLst/>
          </a:prstGeom>
          <a:solidFill>
            <a:srgbClr val="B47D56"/>
          </a:solidFill>
          <a:ln>
            <a:solidFill>
              <a:srgbClr val="3926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75209B6F-F623-0A52-481E-B8FE2EA87CFE}"/>
              </a:ext>
            </a:extLst>
          </p:cNvPr>
          <p:cNvSpPr/>
          <p:nvPr/>
        </p:nvSpPr>
        <p:spPr>
          <a:xfrm>
            <a:off x="1144814" y="18534356"/>
            <a:ext cx="13485585" cy="9354844"/>
          </a:xfrm>
          <a:prstGeom prst="roundRect">
            <a:avLst>
              <a:gd name="adj" fmla="val 10929"/>
            </a:avLst>
          </a:prstGeom>
          <a:solidFill>
            <a:schemeClr val="bg1"/>
          </a:solidFill>
          <a:ln w="57150" cmpd="sng">
            <a:solidFill>
              <a:srgbClr val="000000"/>
            </a:solidFill>
            <a:round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C9F4A4B-EB06-C454-4817-DEF8195578F2}"/>
              </a:ext>
            </a:extLst>
          </p:cNvPr>
          <p:cNvSpPr/>
          <p:nvPr/>
        </p:nvSpPr>
        <p:spPr>
          <a:xfrm>
            <a:off x="1485900" y="18160519"/>
            <a:ext cx="5429250" cy="1120416"/>
          </a:xfrm>
          <a:prstGeom prst="rect">
            <a:avLst/>
          </a:prstGeom>
          <a:solidFill>
            <a:srgbClr val="B47D56"/>
          </a:solidFill>
          <a:ln>
            <a:solidFill>
              <a:srgbClr val="3926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D5E0CFB6-834C-4DF8-EE6B-7A96EF9495D5}"/>
              </a:ext>
            </a:extLst>
          </p:cNvPr>
          <p:cNvSpPr/>
          <p:nvPr/>
        </p:nvSpPr>
        <p:spPr>
          <a:xfrm>
            <a:off x="1169880" y="28959785"/>
            <a:ext cx="13485585" cy="13435123"/>
          </a:xfrm>
          <a:prstGeom prst="roundRect">
            <a:avLst>
              <a:gd name="adj" fmla="val 5225"/>
            </a:avLst>
          </a:prstGeom>
          <a:solidFill>
            <a:schemeClr val="bg1"/>
          </a:solidFill>
          <a:ln w="57150" cmpd="sng">
            <a:solidFill>
              <a:srgbClr val="000000"/>
            </a:solidFill>
            <a:round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DAC9ECC-FAD5-AEC0-3807-8203C5AE291E}"/>
              </a:ext>
            </a:extLst>
          </p:cNvPr>
          <p:cNvSpPr/>
          <p:nvPr/>
        </p:nvSpPr>
        <p:spPr>
          <a:xfrm>
            <a:off x="1510966" y="28295484"/>
            <a:ext cx="5429250" cy="1120416"/>
          </a:xfrm>
          <a:prstGeom prst="rect">
            <a:avLst/>
          </a:prstGeom>
          <a:solidFill>
            <a:srgbClr val="B47D56"/>
          </a:solidFill>
          <a:ln>
            <a:solidFill>
              <a:srgbClr val="3926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C460761D-F972-4BBD-50C7-52C8A970C283}"/>
              </a:ext>
            </a:extLst>
          </p:cNvPr>
          <p:cNvSpPr/>
          <p:nvPr/>
        </p:nvSpPr>
        <p:spPr>
          <a:xfrm>
            <a:off x="15697432" y="6187623"/>
            <a:ext cx="13485585" cy="25481906"/>
          </a:xfrm>
          <a:prstGeom prst="roundRect">
            <a:avLst>
              <a:gd name="adj" fmla="val 7767"/>
            </a:avLst>
          </a:prstGeom>
          <a:solidFill>
            <a:schemeClr val="bg1"/>
          </a:solidFill>
          <a:ln w="57150" cmpd="sng">
            <a:solidFill>
              <a:srgbClr val="000000"/>
            </a:solidFill>
            <a:round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80C1D027-F2F1-36AC-3610-FEC2099D43C7}"/>
              </a:ext>
            </a:extLst>
          </p:cNvPr>
          <p:cNvSpPr/>
          <p:nvPr/>
        </p:nvSpPr>
        <p:spPr>
          <a:xfrm>
            <a:off x="15595948" y="32318565"/>
            <a:ext cx="13587069" cy="10076343"/>
          </a:xfrm>
          <a:prstGeom prst="roundRect">
            <a:avLst>
              <a:gd name="adj" fmla="val 9096"/>
            </a:avLst>
          </a:prstGeom>
          <a:solidFill>
            <a:schemeClr val="bg1"/>
          </a:solidFill>
          <a:ln w="57150" cmpd="sng">
            <a:solidFill>
              <a:srgbClr val="000000"/>
            </a:solidFill>
            <a:round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9205311F-C1B9-19A8-F3E6-D2F0FB66D82C}"/>
              </a:ext>
            </a:extLst>
          </p:cNvPr>
          <p:cNvSpPr/>
          <p:nvPr/>
        </p:nvSpPr>
        <p:spPr>
          <a:xfrm>
            <a:off x="15937034" y="32107956"/>
            <a:ext cx="5429250" cy="1120416"/>
          </a:xfrm>
          <a:prstGeom prst="rect">
            <a:avLst/>
          </a:prstGeom>
          <a:solidFill>
            <a:srgbClr val="B47D56"/>
          </a:solidFill>
          <a:ln>
            <a:solidFill>
              <a:srgbClr val="3926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0F777A0-891C-4845-78C7-A76C25A010B6}"/>
              </a:ext>
            </a:extLst>
          </p:cNvPr>
          <p:cNvSpPr txBox="1"/>
          <p:nvPr/>
        </p:nvSpPr>
        <p:spPr>
          <a:xfrm>
            <a:off x="16309379" y="33613908"/>
            <a:ext cx="1233920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B47D56"/>
              </a:buClr>
              <a:buFont typeface="Wingdings" panose="05000000000000000000" pitchFamily="2" charset="2"/>
              <a:buChar char="Ø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연구 요약</a:t>
            </a:r>
            <a:endParaRPr lang="en-US" altLang="ko-KR" sz="4000" b="1" dirty="0">
              <a:solidFill>
                <a:srgbClr val="B47D56"/>
              </a:solidFill>
              <a:latin typeface="+mn-ea"/>
              <a:ea typeface="+mn-ea"/>
            </a:endParaRPr>
          </a:p>
          <a:p>
            <a:pPr>
              <a:buClr>
                <a:srgbClr val="B47D56"/>
              </a:buClr>
            </a:pP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다목적최적화 문제 해결을 위한 </a:t>
            </a:r>
            <a:r>
              <a:rPr lang="ko-KR" altLang="en-US" sz="4000" dirty="0" err="1">
                <a:solidFill>
                  <a:schemeClr val="tx1"/>
                </a:solidFill>
                <a:latin typeface="+mn-ea"/>
                <a:ea typeface="+mn-ea"/>
              </a:rPr>
              <a:t>상호교호적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 방법론을 개발하고 이를 실제 사례에 적용하였다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>
              <a:buClr>
                <a:srgbClr val="B47D56"/>
              </a:buClr>
            </a:pPr>
            <a:endParaRPr lang="en-US" altLang="ko-KR" sz="4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buClr>
                <a:srgbClr val="B47D56"/>
              </a:buClr>
              <a:buFont typeface="Wingdings" panose="05000000000000000000" pitchFamily="2" charset="2"/>
              <a:buChar char="Ø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기여도</a:t>
            </a:r>
            <a:endParaRPr lang="en-US" altLang="ko-KR" sz="4000" b="1" dirty="0">
              <a:solidFill>
                <a:srgbClr val="B47D56"/>
              </a:solidFill>
              <a:latin typeface="+mn-ea"/>
              <a:ea typeface="+mn-ea"/>
            </a:endParaRPr>
          </a:p>
          <a:p>
            <a:pPr>
              <a:buClr>
                <a:srgbClr val="B47D56"/>
              </a:buClr>
            </a:pP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의사결정자의 정보제공 부담을 줄이고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비선형 문제를 효과적으로 다룰 수 있는 방법론을 제시하였다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>
              <a:buClr>
                <a:srgbClr val="B47D56"/>
              </a:buClr>
            </a:pPr>
            <a:endParaRPr lang="en-US" altLang="ko-KR" sz="4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buClr>
                <a:srgbClr val="B47D56"/>
              </a:buClr>
              <a:buFont typeface="Wingdings" panose="05000000000000000000" pitchFamily="2" charset="2"/>
              <a:buChar char="Ø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추후 연구</a:t>
            </a:r>
            <a:endParaRPr lang="en-US" altLang="ko-KR" sz="4000" b="1" dirty="0">
              <a:solidFill>
                <a:srgbClr val="B47D56"/>
              </a:solidFill>
              <a:latin typeface="+mn-ea"/>
              <a:ea typeface="+mn-ea"/>
            </a:endParaRPr>
          </a:p>
          <a:p>
            <a:pPr>
              <a:buClr>
                <a:srgbClr val="B47D56"/>
              </a:buClr>
            </a:pP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다양한 분야에 적용 가능성을 탐색하고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방법론의 추가적인 개선 방안을 제안한다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D3F67-8BE8-A703-EA7E-E601671C7E3A}"/>
              </a:ext>
            </a:extLst>
          </p:cNvPr>
          <p:cNvSpPr txBox="1"/>
          <p:nvPr/>
        </p:nvSpPr>
        <p:spPr>
          <a:xfrm>
            <a:off x="1627077" y="6003793"/>
            <a:ext cx="5147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B03D-0782-2F79-4E16-119E410E26C8}"/>
              </a:ext>
            </a:extLst>
          </p:cNvPr>
          <p:cNvSpPr txBox="1"/>
          <p:nvPr/>
        </p:nvSpPr>
        <p:spPr>
          <a:xfrm>
            <a:off x="1626626" y="28508520"/>
            <a:ext cx="5147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n-ea"/>
                <a:ea typeface="+mn-ea"/>
              </a:rPr>
              <a:t>Ⅲ.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사례문제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53DB-E342-9831-B6FC-E10C7F73400D}"/>
              </a:ext>
            </a:extLst>
          </p:cNvPr>
          <p:cNvSpPr txBox="1"/>
          <p:nvPr/>
        </p:nvSpPr>
        <p:spPr>
          <a:xfrm>
            <a:off x="16069623" y="32318565"/>
            <a:ext cx="5147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n-ea"/>
                <a:ea typeface="+mn-ea"/>
              </a:rPr>
              <a:t>Ⅴ.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결론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C0FFD-318C-348E-FEC7-A650C99626B6}"/>
              </a:ext>
            </a:extLst>
          </p:cNvPr>
          <p:cNvSpPr txBox="1"/>
          <p:nvPr/>
        </p:nvSpPr>
        <p:spPr>
          <a:xfrm>
            <a:off x="1950044" y="7193291"/>
            <a:ext cx="116940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다목적최적화 방법론을 개발하고 이를 신규지점 운영설계와 생산목표설정에 적용한다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의사결정자와의 상호작용을 통해 이해하기 쉽고 실제 문제에 적용 가능한 방법론을 제시한다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개발된 방법론이 기존 기법들보다 주목할 만한 향상을 이루었다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3C235DC-9DA5-DE36-3E14-CC830F34ED13}"/>
              </a:ext>
            </a:extLst>
          </p:cNvPr>
          <p:cNvSpPr/>
          <p:nvPr/>
        </p:nvSpPr>
        <p:spPr>
          <a:xfrm>
            <a:off x="1144814" y="12385403"/>
            <a:ext cx="13485585" cy="5441064"/>
          </a:xfrm>
          <a:prstGeom prst="roundRect">
            <a:avLst>
              <a:gd name="adj" fmla="val 8829"/>
            </a:avLst>
          </a:prstGeom>
          <a:solidFill>
            <a:schemeClr val="bg1"/>
          </a:solidFill>
          <a:ln w="57150" cmpd="sng">
            <a:solidFill>
              <a:srgbClr val="000000"/>
            </a:solidFill>
            <a:round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0770FB-3F41-E710-EC1F-6CD1E889AB4F}"/>
              </a:ext>
            </a:extLst>
          </p:cNvPr>
          <p:cNvSpPr/>
          <p:nvPr/>
        </p:nvSpPr>
        <p:spPr>
          <a:xfrm>
            <a:off x="1485900" y="12011566"/>
            <a:ext cx="5429250" cy="1120416"/>
          </a:xfrm>
          <a:prstGeom prst="rect">
            <a:avLst/>
          </a:prstGeom>
          <a:solidFill>
            <a:srgbClr val="B47D56"/>
          </a:solidFill>
          <a:ln>
            <a:solidFill>
              <a:srgbClr val="3926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C77E5-170D-5C2A-93F7-B282DAC7FE12}"/>
              </a:ext>
            </a:extLst>
          </p:cNvPr>
          <p:cNvSpPr txBox="1"/>
          <p:nvPr/>
        </p:nvSpPr>
        <p:spPr>
          <a:xfrm>
            <a:off x="1627077" y="12201983"/>
            <a:ext cx="5147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n-ea"/>
                <a:ea typeface="+mn-ea"/>
              </a:rPr>
              <a:t>Ⅰ.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서론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7F91D1-0958-38AF-0EEF-76662E3BE7A8}"/>
              </a:ext>
            </a:extLst>
          </p:cNvPr>
          <p:cNvSpPr txBox="1"/>
          <p:nvPr/>
        </p:nvSpPr>
        <p:spPr>
          <a:xfrm>
            <a:off x="1797644" y="13513157"/>
            <a:ext cx="12660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다목적최적화 문제</a:t>
            </a:r>
            <a:endParaRPr lang="en-US" altLang="ko-KR" sz="4000" b="1" dirty="0">
              <a:solidFill>
                <a:srgbClr val="B47D56"/>
              </a:solidFill>
              <a:latin typeface="+mn-ea"/>
              <a:ea typeface="+mn-ea"/>
            </a:endParaRPr>
          </a:p>
          <a:p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경영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경제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공학 등 다양한 분야에서 발생하며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여러 목적을 동시에 최적화하는 문제를 다룬다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기존 연구</a:t>
            </a:r>
            <a:endParaRPr lang="en-US" altLang="ko-KR" sz="4000" b="1" dirty="0">
              <a:solidFill>
                <a:srgbClr val="B47D56"/>
              </a:solidFill>
              <a:latin typeface="+mn-ea"/>
              <a:ea typeface="+mn-ea"/>
            </a:endParaRPr>
          </a:p>
          <a:p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다양한 이론과 방법론이 개발되었으나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의사결정자의 선호를 반영하는 </a:t>
            </a:r>
            <a:r>
              <a:rPr lang="ko-KR" altLang="en-US" sz="4000" dirty="0" err="1">
                <a:solidFill>
                  <a:schemeClr val="tx1"/>
                </a:solidFill>
                <a:latin typeface="+mn-ea"/>
                <a:ea typeface="+mn-ea"/>
              </a:rPr>
              <a:t>상호교호적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 접근법이 중요하다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DBBCF1-E00A-864B-7B66-36BF563D4C65}"/>
              </a:ext>
            </a:extLst>
          </p:cNvPr>
          <p:cNvSpPr txBox="1"/>
          <p:nvPr/>
        </p:nvSpPr>
        <p:spPr>
          <a:xfrm>
            <a:off x="1797644" y="19757341"/>
            <a:ext cx="12660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기본 개념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의사결정자의 선호정보를 지속적으로 받아들여 가장 만족스러운 해를 도출하는 </a:t>
            </a:r>
            <a:r>
              <a:rPr lang="ko-KR" altLang="en-US" sz="4000" dirty="0" err="1">
                <a:solidFill>
                  <a:schemeClr val="tx1"/>
                </a:solidFill>
                <a:latin typeface="+mn-ea"/>
                <a:ea typeface="+mn-ea"/>
              </a:rPr>
              <a:t>상호교호적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 방법론을 개발한다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기법 비교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ZW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기법과 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GDF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기법의 장점을 결합하여 비선형 문제를 효과적으로 다룰 수 있는 방법론을 제시한다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5B749A-A547-8AF9-F5F9-ED7C258D2843}"/>
              </a:ext>
            </a:extLst>
          </p:cNvPr>
          <p:cNvSpPr txBox="1"/>
          <p:nvPr/>
        </p:nvSpPr>
        <p:spPr>
          <a:xfrm>
            <a:off x="1627077" y="18372354"/>
            <a:ext cx="5147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  <a:latin typeface="+mn-ea"/>
                <a:ea typeface="+mn-ea"/>
              </a:rPr>
              <a:t>Ⅱ.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방법론 개발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A3CC7D38-27FC-2A8C-5567-0053B93E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3846268"/>
            <a:ext cx="12971892" cy="3506687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5B88E5-C208-A5F9-D2FA-AAA25EC087DA}"/>
              </a:ext>
            </a:extLst>
          </p:cNvPr>
          <p:cNvSpPr/>
          <p:nvPr/>
        </p:nvSpPr>
        <p:spPr>
          <a:xfrm>
            <a:off x="16309379" y="5724885"/>
            <a:ext cx="5429250" cy="1120416"/>
          </a:xfrm>
          <a:prstGeom prst="rect">
            <a:avLst/>
          </a:prstGeom>
          <a:solidFill>
            <a:srgbClr val="B47D56"/>
          </a:solidFill>
          <a:ln>
            <a:solidFill>
              <a:srgbClr val="3926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398CC2-A0FC-7BAC-18CC-91EAD4628583}"/>
              </a:ext>
            </a:extLst>
          </p:cNvPr>
          <p:cNvSpPr txBox="1"/>
          <p:nvPr/>
        </p:nvSpPr>
        <p:spPr>
          <a:xfrm>
            <a:off x="16450556" y="5915302"/>
            <a:ext cx="5147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n-ea"/>
                <a:ea typeface="+mn-ea"/>
              </a:rPr>
              <a:t>Ⅳ.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  <a:ea typeface="+mn-ea"/>
              </a:rPr>
              <a:t>방법론 적용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E8C7B6-5A03-9C53-304D-09509A6D81D5}"/>
              </a:ext>
            </a:extLst>
          </p:cNvPr>
          <p:cNvSpPr txBox="1"/>
          <p:nvPr/>
        </p:nvSpPr>
        <p:spPr>
          <a:xfrm>
            <a:off x="1797644" y="29927538"/>
            <a:ext cx="1266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변수 및 자료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D86C4C-FF96-8078-DC8C-53028B2A5FF8}"/>
              </a:ext>
            </a:extLst>
          </p:cNvPr>
          <p:cNvSpPr txBox="1"/>
          <p:nvPr/>
        </p:nvSpPr>
        <p:spPr>
          <a:xfrm>
            <a:off x="1797644" y="30738319"/>
            <a:ext cx="126601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의사결정변수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신규지점의 운영에 필요한 자원 투입량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목적함수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생산량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비용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효율성 등 다양한 비선형 목적함수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제약조건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자원의 상한 및 하한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생산능력 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AE9B5B-8324-A7F1-43F1-183ED6C15A83}"/>
              </a:ext>
            </a:extLst>
          </p:cNvPr>
          <p:cNvSpPr txBox="1"/>
          <p:nvPr/>
        </p:nvSpPr>
        <p:spPr>
          <a:xfrm>
            <a:off x="1797644" y="34201722"/>
            <a:ext cx="1266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다목적문제 설정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34AAE9-1A4D-3C32-663B-6D60E0CF4D1C}"/>
              </a:ext>
            </a:extLst>
          </p:cNvPr>
          <p:cNvSpPr txBox="1"/>
          <p:nvPr/>
        </p:nvSpPr>
        <p:spPr>
          <a:xfrm>
            <a:off x="1797644" y="35012503"/>
            <a:ext cx="12660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목적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여러 비선형 목적함수를 동시에 최적화하여 신규지점의 운영설계와 생산목표를 설정한다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방법론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 err="1">
                <a:solidFill>
                  <a:schemeClr val="tx1"/>
                </a:solidFill>
                <a:latin typeface="+mn-ea"/>
                <a:ea typeface="+mn-ea"/>
              </a:rPr>
              <a:t>상호교호적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 다목적최적화 방법론을 적용하여 의사결정자의 선호정보를 반영한다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과정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초기 해를 제시하고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의사결정자의 피드백을 받아가며 점진적으로 최적해를 도출한다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C10509B2-2BF7-8AF4-C429-0D51F1BF2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598" y="38912986"/>
            <a:ext cx="6433520" cy="30345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BAAFE15-3A41-4138-8157-AEC93ECB5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38798155"/>
            <a:ext cx="6243310" cy="326424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2A47C02-2838-421C-4685-972431DD0F13}"/>
              </a:ext>
            </a:extLst>
          </p:cNvPr>
          <p:cNvSpPr txBox="1"/>
          <p:nvPr/>
        </p:nvSpPr>
        <p:spPr>
          <a:xfrm>
            <a:off x="16048228" y="7258038"/>
            <a:ext cx="1266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첫 번째 </a:t>
            </a:r>
            <a:r>
              <a:rPr lang="ko-KR" altLang="en-US" sz="4000" b="1" dirty="0" err="1">
                <a:solidFill>
                  <a:srgbClr val="B47D56"/>
                </a:solidFill>
                <a:latin typeface="+mn-ea"/>
                <a:ea typeface="+mn-ea"/>
              </a:rPr>
              <a:t>상호교호과정</a:t>
            </a:r>
            <a:endParaRPr lang="ko-KR" altLang="en-US" sz="4000" b="1" dirty="0">
              <a:solidFill>
                <a:srgbClr val="B47D56"/>
              </a:solidFill>
              <a:latin typeface="+mn-ea"/>
              <a:ea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4E5B26-BE7A-B91A-0CB4-FA3DC4DE00F1}"/>
              </a:ext>
            </a:extLst>
          </p:cNvPr>
          <p:cNvSpPr txBox="1"/>
          <p:nvPr/>
        </p:nvSpPr>
        <p:spPr>
          <a:xfrm>
            <a:off x="16048228" y="8068819"/>
            <a:ext cx="1266014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초기 해 설정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초기 해를 설정하고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이를 의사결정자에게 제시한다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선호정보 수집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의사결정자로부터 선호정보를 수집한다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새로운 해 도출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수집된 선호정보를 바탕으로 새로운 해를 도출한다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만족도 평가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새로운 해에 대한 의사결정자의 만족도를 평가한다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반복 과정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만족도가 충분하지 않으면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다시 선호정보를 수집하고 새로운 해를 도출하는 과정을 반복한다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C430E9-3898-AC6D-CFAD-5126E9F579D0}"/>
              </a:ext>
            </a:extLst>
          </p:cNvPr>
          <p:cNvSpPr txBox="1"/>
          <p:nvPr/>
        </p:nvSpPr>
        <p:spPr>
          <a:xfrm>
            <a:off x="16048228" y="21680340"/>
            <a:ext cx="1266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4000" b="1" dirty="0">
                <a:solidFill>
                  <a:srgbClr val="B47D56"/>
                </a:solidFill>
                <a:latin typeface="+mn-ea"/>
                <a:ea typeface="+mn-ea"/>
              </a:rPr>
              <a:t>두 번째 </a:t>
            </a:r>
            <a:r>
              <a:rPr lang="ko-KR" altLang="en-US" sz="4000" b="1" dirty="0" err="1">
                <a:solidFill>
                  <a:srgbClr val="B47D56"/>
                </a:solidFill>
                <a:latin typeface="+mn-ea"/>
                <a:ea typeface="+mn-ea"/>
              </a:rPr>
              <a:t>상호교호과정</a:t>
            </a:r>
            <a:endParaRPr lang="ko-KR" altLang="en-US" sz="4000" b="1" dirty="0">
              <a:solidFill>
                <a:srgbClr val="B47D56"/>
              </a:solidFill>
              <a:latin typeface="+mn-ea"/>
              <a:ea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C9ADB4-2C72-8FCF-7A22-9D0EE187ADDE}"/>
              </a:ext>
            </a:extLst>
          </p:cNvPr>
          <p:cNvSpPr txBox="1"/>
          <p:nvPr/>
        </p:nvSpPr>
        <p:spPr>
          <a:xfrm>
            <a:off x="16048228" y="22491121"/>
            <a:ext cx="126601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수정비용 계산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수정비용을 계산하여 의사결정자에게 제시한다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가중치 추정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의사결정자의 반응을 바탕으로 목적함수의 가중치를 추정한다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최종 해 도출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추정된 가중치를 사용하여 최종 해를 도출한다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rgbClr val="B47D56"/>
                </a:solidFill>
                <a:latin typeface="+mn-ea"/>
                <a:ea typeface="+mn-ea"/>
              </a:rPr>
              <a:t>사례 적용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4000" dirty="0">
                <a:solidFill>
                  <a:schemeClr val="tx1"/>
                </a:solidFill>
                <a:latin typeface="+mn-ea"/>
                <a:ea typeface="+mn-ea"/>
              </a:rPr>
              <a:t>도출된 해를 실제 사례에 적용하여 결과를 분석한다</a:t>
            </a:r>
            <a:r>
              <a:rPr lang="en-US" altLang="ko-KR" sz="4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4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B1B646B-DEB8-46E8-4D2D-7DFF39CD5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4590" y="14975486"/>
            <a:ext cx="12885072" cy="6350195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225AA88D-C3E2-EDEA-2AF3-75EAD679C5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62528" y="27556956"/>
            <a:ext cx="12600359" cy="39176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353</Words>
  <Application>Microsoft Office PowerPoint</Application>
  <PresentationFormat>사용자 지정</PresentationFormat>
  <Paragraphs>45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왕일</cp:lastModifiedBy>
  <cp:revision>30</cp:revision>
  <dcterms:created xsi:type="dcterms:W3CDTF">2018-10-17T01:18:09Z</dcterms:created>
  <dcterms:modified xsi:type="dcterms:W3CDTF">2025-02-14T03:26:41Z</dcterms:modified>
</cp:coreProperties>
</file>