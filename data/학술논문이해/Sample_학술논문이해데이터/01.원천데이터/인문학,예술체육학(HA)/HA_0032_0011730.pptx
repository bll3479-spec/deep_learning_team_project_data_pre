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30275213" cy="4280376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jtfSiyIqZD8/3FCwOhnXXDar/Zf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하유 무" initials="하무" lastIdx="1" clrIdx="0">
    <p:extLst>
      <p:ext uri="{19B8F6BF-5375-455C-9EA6-DF929625EA0E}">
        <p15:presenceInfo xmlns:p15="http://schemas.microsoft.com/office/powerpoint/2012/main" userId="cb54ea464047e75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7DB3"/>
    <a:srgbClr val="8F8F75"/>
    <a:srgbClr val="C78346"/>
    <a:srgbClr val="697EB4"/>
    <a:srgbClr val="49A2A1"/>
    <a:srgbClr val="E6D8CF"/>
    <a:srgbClr val="D2DBF2"/>
    <a:srgbClr val="6C89D5"/>
    <a:srgbClr val="B47ABE"/>
    <a:srgbClr val="CAD2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77228" autoAdjust="0"/>
    <p:restoredTop sz="96412" autoAdjust="0"/>
  </p:normalViewPr>
  <p:slideViewPr>
    <p:cSldViewPr snapToGrid="0">
      <p:cViewPr varScale="1">
        <p:scale>
          <a:sx n="17" d="100"/>
          <a:sy n="17" d="100"/>
        </p:scale>
        <p:origin x="142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558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5" Type="http://schemas.openxmlformats.org/officeDocument/2006/relationships/commentAuthors" Target="commentAuthors.xml"/><Relationship Id="rId19" Type="http://schemas.openxmlformats.org/officeDocument/2006/relationships/tableStyles" Target="tableStyles.xml"/><Relationship Id="rId4" Type="http://schemas.openxmlformats.org/officeDocument/2006/relationships/handoutMaster" Target="handoutMasters/handoutMaster1.xml"/><Relationship Id="rId14" Type="http://customschemas.google.com/relationships/presentationmetadata" Target="NUL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025046D-03B1-8745-7490-71464DA74D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2816701-1B6F-9071-0D83-BC8ACE6261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6CFE62-747F-4CEE-87FE-F861A59AF4EF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916B0B-46FF-4D24-398C-63E6192D46C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B53DA0-232B-4D2E-A39A-18A2FFBA5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5847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1) </a:t>
            </a:r>
            <a:r>
              <a:rPr lang="ko-KR" altLang="en-US" dirty="0"/>
              <a:t>초록 </a:t>
            </a:r>
            <a:r>
              <a:rPr lang="en-US" altLang="ko-KR" dirty="0"/>
              <a:t>-&gt; </a:t>
            </a:r>
            <a:r>
              <a:rPr lang="ko-KR" altLang="en-US" dirty="0"/>
              <a:t>요약으로 명칭 변경</a:t>
            </a: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userDrawn="1">
  <p:cSld name="TITLE">
    <p:bg>
      <p:bgPr>
        <a:solidFill>
          <a:schemeClr val="accent5">
            <a:lumMod val="75000"/>
            <a:alpha val="0"/>
          </a:schemeClr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55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배지 5">
            <a:extLst>
              <a:ext uri="{FF2B5EF4-FFF2-40B4-BE49-F238E27FC236}">
                <a16:creationId xmlns:a16="http://schemas.microsoft.com/office/drawing/2014/main" id="{E72A68F3-1010-FE84-56FD-7BD590E73C6A}"/>
              </a:ext>
            </a:extLst>
          </p:cNvPr>
          <p:cNvSpPr/>
          <p:nvPr/>
        </p:nvSpPr>
        <p:spPr>
          <a:xfrm>
            <a:off x="898790" y="6058480"/>
            <a:ext cx="28423794" cy="35902320"/>
          </a:xfrm>
          <a:prstGeom prst="plaque">
            <a:avLst>
              <a:gd name="adj" fmla="val 8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j-ea"/>
                <a:ea typeface="+mj-ea"/>
              </a:rPr>
              <a:t>Table 3. LMS and Estimated Absolute Viscosity(EAV) of Asphalt Mixtures After Various Year Field Services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" name="배지 3">
            <a:extLst>
              <a:ext uri="{FF2B5EF4-FFF2-40B4-BE49-F238E27FC236}">
                <a16:creationId xmlns:a16="http://schemas.microsoft.com/office/drawing/2014/main" id="{8CB396E3-7352-9E67-DC75-C06DEDBD4EFD}"/>
              </a:ext>
            </a:extLst>
          </p:cNvPr>
          <p:cNvSpPr/>
          <p:nvPr/>
        </p:nvSpPr>
        <p:spPr>
          <a:xfrm>
            <a:off x="0" y="-100399"/>
            <a:ext cx="30275213" cy="5450993"/>
          </a:xfrm>
          <a:prstGeom prst="plaque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j-ea"/>
                <a:ea typeface="+mj-ea"/>
              </a:rPr>
              <a:t>Table 3. LMS and Estimated Absolute Viscosity(EAV) of Asphalt Mixtures After Various Year Field Services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CD6982-3866-79AB-7A1F-45814199397C}"/>
              </a:ext>
            </a:extLst>
          </p:cNvPr>
          <p:cNvSpPr txBox="1"/>
          <p:nvPr/>
        </p:nvSpPr>
        <p:spPr>
          <a:xfrm>
            <a:off x="0" y="1427476"/>
            <a:ext cx="30275213" cy="132343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t" anchorCtr="0">
            <a:spAutoFit/>
          </a:bodyPr>
          <a:lstStyle/>
          <a:p>
            <a:pPr algn="ctr"/>
            <a:r>
              <a:rPr lang="ko-KR" altLang="en-US" sz="8000" b="1" spc="-300" dirty="0">
                <a:solidFill>
                  <a:schemeClr val="accent1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</a:rPr>
              <a:t>학용의 정신론</a:t>
            </a:r>
            <a:endParaRPr lang="ko-KR" altLang="en-US" sz="4400" b="1" spc="-300" dirty="0">
              <a:solidFill>
                <a:schemeClr val="accent1">
                  <a:lumMod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CF991B-2BF4-70D5-FFEF-1AC210EBE54C}"/>
              </a:ext>
            </a:extLst>
          </p:cNvPr>
          <p:cNvSpPr txBox="1"/>
          <p:nvPr/>
        </p:nvSpPr>
        <p:spPr>
          <a:xfrm>
            <a:off x="0" y="3631128"/>
            <a:ext cx="30275213" cy="707886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/>
            <a:r>
              <a:rPr lang="ko-KR" altLang="en-US" sz="4000" b="1" dirty="0">
                <a:solidFill>
                  <a:srgbClr val="0B3041"/>
                </a:solidFill>
                <a:latin typeface="+mj-ea"/>
                <a:ea typeface="+mj-ea"/>
              </a:rPr>
              <a:t>정 세 근    충북대학교 철학과 교수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87979F-F6F9-B98F-1091-D7F840DA3750}"/>
              </a:ext>
            </a:extLst>
          </p:cNvPr>
          <p:cNvSpPr txBox="1"/>
          <p:nvPr/>
        </p:nvSpPr>
        <p:spPr>
          <a:xfrm>
            <a:off x="2000870" y="10302550"/>
            <a:ext cx="22122488" cy="1080000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13000">
                <a:srgbClr val="687DB3"/>
              </a:gs>
              <a:gs pos="33000">
                <a:schemeClr val="bg1"/>
              </a:gs>
            </a:gsLst>
            <a:lin ang="18900000" scaled="1"/>
            <a:tileRect/>
          </a:gradFill>
          <a:effectLst>
            <a:softEdge rad="31750"/>
          </a:effectLst>
        </p:spPr>
        <p:txBody>
          <a:bodyPr wrap="square" rtlCol="0" anchor="ctr" anchorCtr="0">
            <a:noAutofit/>
          </a:bodyPr>
          <a:lstStyle/>
          <a:p>
            <a:pPr algn="ctr"/>
            <a:r>
              <a:rPr lang="ko-KR" altLang="en-US" sz="48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48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1. </a:t>
            </a:r>
            <a:r>
              <a:rPr lang="ko-KR" altLang="en-US" sz="48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들어가면서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809835-4C9E-5344-1B77-8ACD7D1B0E16}"/>
              </a:ext>
            </a:extLst>
          </p:cNvPr>
          <p:cNvSpPr txBox="1"/>
          <p:nvPr/>
        </p:nvSpPr>
        <p:spPr>
          <a:xfrm>
            <a:off x="1373145" y="15236760"/>
            <a:ext cx="27339458" cy="4795498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numCol="1" spcCol="180000" rtlCol="0" anchor="t" anchorCtr="0">
            <a:spAutoFit/>
          </a:bodyPr>
          <a:lstStyle/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노자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장자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회남자를 거쳐 논어와 맹자로 이어지는 정신의 여정을 살펴본다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노자에는 ‘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정신’이라는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단어가 등장하지 않지만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‘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정’은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순수한 물질로서 정기나 정력을 가리키고 ‘신’은 오늘날의 정신과 유사한 의미부터 초월적인 신성을 뜻하는 표현까지 다양하게 사용되었다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장자에서는 정과 신이 만나 ‘정신이 도로부터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나온다’는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선언이 중요한 의미를 지닌다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관자는 정과 신을 모두 기의 양상으로 이해하며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여씨춘추는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‘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정신’이라는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단어를 사용하기는 하지만 연수에 집중한다는 점에서 노자와 장자의 정신론을 이어받는다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논어에서는 정은 빻은 것을 뜻하며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신은 귀신을 뜻한다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맹자에는 ‘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정’이라는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단어가 등장하지 않고 ‘신’은 백성의 뜻을 아는 온갖 신이나 신묘함을 가리키는 의미로 사용된다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맹자에게는 신보다는 천이 더 중요했다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323BED-CD1D-D27B-695D-192F85167FC3}"/>
              </a:ext>
            </a:extLst>
          </p:cNvPr>
          <p:cNvSpPr txBox="1"/>
          <p:nvPr/>
        </p:nvSpPr>
        <p:spPr>
          <a:xfrm>
            <a:off x="2000870" y="6233105"/>
            <a:ext cx="21988862" cy="1080000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13000">
                <a:srgbClr val="687DB3"/>
              </a:gs>
              <a:gs pos="33000">
                <a:schemeClr val="bg1"/>
              </a:gs>
            </a:gsLst>
            <a:lin ang="18900000" scaled="1"/>
            <a:tileRect/>
          </a:gradFill>
          <a:effectLst>
            <a:softEdge rad="31750"/>
          </a:effectLst>
        </p:spPr>
        <p:txBody>
          <a:bodyPr wrap="square" rtlCol="0" anchor="ctr" anchorCtr="0">
            <a:noAutofit/>
          </a:bodyPr>
          <a:lstStyle/>
          <a:p>
            <a:pPr algn="ctr"/>
            <a:r>
              <a:rPr lang="ko-KR" altLang="en-US" sz="48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요약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DDE35E-537D-86D2-7553-3151EF11C247}"/>
              </a:ext>
            </a:extLst>
          </p:cNvPr>
          <p:cNvSpPr txBox="1"/>
          <p:nvPr/>
        </p:nvSpPr>
        <p:spPr>
          <a:xfrm>
            <a:off x="1373145" y="7367914"/>
            <a:ext cx="27339460" cy="2825728"/>
          </a:xfrm>
          <a:prstGeom prst="rect">
            <a:avLst/>
          </a:prstGeom>
          <a:solidFill>
            <a:srgbClr val="D2DBF2"/>
          </a:solidFill>
          <a:ln>
            <a:noFill/>
          </a:ln>
        </p:spPr>
        <p:txBody>
          <a:bodyPr wrap="square" lIns="180000" tIns="180000" rIns="180000" bIns="180000" numCol="1" spcCol="180000" rtlCol="0" anchor="t" anchorCtr="0">
            <a:spAutoFit/>
          </a:bodyPr>
          <a:lstStyle/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이 글은 도가와 유가의 정신 관념의 변천과 특징을 드러내기 위해 대학과 중용의 정과 신의 용법을 소개한다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노자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장자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회남자를 거쳐 논어와 맹자로 이어지는 정신 사상의 흐름을 살펴보면 도가에서는 정신의 중요성이 점차 커지고 회남자에 이르러서는 정신이라는 개념이 확립되는 것을 확인할 수 있다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특히 정신이 육체보다 우월한 지위를 갖는다는 점은 도가철학의 개인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주체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자율성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독립성을 강조하는 특징과 연결된다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반면 유가에서는 사회적 규범과 도덕을 중시하여 정신보다는 예를 강조한다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논어와 맹자에서 정신이라는 단어가 거의 등장하지 않는 것도 이러한 이유 때문이다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대학과 중용에서도 정신은 독립적인 지위를 갖지 못한다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3A6A4D-EDF4-0BB5-D496-D415A24CDFFF}"/>
              </a:ext>
            </a:extLst>
          </p:cNvPr>
          <p:cNvSpPr txBox="1"/>
          <p:nvPr/>
        </p:nvSpPr>
        <p:spPr>
          <a:xfrm>
            <a:off x="2000870" y="14049888"/>
            <a:ext cx="22030760" cy="1080001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13000">
                <a:srgbClr val="687DB3"/>
              </a:gs>
              <a:gs pos="33000">
                <a:schemeClr val="bg1"/>
              </a:gs>
            </a:gsLst>
            <a:lin ang="18900000" scaled="1"/>
            <a:tileRect/>
          </a:gradFill>
          <a:effectLst>
            <a:softEdge rad="31750"/>
          </a:effectLst>
        </p:spPr>
        <p:txBody>
          <a:bodyPr wrap="square" rtlCol="0" anchor="ctr" anchorCtr="0">
            <a:noAutofit/>
          </a:bodyPr>
          <a:lstStyle/>
          <a:p>
            <a:pPr algn="ctr"/>
            <a:r>
              <a:rPr lang="ko-KR" altLang="en-US" sz="48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48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2. </a:t>
            </a:r>
            <a:r>
              <a:rPr lang="ko-KR" altLang="en-US" sz="48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정신의 역사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4DC0AA-E852-DC2C-25CD-8C82F9D8EE66}"/>
              </a:ext>
            </a:extLst>
          </p:cNvPr>
          <p:cNvSpPr txBox="1"/>
          <p:nvPr/>
        </p:nvSpPr>
        <p:spPr>
          <a:xfrm>
            <a:off x="1367108" y="29936680"/>
            <a:ext cx="27538092" cy="331817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numCol="1" spcCol="180000" rtlCol="0" anchor="t" anchorCtr="0">
            <a:spAutoFit/>
          </a:bodyPr>
          <a:lstStyle/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대학에는 ‘신’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神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이 등장하지 않는다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중용에서는 신이 다섯 번 등장하지만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그중 세 번은 귀신을 뜻하는 ‘귀신’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鬼神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으로 사용되었다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중용 제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16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장에서는 귀신은 보이지는 않지만 만물이 형체를 갖추도록 하는 역할을 한다고 설명하며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시경을 인용하여 귀신의 신비함을 드러낸다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중용 제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24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장에서는 지극히 정성스러운 사람은 국가의 흥망을 미리 알 수 있으며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이는 지극히 정성스러운 것이 신과 같기 때문이라고 말한다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중용에 따르면 참된 것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誠者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은 하늘의 길이고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참되게 하는 것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誠之者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은 사람의 길이다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중용 제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29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장에서는 군자의 길은 삼왕에게 견주어도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천지에 세워도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귀신에게 물어보아도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백대 이후의 성인을 기다려도 부끄러움이 없어야 한다고 말한다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여기서 귀신은 삼왕이나 백세 이후의 성인과 마찬가지로 군자가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왕노릇할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때 두려워해야 하는 대상이다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214305-98CA-ACC9-3EA2-80B9388C30F7}"/>
              </a:ext>
            </a:extLst>
          </p:cNvPr>
          <p:cNvSpPr txBox="1"/>
          <p:nvPr/>
        </p:nvSpPr>
        <p:spPr>
          <a:xfrm>
            <a:off x="2000870" y="28753635"/>
            <a:ext cx="22030760" cy="1080001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13000">
                <a:srgbClr val="687DB3"/>
              </a:gs>
              <a:gs pos="33000">
                <a:schemeClr val="bg1"/>
              </a:gs>
            </a:gsLst>
            <a:lin ang="18900000" scaled="1"/>
            <a:tileRect/>
          </a:gradFill>
          <a:effectLst>
            <a:softEdge rad="31750"/>
          </a:effectLst>
        </p:spPr>
        <p:txBody>
          <a:bodyPr wrap="square" rtlCol="0" anchor="ctr" anchorCtr="0">
            <a:noAutofit/>
          </a:bodyPr>
          <a:lstStyle/>
          <a:p>
            <a:pPr algn="ctr"/>
            <a:r>
              <a:rPr lang="ko-KR" altLang="en-US" sz="48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48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5. </a:t>
            </a:r>
            <a:r>
              <a:rPr lang="ko-KR" altLang="en-US" sz="48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중용의 신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1E1F70-0924-DD2B-4C8B-7999CFD3F2B9}"/>
              </a:ext>
            </a:extLst>
          </p:cNvPr>
          <p:cNvSpPr txBox="1"/>
          <p:nvPr/>
        </p:nvSpPr>
        <p:spPr>
          <a:xfrm>
            <a:off x="1373145" y="21082469"/>
            <a:ext cx="27339458" cy="331817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numCol="1" spcCol="180000" rtlCol="0" anchor="t" anchorCtr="0">
            <a:spAutoFit/>
          </a:bodyPr>
          <a:lstStyle/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대학에는 ‘정’ 자가 한 번 등장하는데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제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5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장에서 주자가 삽입한 문장에 ‘정조’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精粗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의 정이라는 의미로 사용되었다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대학의 대전제는 ‘밝은 덕을 밝히는 것’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明明德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이며 밝은 덕을 밝혀 최고선에 이르는 방법으로 ‘그침을 아는 것’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知止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을 제시한다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대학은 세계를 바라보는 자와 전개되는 세계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즉 내면과 외면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내향과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외향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모두를 중요하게 다룬다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대학에 따르면 마음을 바로잡기 위해서는 앎을 다해야 하고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앎을 다하기 위해서는 사물과 마주해야 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‘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격물치지’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格物致知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는 사물과 마주하여 앎을 이루는 것을 의미한다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대학은 사람에게는 앎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知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을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사물에게는 이치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理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를 부여하여 사람이 만물의 도리를 깨닫기를 권한다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대학의 정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精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은 사물의 겉과 속을 아우르는 곱고 거침을 통해 사물의 완전성을 드러낸다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대학의 정은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체용일원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곧 정조일원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精粗一源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의 정으로 볼 수 있다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6AFDB9-565F-41AE-828A-3D76B9148461}"/>
              </a:ext>
            </a:extLst>
          </p:cNvPr>
          <p:cNvSpPr txBox="1"/>
          <p:nvPr/>
        </p:nvSpPr>
        <p:spPr>
          <a:xfrm>
            <a:off x="2000870" y="19857497"/>
            <a:ext cx="22030760" cy="1080001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13000">
                <a:srgbClr val="687DB3"/>
              </a:gs>
              <a:gs pos="33000">
                <a:schemeClr val="bg1"/>
              </a:gs>
            </a:gsLst>
            <a:lin ang="18900000" scaled="1"/>
            <a:tileRect/>
          </a:gradFill>
          <a:effectLst>
            <a:softEdge rad="31750"/>
          </a:effectLst>
        </p:spPr>
        <p:txBody>
          <a:bodyPr wrap="square" rtlCol="0" anchor="ctr" anchorCtr="0">
            <a:noAutofit/>
          </a:bodyPr>
          <a:lstStyle/>
          <a:p>
            <a:pPr algn="ctr"/>
            <a:r>
              <a:rPr lang="ko-KR" altLang="en-US" sz="48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48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3. </a:t>
            </a:r>
            <a:r>
              <a:rPr lang="ko-KR" altLang="en-US" sz="48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대학의 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324A4F-DB73-9AEA-3623-1F6D43CF6C61}"/>
              </a:ext>
            </a:extLst>
          </p:cNvPr>
          <p:cNvSpPr txBox="1"/>
          <p:nvPr/>
        </p:nvSpPr>
        <p:spPr>
          <a:xfrm>
            <a:off x="1373145" y="25596335"/>
            <a:ext cx="27339458" cy="331817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numCol="1" spcCol="180000" rtlCol="0" anchor="t" anchorCtr="0">
            <a:spAutoFit/>
          </a:bodyPr>
          <a:lstStyle/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중용에도 ‘정’ 자가 한 번 등장한다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예기에는 ‘정조’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精粗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의 용법이 ‘곱거나 거친 몸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형체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)’(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精粗之體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이라는 표현으로 나타난다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예기에 나오는 정 자의 독립된 용법을 살펴보면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첫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번째는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온갖 사물의 정령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精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으로 신령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神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으로 드러나는 것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두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번째는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**죽은 사람의 형체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形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가 떠난 후 남아 있는 정령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精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)**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을 의미한다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중용 제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27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장에 등장하는 정은 영혼의 세계가 아닌 인간의 세계에서 군자가 갖추어야 할 덕목을 설명하는 데 사용되었다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중용에서는 군자가 덕성을 존귀하게 여기고 학문을 연마하여 넓고 큰 것에 이르러 정미함을 다해야 한다고 말한다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중용의 정은 정밀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精密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의 정이며 예기의 정령과는 다른 의미를 지닌다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90E46E-599E-D29F-B776-5E31FECBDCC1}"/>
              </a:ext>
            </a:extLst>
          </p:cNvPr>
          <p:cNvSpPr txBox="1"/>
          <p:nvPr/>
        </p:nvSpPr>
        <p:spPr>
          <a:xfrm>
            <a:off x="2000870" y="24371363"/>
            <a:ext cx="22030760" cy="1080001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13000">
                <a:srgbClr val="687DB3"/>
              </a:gs>
              <a:gs pos="33000">
                <a:schemeClr val="bg1"/>
              </a:gs>
            </a:gsLst>
            <a:lin ang="18900000" scaled="1"/>
            <a:tileRect/>
          </a:gradFill>
          <a:effectLst>
            <a:softEdge rad="31750"/>
          </a:effectLst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ko-KR" sz="48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4. </a:t>
            </a:r>
            <a:r>
              <a:rPr lang="ko-KR" altLang="en-US" sz="48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중용의 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488305-741D-4655-A0AE-8B4866D0ED2D}"/>
              </a:ext>
            </a:extLst>
          </p:cNvPr>
          <p:cNvSpPr txBox="1"/>
          <p:nvPr/>
        </p:nvSpPr>
        <p:spPr>
          <a:xfrm>
            <a:off x="1373145" y="11465727"/>
            <a:ext cx="27339458" cy="2825728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numCol="1" spcCol="180000" rtlCol="0" anchor="t" anchorCtr="0">
            <a:spAutoFit/>
          </a:bodyPr>
          <a:lstStyle/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대학과 중용은 예기의 두 편을 주자가 독립시켜 사서로 편집한 것이다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공자와 맹자는 정신이 아닌 예로 돌아가고자 했기 때문에 유가에서 예와 관련하여 정신을 어떻게 다루는지 살펴보는 작업이 필요하다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대학과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중용에서조차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정신이 강조되지 않는다면 유가에게 정신은 중요한 의미를 갖지 않을 수도 있다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유가의 관심은 개체의 정신이나 초월적 세계가 아니라 개체의 정신이 보장되어야 초월적 세계도 인정될 수 있다는 입장이다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유가는 현실적이고 사회적인 민본의 사회이상을 실천하고자 했고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도가는 초월적 이상을 추구했다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대학과 중용의 정신론을 통해 유가 사유 속에서 정신이 어떻게 취급되는지 추적해 본다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2BD7A5-B4A8-86BD-5178-EDEBA54B6841}"/>
              </a:ext>
            </a:extLst>
          </p:cNvPr>
          <p:cNvSpPr txBox="1"/>
          <p:nvPr/>
        </p:nvSpPr>
        <p:spPr>
          <a:xfrm>
            <a:off x="1367108" y="34548626"/>
            <a:ext cx="27538092" cy="3810613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numCol="1" spcCol="180000" rtlCol="0" anchor="t" anchorCtr="0">
            <a:spAutoFit/>
          </a:bodyPr>
          <a:lstStyle/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대학에는 예 자가 나오지 않는 반면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중용에는 예와 관련된 이야기가 많이 나온다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중용을 논하면서 예기의 귀신론을 빼놓을 수 없는데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예기에서 신은 거의 귀신을 뜻하기 때문이다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예기에서 ‘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귀신’으로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관용적으로 쓰이는 것이 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37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차례나 등장하고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‘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귀신지도’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鬼神之道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나 ‘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귀신지제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’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鬼神之祭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와 같은 표현까지 합치면 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42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회나 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예기에서 귀신은 섬겨야 할 대상으로 여겨진다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예기에서는 ‘신’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神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)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자가 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73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차례 등장하지만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그 가운데 ‘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귀신’으로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연용하여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쓰는 경우가 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41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차례나 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‘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신명’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神明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까지 포함하면 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13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회가 더 늘어난다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예기에서 정신은 단 한 번 등장하는데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옥의 성질을 찬미하는 과정에서 비유적으로 사용될 뿐이다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예기에서 정신은 여타의 경전과는 달리 큰 의미를 갖지 못한다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7BA585-9448-DF73-81A0-F9C938D7ADA3}"/>
              </a:ext>
            </a:extLst>
          </p:cNvPr>
          <p:cNvSpPr txBox="1"/>
          <p:nvPr/>
        </p:nvSpPr>
        <p:spPr>
          <a:xfrm>
            <a:off x="2000870" y="33213181"/>
            <a:ext cx="22030760" cy="1080001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13000">
                <a:srgbClr val="687DB3"/>
              </a:gs>
              <a:gs pos="33000">
                <a:schemeClr val="bg1"/>
              </a:gs>
            </a:gsLst>
            <a:lin ang="18900000" scaled="1"/>
            <a:tileRect/>
          </a:gradFill>
          <a:effectLst>
            <a:softEdge rad="31750"/>
          </a:effectLst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ko-KR" sz="48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6. </a:t>
            </a:r>
            <a:r>
              <a:rPr lang="ko-KR" altLang="en-US" sz="48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예기와 정신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2A12EF-37DC-CAFC-2EC9-9704DB22772B}"/>
              </a:ext>
            </a:extLst>
          </p:cNvPr>
          <p:cNvSpPr txBox="1"/>
          <p:nvPr/>
        </p:nvSpPr>
        <p:spPr>
          <a:xfrm>
            <a:off x="1367107" y="39504184"/>
            <a:ext cx="27345495" cy="1840843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numCol="1" spcCol="180000" rtlCol="0" anchor="t" anchorCtr="0">
            <a:spAutoFit/>
          </a:bodyPr>
          <a:lstStyle/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예기에서 귀신은 인간의 외부에 존재하는 천신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天神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과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인귀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人鬼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로 나뉘며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인간의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형해와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정신으로도 나뉜다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예기뿐만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아니라 학용에서도 사람이 독립적으로 가질 수 있는 정신에 대한 논의는 찾아보기 어렵다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학용에서 정은 곱고 거침이라는 상대적인 의미로만 사용되며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신은 귀신을 뜻하는 ‘귀신’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鬼神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으로 사용된다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BA5A59-F7B7-46CA-18F2-4CB4DCCC6416}"/>
              </a:ext>
            </a:extLst>
          </p:cNvPr>
          <p:cNvSpPr txBox="1"/>
          <p:nvPr/>
        </p:nvSpPr>
        <p:spPr>
          <a:xfrm>
            <a:off x="2000870" y="38321139"/>
            <a:ext cx="22030760" cy="1080001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13000">
                <a:srgbClr val="687DB3"/>
              </a:gs>
              <a:gs pos="33000">
                <a:schemeClr val="bg1"/>
              </a:gs>
            </a:gsLst>
            <a:lin ang="18900000" scaled="1"/>
            <a:tileRect/>
          </a:gradFill>
          <a:effectLst>
            <a:softEdge rad="31750"/>
          </a:effectLst>
        </p:spPr>
        <p:txBody>
          <a:bodyPr wrap="square" rtlCol="0" anchor="ctr" anchorCtr="0">
            <a:noAutofit/>
          </a:bodyPr>
          <a:lstStyle/>
          <a:p>
            <a:pPr algn="ctr"/>
            <a:r>
              <a:rPr lang="ko-KR" altLang="en-US" sz="48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48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7. </a:t>
            </a:r>
            <a:r>
              <a:rPr lang="ko-KR" altLang="en-US" sz="48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정신보다는 귀신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9812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7322</TotalTime>
  <Words>992</Words>
  <Application>Microsoft Office PowerPoint</Application>
  <PresentationFormat>사용자 지정</PresentationFormat>
  <Paragraphs>35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Batang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하유 무</cp:lastModifiedBy>
  <cp:revision>961</cp:revision>
  <dcterms:created xsi:type="dcterms:W3CDTF">2024-07-31T09:14:56Z</dcterms:created>
  <dcterms:modified xsi:type="dcterms:W3CDTF">2024-12-05T05:02:32Z</dcterms:modified>
</cp:coreProperties>
</file>