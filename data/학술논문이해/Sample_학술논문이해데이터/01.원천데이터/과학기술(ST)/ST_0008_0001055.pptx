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3"/>
  </p:notesMasterIdLst>
  <p:sldIdLst>
    <p:sldId id="256" r:id="rId2"/>
  </p:sldIdLst>
  <p:sldSz cx="32040513" cy="42803763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6" roundtripDataSignature="AMtx7mgu7MAT7uuxaf8uor7qwu9y8mWQs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44E37"/>
    <a:srgbClr val="97B1A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7" d="100"/>
          <a:sy n="17" d="100"/>
        </p:scale>
        <p:origin x="3114" y="1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customschemas.google.com/relationships/presentationmetadata" Target="metadata"/><Relationship Id="rId10" Type="http://schemas.openxmlformats.org/officeDocument/2006/relationships/tableStyles" Target="tableStyles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010035" y="685800"/>
            <a:ext cx="48387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46300" y="685800"/>
            <a:ext cx="25654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제목 슬라이드" type="title">
  <p:cSld name="TITLE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3"/>
          <p:cNvSpPr txBox="1">
            <a:spLocks noGrp="1"/>
          </p:cNvSpPr>
          <p:nvPr>
            <p:ph type="ctrTitle"/>
          </p:nvPr>
        </p:nvSpPr>
        <p:spPr>
          <a:xfrm>
            <a:off x="4005000" y="7005198"/>
            <a:ext cx="24030000" cy="1490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50" tIns="45700" rIns="91450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700"/>
              <a:buFont typeface="Malgun Gothic"/>
              <a:buNone/>
              <a:defRPr sz="47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13" name="Google Shape;13;p3"/>
          <p:cNvSpPr txBox="1">
            <a:spLocks noGrp="1"/>
          </p:cNvSpPr>
          <p:nvPr>
            <p:ph type="subTitle" idx="1"/>
          </p:nvPr>
        </p:nvSpPr>
        <p:spPr>
          <a:xfrm>
            <a:off x="4005000" y="22482011"/>
            <a:ext cx="24030000" cy="1033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50" tIns="45700" rIns="91450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  <a:defRPr sz="19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/>
            </a:lvl9pPr>
          </a:lstStyle>
          <a:p>
            <a:endParaRPr/>
          </a:p>
        </p:txBody>
      </p:sp>
      <p:sp>
        <p:nvSpPr>
          <p:cNvPr id="14" name="Google Shape;14;p3"/>
          <p:cNvSpPr txBox="1">
            <a:spLocks noGrp="1"/>
          </p:cNvSpPr>
          <p:nvPr>
            <p:ph type="dt" idx="10"/>
          </p:nvPr>
        </p:nvSpPr>
        <p:spPr>
          <a:xfrm>
            <a:off x="2202752" y="39672969"/>
            <a:ext cx="7209000" cy="227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50" tIns="45700" rIns="91450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ftr" idx="11"/>
          </p:nvPr>
        </p:nvSpPr>
        <p:spPr>
          <a:xfrm>
            <a:off x="10613253" y="39672969"/>
            <a:ext cx="10813800" cy="227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50" tIns="45700" rIns="91450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" name="Google Shape;16;p3"/>
          <p:cNvSpPr txBox="1">
            <a:spLocks noGrp="1"/>
          </p:cNvSpPr>
          <p:nvPr>
            <p:ph type="sldNum" idx="12"/>
          </p:nvPr>
        </p:nvSpPr>
        <p:spPr>
          <a:xfrm>
            <a:off x="22628252" y="39672969"/>
            <a:ext cx="7209000" cy="227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50" tIns="45700" rIns="91450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6477E3BD-6C89-08A4-901A-6B72C4663878}"/>
              </a:ext>
            </a:extLst>
          </p:cNvPr>
          <p:cNvSpPr/>
          <p:nvPr userDrawn="1"/>
        </p:nvSpPr>
        <p:spPr>
          <a:xfrm>
            <a:off x="846931" y="6227999"/>
            <a:ext cx="30346650" cy="3583305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5" name="직선 연결선 4">
            <a:extLst>
              <a:ext uri="{FF2B5EF4-FFF2-40B4-BE49-F238E27FC236}">
                <a16:creationId xmlns:a16="http://schemas.microsoft.com/office/drawing/2014/main" id="{76BE9E96-8E1A-7FBC-93B8-1A0C0F45AD8C}"/>
              </a:ext>
            </a:extLst>
          </p:cNvPr>
          <p:cNvCxnSpPr>
            <a:cxnSpLocks/>
          </p:cNvCxnSpPr>
          <p:nvPr userDrawn="1"/>
        </p:nvCxnSpPr>
        <p:spPr>
          <a:xfrm>
            <a:off x="16020256" y="7924800"/>
            <a:ext cx="0" cy="33070800"/>
          </a:xfrm>
          <a:prstGeom prst="line">
            <a:avLst/>
          </a:prstGeom>
          <a:ln w="1016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제목 및 내용" type="obj">
  <p:cSld name="OBJECT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4"/>
          <p:cNvSpPr txBox="1">
            <a:spLocks noGrp="1"/>
          </p:cNvSpPr>
          <p:nvPr>
            <p:ph type="title"/>
          </p:nvPr>
        </p:nvSpPr>
        <p:spPr>
          <a:xfrm>
            <a:off x="2202754" y="2278921"/>
            <a:ext cx="27634200" cy="827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50" tIns="45700" rIns="91450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body" idx="1"/>
          </p:nvPr>
        </p:nvSpPr>
        <p:spPr>
          <a:xfrm>
            <a:off x="2202754" y="11394582"/>
            <a:ext cx="27634200" cy="271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50" tIns="45700" rIns="91450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0" name="Google Shape;20;p4"/>
          <p:cNvSpPr txBox="1">
            <a:spLocks noGrp="1"/>
          </p:cNvSpPr>
          <p:nvPr>
            <p:ph type="dt" idx="10"/>
          </p:nvPr>
        </p:nvSpPr>
        <p:spPr>
          <a:xfrm>
            <a:off x="2202752" y="39672969"/>
            <a:ext cx="7209000" cy="227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50" tIns="45700" rIns="91450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4"/>
          <p:cNvSpPr txBox="1">
            <a:spLocks noGrp="1"/>
          </p:cNvSpPr>
          <p:nvPr>
            <p:ph type="ftr" idx="11"/>
          </p:nvPr>
        </p:nvSpPr>
        <p:spPr>
          <a:xfrm>
            <a:off x="10613253" y="39672969"/>
            <a:ext cx="10813800" cy="227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50" tIns="45700" rIns="91450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4"/>
          <p:cNvSpPr txBox="1">
            <a:spLocks noGrp="1"/>
          </p:cNvSpPr>
          <p:nvPr>
            <p:ph type="sldNum" idx="12"/>
          </p:nvPr>
        </p:nvSpPr>
        <p:spPr>
          <a:xfrm>
            <a:off x="22628252" y="39672969"/>
            <a:ext cx="7209000" cy="227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50" tIns="45700" rIns="91450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구역 머리글" type="secHead">
  <p:cSld name="SECTION_HEADER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5"/>
          <p:cNvSpPr txBox="1">
            <a:spLocks noGrp="1"/>
          </p:cNvSpPr>
          <p:nvPr>
            <p:ph type="title"/>
          </p:nvPr>
        </p:nvSpPr>
        <p:spPr>
          <a:xfrm>
            <a:off x="2186065" y="10671283"/>
            <a:ext cx="27634200" cy="1780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50" tIns="45700" rIns="91450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700"/>
              <a:buFont typeface="Malgun Gothic"/>
              <a:buNone/>
              <a:defRPr sz="47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5"/>
          <p:cNvSpPr txBox="1">
            <a:spLocks noGrp="1"/>
          </p:cNvSpPr>
          <p:nvPr>
            <p:ph type="body" idx="1"/>
          </p:nvPr>
        </p:nvSpPr>
        <p:spPr>
          <a:xfrm>
            <a:off x="2186065" y="28645002"/>
            <a:ext cx="27634200" cy="936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50" tIns="45700" rIns="91450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57575"/>
              </a:buClr>
              <a:buSzPts val="1900"/>
              <a:buNone/>
              <a:defRPr sz="1900">
                <a:solidFill>
                  <a:srgbClr val="757575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400"/>
              <a:buNone/>
              <a:defRPr sz="1400">
                <a:solidFill>
                  <a:srgbClr val="757575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300"/>
              <a:buNone/>
              <a:defRPr sz="1300">
                <a:solidFill>
                  <a:srgbClr val="757575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300"/>
              <a:buNone/>
              <a:defRPr sz="1300">
                <a:solidFill>
                  <a:srgbClr val="757575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300"/>
              <a:buNone/>
              <a:defRPr sz="1300">
                <a:solidFill>
                  <a:srgbClr val="757575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300"/>
              <a:buNone/>
              <a:defRPr sz="1300">
                <a:solidFill>
                  <a:srgbClr val="757575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300"/>
              <a:buNone/>
              <a:defRPr sz="1300">
                <a:solidFill>
                  <a:srgbClr val="757575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300"/>
              <a:buNone/>
              <a:defRPr sz="1300">
                <a:solidFill>
                  <a:srgbClr val="757575"/>
                </a:solidFill>
              </a:defRPr>
            </a:lvl9pPr>
          </a:lstStyle>
          <a:p>
            <a:endParaRPr/>
          </a:p>
        </p:txBody>
      </p:sp>
      <p:sp>
        <p:nvSpPr>
          <p:cNvPr id="26" name="Google Shape;26;p5"/>
          <p:cNvSpPr txBox="1">
            <a:spLocks noGrp="1"/>
          </p:cNvSpPr>
          <p:nvPr>
            <p:ph type="dt" idx="10"/>
          </p:nvPr>
        </p:nvSpPr>
        <p:spPr>
          <a:xfrm>
            <a:off x="2202752" y="39672969"/>
            <a:ext cx="7209000" cy="227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50" tIns="45700" rIns="91450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5"/>
          <p:cNvSpPr txBox="1">
            <a:spLocks noGrp="1"/>
          </p:cNvSpPr>
          <p:nvPr>
            <p:ph type="ftr" idx="11"/>
          </p:nvPr>
        </p:nvSpPr>
        <p:spPr>
          <a:xfrm>
            <a:off x="10613253" y="39672969"/>
            <a:ext cx="10813800" cy="227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50" tIns="45700" rIns="91450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5"/>
          <p:cNvSpPr txBox="1">
            <a:spLocks noGrp="1"/>
          </p:cNvSpPr>
          <p:nvPr>
            <p:ph type="sldNum" idx="12"/>
          </p:nvPr>
        </p:nvSpPr>
        <p:spPr>
          <a:xfrm>
            <a:off x="22628252" y="39672969"/>
            <a:ext cx="7209000" cy="227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50" tIns="45700" rIns="91450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콘텐츠 2개" type="twoObj">
  <p:cSld name="TWO_OBJECTS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6"/>
          <p:cNvSpPr txBox="1">
            <a:spLocks noGrp="1"/>
          </p:cNvSpPr>
          <p:nvPr>
            <p:ph type="title"/>
          </p:nvPr>
        </p:nvSpPr>
        <p:spPr>
          <a:xfrm>
            <a:off x="2202754" y="2278921"/>
            <a:ext cx="27634200" cy="827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50" tIns="45700" rIns="91450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6"/>
          <p:cNvSpPr txBox="1">
            <a:spLocks noGrp="1"/>
          </p:cNvSpPr>
          <p:nvPr>
            <p:ph type="body" idx="1"/>
          </p:nvPr>
        </p:nvSpPr>
        <p:spPr>
          <a:xfrm>
            <a:off x="2202752" y="11394582"/>
            <a:ext cx="13617000" cy="271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50" tIns="45700" rIns="91450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2" name="Google Shape;32;p6"/>
          <p:cNvSpPr txBox="1">
            <a:spLocks noGrp="1"/>
          </p:cNvSpPr>
          <p:nvPr>
            <p:ph type="body" idx="2"/>
          </p:nvPr>
        </p:nvSpPr>
        <p:spPr>
          <a:xfrm>
            <a:off x="16220252" y="11394582"/>
            <a:ext cx="13617000" cy="271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50" tIns="45700" rIns="91450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3" name="Google Shape;33;p6"/>
          <p:cNvSpPr txBox="1">
            <a:spLocks noGrp="1"/>
          </p:cNvSpPr>
          <p:nvPr>
            <p:ph type="dt" idx="10"/>
          </p:nvPr>
        </p:nvSpPr>
        <p:spPr>
          <a:xfrm>
            <a:off x="2202752" y="39672969"/>
            <a:ext cx="7209000" cy="227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50" tIns="45700" rIns="91450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6"/>
          <p:cNvSpPr txBox="1">
            <a:spLocks noGrp="1"/>
          </p:cNvSpPr>
          <p:nvPr>
            <p:ph type="ftr" idx="11"/>
          </p:nvPr>
        </p:nvSpPr>
        <p:spPr>
          <a:xfrm>
            <a:off x="10613253" y="39672969"/>
            <a:ext cx="10813800" cy="227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50" tIns="45700" rIns="91450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sldNum" idx="12"/>
          </p:nvPr>
        </p:nvSpPr>
        <p:spPr>
          <a:xfrm>
            <a:off x="22628252" y="39672969"/>
            <a:ext cx="7209000" cy="227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50" tIns="45700" rIns="91450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비교" type="twoTxTwoObj">
  <p:cSld name="TWO_OBJECTS_WITH_TEX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7"/>
          <p:cNvSpPr txBox="1">
            <a:spLocks noGrp="1"/>
          </p:cNvSpPr>
          <p:nvPr>
            <p:ph type="title"/>
          </p:nvPr>
        </p:nvSpPr>
        <p:spPr>
          <a:xfrm>
            <a:off x="2206925" y="2278921"/>
            <a:ext cx="27634200" cy="827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50" tIns="45700" rIns="91450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7"/>
          <p:cNvSpPr txBox="1">
            <a:spLocks noGrp="1"/>
          </p:cNvSpPr>
          <p:nvPr>
            <p:ph type="body" idx="1"/>
          </p:nvPr>
        </p:nvSpPr>
        <p:spPr>
          <a:xfrm>
            <a:off x="2206928" y="10492930"/>
            <a:ext cx="13554300" cy="514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50" tIns="45700" rIns="91450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  <a:defRPr sz="19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 b="1"/>
            </a:lvl9pPr>
          </a:lstStyle>
          <a:p>
            <a:endParaRPr/>
          </a:p>
        </p:txBody>
      </p:sp>
      <p:sp>
        <p:nvSpPr>
          <p:cNvPr id="39" name="Google Shape;39;p7"/>
          <p:cNvSpPr txBox="1">
            <a:spLocks noGrp="1"/>
          </p:cNvSpPr>
          <p:nvPr>
            <p:ph type="body" idx="2"/>
          </p:nvPr>
        </p:nvSpPr>
        <p:spPr>
          <a:xfrm>
            <a:off x="2206928" y="15635350"/>
            <a:ext cx="13554300" cy="2299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50" tIns="45700" rIns="91450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0" name="Google Shape;40;p7"/>
          <p:cNvSpPr txBox="1">
            <a:spLocks noGrp="1"/>
          </p:cNvSpPr>
          <p:nvPr>
            <p:ph type="body" idx="3"/>
          </p:nvPr>
        </p:nvSpPr>
        <p:spPr>
          <a:xfrm>
            <a:off x="16220251" y="10492930"/>
            <a:ext cx="13621200" cy="514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50" tIns="45700" rIns="91450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  <a:defRPr sz="19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 b="1"/>
            </a:lvl9pPr>
          </a:lstStyle>
          <a:p>
            <a:endParaRPr/>
          </a:p>
        </p:txBody>
      </p:sp>
      <p:sp>
        <p:nvSpPr>
          <p:cNvPr id="41" name="Google Shape;41;p7"/>
          <p:cNvSpPr txBox="1">
            <a:spLocks noGrp="1"/>
          </p:cNvSpPr>
          <p:nvPr>
            <p:ph type="body" idx="4"/>
          </p:nvPr>
        </p:nvSpPr>
        <p:spPr>
          <a:xfrm>
            <a:off x="16220251" y="15635350"/>
            <a:ext cx="13621200" cy="2299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50" tIns="45700" rIns="91450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dt" idx="10"/>
          </p:nvPr>
        </p:nvSpPr>
        <p:spPr>
          <a:xfrm>
            <a:off x="2202752" y="39672969"/>
            <a:ext cx="7209000" cy="227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50" tIns="45700" rIns="91450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ftr" idx="11"/>
          </p:nvPr>
        </p:nvSpPr>
        <p:spPr>
          <a:xfrm>
            <a:off x="10613253" y="39672969"/>
            <a:ext cx="10813800" cy="227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50" tIns="45700" rIns="91450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sldNum" idx="12"/>
          </p:nvPr>
        </p:nvSpPr>
        <p:spPr>
          <a:xfrm>
            <a:off x="22628252" y="39672969"/>
            <a:ext cx="7209000" cy="227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50" tIns="45700" rIns="91450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제목만" type="titleOnly">
  <p:cSld name="TITLE_ONLY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8"/>
          <p:cNvSpPr txBox="1">
            <a:spLocks noGrp="1"/>
          </p:cNvSpPr>
          <p:nvPr>
            <p:ph type="title"/>
          </p:nvPr>
        </p:nvSpPr>
        <p:spPr>
          <a:xfrm>
            <a:off x="2202754" y="2278921"/>
            <a:ext cx="27634200" cy="827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50" tIns="45700" rIns="91450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8"/>
          <p:cNvSpPr txBox="1">
            <a:spLocks noGrp="1"/>
          </p:cNvSpPr>
          <p:nvPr>
            <p:ph type="dt" idx="10"/>
          </p:nvPr>
        </p:nvSpPr>
        <p:spPr>
          <a:xfrm>
            <a:off x="2202752" y="39672969"/>
            <a:ext cx="7209000" cy="227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50" tIns="45700" rIns="91450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8"/>
          <p:cNvSpPr txBox="1">
            <a:spLocks noGrp="1"/>
          </p:cNvSpPr>
          <p:nvPr>
            <p:ph type="ftr" idx="11"/>
          </p:nvPr>
        </p:nvSpPr>
        <p:spPr>
          <a:xfrm>
            <a:off x="10613253" y="39672969"/>
            <a:ext cx="10813800" cy="227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50" tIns="45700" rIns="91450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8"/>
          <p:cNvSpPr txBox="1">
            <a:spLocks noGrp="1"/>
          </p:cNvSpPr>
          <p:nvPr>
            <p:ph type="sldNum" idx="12"/>
          </p:nvPr>
        </p:nvSpPr>
        <p:spPr>
          <a:xfrm>
            <a:off x="22628252" y="39672969"/>
            <a:ext cx="7209000" cy="227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50" tIns="45700" rIns="91450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빈 화면" type="blank">
  <p:cSld name="BLANK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9"/>
          <p:cNvSpPr txBox="1">
            <a:spLocks noGrp="1"/>
          </p:cNvSpPr>
          <p:nvPr>
            <p:ph type="dt" idx="10"/>
          </p:nvPr>
        </p:nvSpPr>
        <p:spPr>
          <a:xfrm>
            <a:off x="2202752" y="39672969"/>
            <a:ext cx="7209000" cy="227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50" tIns="45700" rIns="91450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9"/>
          <p:cNvSpPr txBox="1">
            <a:spLocks noGrp="1"/>
          </p:cNvSpPr>
          <p:nvPr>
            <p:ph type="ftr" idx="11"/>
          </p:nvPr>
        </p:nvSpPr>
        <p:spPr>
          <a:xfrm>
            <a:off x="10613253" y="39672969"/>
            <a:ext cx="10813800" cy="227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50" tIns="45700" rIns="91450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9"/>
          <p:cNvSpPr txBox="1">
            <a:spLocks noGrp="1"/>
          </p:cNvSpPr>
          <p:nvPr>
            <p:ph type="sldNum" idx="12"/>
          </p:nvPr>
        </p:nvSpPr>
        <p:spPr>
          <a:xfrm>
            <a:off x="22628252" y="39672969"/>
            <a:ext cx="7209000" cy="227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50" tIns="45700" rIns="91450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캡션 있는 콘텐츠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0"/>
          <p:cNvSpPr txBox="1">
            <a:spLocks noGrp="1"/>
          </p:cNvSpPr>
          <p:nvPr>
            <p:ph type="title"/>
          </p:nvPr>
        </p:nvSpPr>
        <p:spPr>
          <a:xfrm>
            <a:off x="2206925" y="2853600"/>
            <a:ext cx="10333800" cy="99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50" tIns="45700" rIns="91450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Malgun Gothic"/>
              <a:buNone/>
              <a:defRPr sz="25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10"/>
          <p:cNvSpPr txBox="1">
            <a:spLocks noGrp="1"/>
          </p:cNvSpPr>
          <p:nvPr>
            <p:ph type="body" idx="1"/>
          </p:nvPr>
        </p:nvSpPr>
        <p:spPr>
          <a:xfrm>
            <a:off x="13621171" y="6162987"/>
            <a:ext cx="16220400" cy="3041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50" tIns="45700" rIns="91450" bIns="45700" anchor="t" anchorCtr="0">
            <a:normAutofit/>
          </a:bodyPr>
          <a:lstStyle>
            <a:lvl1pPr marL="457200" lvl="0" indent="-38735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500"/>
              <a:buChar char="•"/>
              <a:defRPr sz="2500"/>
            </a:lvl1pPr>
            <a:lvl2pPr marL="914400" lvl="1" indent="-3683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200"/>
              <a:buChar char="•"/>
              <a:defRPr sz="2200"/>
            </a:lvl2pPr>
            <a:lvl3pPr marL="1371600" lvl="2" indent="-3492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 sz="1900"/>
            </a:lvl3pPr>
            <a:lvl4pPr marL="1828800" lvl="3" indent="-330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4pPr>
            <a:lvl5pPr marL="2286000" lvl="4" indent="-330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5pPr>
            <a:lvl6pPr marL="2743200" lvl="5" indent="-330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57" name="Google Shape;57;p10"/>
          <p:cNvSpPr txBox="1">
            <a:spLocks noGrp="1"/>
          </p:cNvSpPr>
          <p:nvPr>
            <p:ph type="body" idx="2"/>
          </p:nvPr>
        </p:nvSpPr>
        <p:spPr>
          <a:xfrm>
            <a:off x="2206925" y="12841201"/>
            <a:ext cx="10333800" cy="2379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50" tIns="45700" rIns="91450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>
            <a:endParaRPr/>
          </a:p>
        </p:txBody>
      </p:sp>
      <p:sp>
        <p:nvSpPr>
          <p:cNvPr id="58" name="Google Shape;58;p10"/>
          <p:cNvSpPr txBox="1">
            <a:spLocks noGrp="1"/>
          </p:cNvSpPr>
          <p:nvPr>
            <p:ph type="dt" idx="10"/>
          </p:nvPr>
        </p:nvSpPr>
        <p:spPr>
          <a:xfrm>
            <a:off x="2202752" y="39672969"/>
            <a:ext cx="7209000" cy="227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50" tIns="45700" rIns="91450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10"/>
          <p:cNvSpPr txBox="1">
            <a:spLocks noGrp="1"/>
          </p:cNvSpPr>
          <p:nvPr>
            <p:ph type="ftr" idx="11"/>
          </p:nvPr>
        </p:nvSpPr>
        <p:spPr>
          <a:xfrm>
            <a:off x="10613253" y="39672969"/>
            <a:ext cx="10813800" cy="227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50" tIns="45700" rIns="91450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10"/>
          <p:cNvSpPr txBox="1">
            <a:spLocks noGrp="1"/>
          </p:cNvSpPr>
          <p:nvPr>
            <p:ph type="sldNum" idx="12"/>
          </p:nvPr>
        </p:nvSpPr>
        <p:spPr>
          <a:xfrm>
            <a:off x="22628252" y="39672969"/>
            <a:ext cx="7209000" cy="227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50" tIns="45700" rIns="91450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캡션 있는 그림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1"/>
          <p:cNvSpPr txBox="1">
            <a:spLocks noGrp="1"/>
          </p:cNvSpPr>
          <p:nvPr>
            <p:ph type="title"/>
          </p:nvPr>
        </p:nvSpPr>
        <p:spPr>
          <a:xfrm>
            <a:off x="2206925" y="2853600"/>
            <a:ext cx="10333800" cy="99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50" tIns="45700" rIns="91450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Malgun Gothic"/>
              <a:buNone/>
              <a:defRPr sz="25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1"/>
          <p:cNvSpPr>
            <a:spLocks noGrp="1"/>
          </p:cNvSpPr>
          <p:nvPr>
            <p:ph type="pic" idx="2"/>
          </p:nvPr>
        </p:nvSpPr>
        <p:spPr>
          <a:xfrm>
            <a:off x="13621171" y="6162987"/>
            <a:ext cx="16220400" cy="304185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1"/>
          <p:cNvSpPr txBox="1">
            <a:spLocks noGrp="1"/>
          </p:cNvSpPr>
          <p:nvPr>
            <p:ph type="body" idx="1"/>
          </p:nvPr>
        </p:nvSpPr>
        <p:spPr>
          <a:xfrm>
            <a:off x="2206925" y="12841201"/>
            <a:ext cx="10333800" cy="2379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50" tIns="45700" rIns="91450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>
            <a:endParaRPr/>
          </a:p>
        </p:txBody>
      </p:sp>
      <p:sp>
        <p:nvSpPr>
          <p:cNvPr id="65" name="Google Shape;65;p11"/>
          <p:cNvSpPr txBox="1">
            <a:spLocks noGrp="1"/>
          </p:cNvSpPr>
          <p:nvPr>
            <p:ph type="dt" idx="10"/>
          </p:nvPr>
        </p:nvSpPr>
        <p:spPr>
          <a:xfrm>
            <a:off x="2202752" y="39672969"/>
            <a:ext cx="7209000" cy="227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50" tIns="45700" rIns="91450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1"/>
          <p:cNvSpPr txBox="1">
            <a:spLocks noGrp="1"/>
          </p:cNvSpPr>
          <p:nvPr>
            <p:ph type="ftr" idx="11"/>
          </p:nvPr>
        </p:nvSpPr>
        <p:spPr>
          <a:xfrm>
            <a:off x="10613253" y="39672969"/>
            <a:ext cx="10813800" cy="227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50" tIns="45700" rIns="91450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1"/>
          <p:cNvSpPr txBox="1">
            <a:spLocks noGrp="1"/>
          </p:cNvSpPr>
          <p:nvPr>
            <p:ph type="sldNum" idx="12"/>
          </p:nvPr>
        </p:nvSpPr>
        <p:spPr>
          <a:xfrm>
            <a:off x="22628252" y="39672969"/>
            <a:ext cx="7209000" cy="227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50" tIns="45700" rIns="91450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제목 및 세로 텍스트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2"/>
          <p:cNvSpPr txBox="1">
            <a:spLocks noGrp="1"/>
          </p:cNvSpPr>
          <p:nvPr>
            <p:ph type="title"/>
          </p:nvPr>
        </p:nvSpPr>
        <p:spPr>
          <a:xfrm>
            <a:off x="2202754" y="2278921"/>
            <a:ext cx="27634200" cy="827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50" tIns="45700" rIns="91450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2"/>
          <p:cNvSpPr txBox="1">
            <a:spLocks noGrp="1"/>
          </p:cNvSpPr>
          <p:nvPr>
            <p:ph type="body" idx="1"/>
          </p:nvPr>
        </p:nvSpPr>
        <p:spPr>
          <a:xfrm rot="5400000">
            <a:off x="2440803" y="11156832"/>
            <a:ext cx="27158700" cy="2763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50" tIns="45700" rIns="91450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2"/>
          <p:cNvSpPr txBox="1">
            <a:spLocks noGrp="1"/>
          </p:cNvSpPr>
          <p:nvPr>
            <p:ph type="dt" idx="10"/>
          </p:nvPr>
        </p:nvSpPr>
        <p:spPr>
          <a:xfrm>
            <a:off x="2202752" y="39672969"/>
            <a:ext cx="7209000" cy="227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50" tIns="45700" rIns="91450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2"/>
          <p:cNvSpPr txBox="1">
            <a:spLocks noGrp="1"/>
          </p:cNvSpPr>
          <p:nvPr>
            <p:ph type="ftr" idx="11"/>
          </p:nvPr>
        </p:nvSpPr>
        <p:spPr>
          <a:xfrm>
            <a:off x="10613253" y="39672969"/>
            <a:ext cx="10813800" cy="227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50" tIns="45700" rIns="91450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2"/>
          <p:cNvSpPr txBox="1">
            <a:spLocks noGrp="1"/>
          </p:cNvSpPr>
          <p:nvPr>
            <p:ph type="sldNum" idx="12"/>
          </p:nvPr>
        </p:nvSpPr>
        <p:spPr>
          <a:xfrm>
            <a:off x="22628252" y="39672969"/>
            <a:ext cx="7209000" cy="227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50" tIns="45700" rIns="91450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세로 제목 및 텍스트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3"/>
          <p:cNvSpPr txBox="1">
            <a:spLocks noGrp="1"/>
          </p:cNvSpPr>
          <p:nvPr>
            <p:ph type="title"/>
          </p:nvPr>
        </p:nvSpPr>
        <p:spPr>
          <a:xfrm rot="5400000">
            <a:off x="8245803" y="16961967"/>
            <a:ext cx="36274500" cy="690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50" tIns="45700" rIns="91450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3"/>
          <p:cNvSpPr txBox="1">
            <a:spLocks noGrp="1"/>
          </p:cNvSpPr>
          <p:nvPr>
            <p:ph type="body" idx="1"/>
          </p:nvPr>
        </p:nvSpPr>
        <p:spPr>
          <a:xfrm rot="5400000">
            <a:off x="-5771772" y="10253517"/>
            <a:ext cx="36274500" cy="2032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50" tIns="45700" rIns="91450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3"/>
          <p:cNvSpPr txBox="1">
            <a:spLocks noGrp="1"/>
          </p:cNvSpPr>
          <p:nvPr>
            <p:ph type="dt" idx="10"/>
          </p:nvPr>
        </p:nvSpPr>
        <p:spPr>
          <a:xfrm>
            <a:off x="2202752" y="39672969"/>
            <a:ext cx="7209000" cy="227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50" tIns="45700" rIns="91450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3"/>
          <p:cNvSpPr txBox="1">
            <a:spLocks noGrp="1"/>
          </p:cNvSpPr>
          <p:nvPr>
            <p:ph type="ftr" idx="11"/>
          </p:nvPr>
        </p:nvSpPr>
        <p:spPr>
          <a:xfrm>
            <a:off x="10613253" y="39672969"/>
            <a:ext cx="10813800" cy="227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50" tIns="45700" rIns="91450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3"/>
          <p:cNvSpPr txBox="1">
            <a:spLocks noGrp="1"/>
          </p:cNvSpPr>
          <p:nvPr>
            <p:ph type="sldNum" idx="12"/>
          </p:nvPr>
        </p:nvSpPr>
        <p:spPr>
          <a:xfrm>
            <a:off x="22628252" y="39672969"/>
            <a:ext cx="7209000" cy="227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50" tIns="45700" rIns="91450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2"/>
          <p:cNvSpPr txBox="1">
            <a:spLocks noGrp="1"/>
          </p:cNvSpPr>
          <p:nvPr>
            <p:ph type="title"/>
          </p:nvPr>
        </p:nvSpPr>
        <p:spPr>
          <a:xfrm>
            <a:off x="2202754" y="2278921"/>
            <a:ext cx="27634200" cy="827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50" tIns="45700" rIns="91450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Malgun Gothic"/>
              <a:buNone/>
              <a:defRPr sz="44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p2"/>
          <p:cNvSpPr txBox="1">
            <a:spLocks noGrp="1"/>
          </p:cNvSpPr>
          <p:nvPr>
            <p:ph type="body" idx="1"/>
          </p:nvPr>
        </p:nvSpPr>
        <p:spPr>
          <a:xfrm>
            <a:off x="2202754" y="11394582"/>
            <a:ext cx="27634200" cy="271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50" tIns="45700" rIns="91450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endParaRPr/>
          </a:p>
        </p:txBody>
      </p:sp>
      <p:sp>
        <p:nvSpPr>
          <p:cNvPr id="8" name="Google Shape;8;p2"/>
          <p:cNvSpPr txBox="1">
            <a:spLocks noGrp="1"/>
          </p:cNvSpPr>
          <p:nvPr>
            <p:ph type="dt" idx="10"/>
          </p:nvPr>
        </p:nvSpPr>
        <p:spPr>
          <a:xfrm>
            <a:off x="2202752" y="39672969"/>
            <a:ext cx="7209000" cy="227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50" tIns="45700" rIns="91450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endParaRPr/>
          </a:p>
        </p:txBody>
      </p:sp>
      <p:sp>
        <p:nvSpPr>
          <p:cNvPr id="9" name="Google Shape;9;p2"/>
          <p:cNvSpPr txBox="1">
            <a:spLocks noGrp="1"/>
          </p:cNvSpPr>
          <p:nvPr>
            <p:ph type="ftr" idx="11"/>
          </p:nvPr>
        </p:nvSpPr>
        <p:spPr>
          <a:xfrm>
            <a:off x="10613253" y="39672969"/>
            <a:ext cx="10813800" cy="227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50" tIns="45700" rIns="91450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endParaRPr/>
          </a:p>
        </p:txBody>
      </p:sp>
      <p:sp>
        <p:nvSpPr>
          <p:cNvPr id="10" name="Google Shape;10;p2"/>
          <p:cNvSpPr txBox="1">
            <a:spLocks noGrp="1"/>
          </p:cNvSpPr>
          <p:nvPr>
            <p:ph type="sldNum" idx="12"/>
          </p:nvPr>
        </p:nvSpPr>
        <p:spPr>
          <a:xfrm>
            <a:off x="22628252" y="39672969"/>
            <a:ext cx="7209000" cy="227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50" tIns="45700" rIns="91450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rgbClr val="97B1A7"/>
            </a:gs>
            <a:gs pos="49000">
              <a:schemeClr val="accent2">
                <a:lumMod val="0"/>
                <a:lumOff val="100000"/>
              </a:schemeClr>
            </a:gs>
            <a:gs pos="100000">
              <a:srgbClr val="144E37"/>
            </a:gs>
          </a:gsLst>
          <a:path path="circle">
            <a:fillToRect l="100000" t="100000"/>
          </a:path>
          <a:tileRect r="-100000" b="-100000"/>
        </a:grad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219B045-DAD9-153A-19BC-F21C85C46238}"/>
              </a:ext>
            </a:extLst>
          </p:cNvPr>
          <p:cNvSpPr txBox="1"/>
          <p:nvPr/>
        </p:nvSpPr>
        <p:spPr>
          <a:xfrm>
            <a:off x="-1" y="1063549"/>
            <a:ext cx="32040514" cy="2524867"/>
          </a:xfrm>
          <a:prstGeom prst="rect">
            <a:avLst/>
          </a:prstGeom>
          <a:noFill/>
        </p:spPr>
        <p:txBody>
          <a:bodyPr wrap="square" rtlCol="0" anchor="t" anchorCtr="0">
            <a:noAutofit/>
          </a:bodyPr>
          <a:lstStyle/>
          <a:p>
            <a:pPr algn="ctr"/>
            <a:r>
              <a:rPr lang="ko-KR" altLang="en-US" sz="72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예비 </a:t>
            </a:r>
            <a:r>
              <a:rPr lang="ko-KR" altLang="en-US" sz="7200" b="1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사회과</a:t>
            </a:r>
            <a:r>
              <a:rPr lang="ko-KR" altLang="en-US" sz="72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 교사의 현지조사에 대한 인식 유형 탐색</a:t>
            </a:r>
            <a:r>
              <a:rPr lang="en-US" altLang="ko-KR" sz="72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: Q</a:t>
            </a:r>
            <a:r>
              <a:rPr lang="ko-KR" altLang="en-US" sz="72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방법론적 접근</a:t>
            </a:r>
            <a:endParaRPr lang="en-US" altLang="ko-KR" sz="72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j-ea"/>
              <a:ea typeface="+mj-ea"/>
            </a:endParaRPr>
          </a:p>
          <a:p>
            <a:pPr algn="ctr">
              <a:spcBef>
                <a:spcPts val="1800"/>
              </a:spcBef>
            </a:pPr>
            <a:r>
              <a:rPr lang="en-US" altLang="ko-KR" sz="60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Exploring the Perception Types of Pre-Service Social Studies Teachers </a:t>
            </a:r>
          </a:p>
          <a:p>
            <a:pPr algn="ctr"/>
            <a:r>
              <a:rPr lang="en-US" altLang="ko-KR" sz="60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on the Fieldwork: Q-Methodological Approach</a:t>
            </a:r>
            <a:endParaRPr lang="ko-KR" altLang="en-US" sz="60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j-ea"/>
              <a:ea typeface="+mj-ea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DE9A64C-303B-FA87-AEB9-6C13FEAF1FFF}"/>
              </a:ext>
            </a:extLst>
          </p:cNvPr>
          <p:cNvSpPr txBox="1"/>
          <p:nvPr/>
        </p:nvSpPr>
        <p:spPr>
          <a:xfrm>
            <a:off x="3135362" y="4662457"/>
            <a:ext cx="25769789" cy="769441"/>
          </a:xfrm>
          <a:prstGeom prst="rect">
            <a:avLst/>
          </a:prstGeom>
          <a:noFill/>
        </p:spPr>
        <p:txBody>
          <a:bodyPr wrap="square" rtlCol="0" anchor="t" anchorCtr="0">
            <a:spAutoFit/>
          </a:bodyPr>
          <a:lstStyle/>
          <a:p>
            <a:pPr algn="ctr"/>
            <a:r>
              <a:rPr lang="ko-KR" altLang="en-US" sz="4400" dirty="0">
                <a:solidFill>
                  <a:schemeClr val="bg1"/>
                </a:solidFill>
                <a:latin typeface="+mj-ea"/>
                <a:ea typeface="+mj-ea"/>
              </a:rPr>
              <a:t>곽민정</a:t>
            </a:r>
            <a:r>
              <a:rPr lang="en-US" altLang="ko-KR" sz="4400" dirty="0">
                <a:solidFill>
                  <a:schemeClr val="bg1"/>
                </a:solidFill>
                <a:latin typeface="+mj-ea"/>
                <a:ea typeface="+mj-ea"/>
              </a:rPr>
              <a:t>(</a:t>
            </a:r>
            <a:r>
              <a:rPr lang="ko-KR" altLang="en-US" sz="3200" dirty="0">
                <a:solidFill>
                  <a:schemeClr val="bg1"/>
                </a:solidFill>
                <a:latin typeface="+mj-ea"/>
                <a:ea typeface="+mj-ea"/>
              </a:rPr>
              <a:t>인하대학교 다문화교육 박사과정</a:t>
            </a:r>
            <a:r>
              <a:rPr lang="en-US" altLang="ko-KR" sz="4400" dirty="0">
                <a:solidFill>
                  <a:schemeClr val="bg1"/>
                </a:solidFill>
                <a:latin typeface="+mj-ea"/>
                <a:ea typeface="+mj-ea"/>
              </a:rPr>
              <a:t>) </a:t>
            </a:r>
            <a:r>
              <a:rPr lang="ko-KR" altLang="en-US" sz="4400" dirty="0" err="1">
                <a:solidFill>
                  <a:schemeClr val="bg1"/>
                </a:solidFill>
                <a:latin typeface="+mj-ea"/>
                <a:ea typeface="+mj-ea"/>
              </a:rPr>
              <a:t>문희진</a:t>
            </a:r>
            <a:r>
              <a:rPr lang="en-US" altLang="ko-KR" sz="4400" dirty="0">
                <a:solidFill>
                  <a:schemeClr val="bg1"/>
                </a:solidFill>
                <a:latin typeface="+mj-ea"/>
                <a:ea typeface="+mj-ea"/>
              </a:rPr>
              <a:t>(</a:t>
            </a:r>
            <a:r>
              <a:rPr lang="ko-KR" altLang="en-US" sz="3200" dirty="0">
                <a:solidFill>
                  <a:schemeClr val="bg1"/>
                </a:solidFill>
                <a:latin typeface="+mj-ea"/>
                <a:ea typeface="+mj-ea"/>
              </a:rPr>
              <a:t>인하대학교 다문화교육 박사수료</a:t>
            </a:r>
            <a:r>
              <a:rPr lang="en-US" altLang="ko-KR" sz="4400" dirty="0">
                <a:solidFill>
                  <a:schemeClr val="bg1"/>
                </a:solidFill>
                <a:latin typeface="+mj-ea"/>
                <a:ea typeface="+mj-ea"/>
              </a:rPr>
              <a:t>) </a:t>
            </a:r>
            <a:r>
              <a:rPr lang="ko-KR" altLang="en-US" sz="4400" dirty="0">
                <a:solidFill>
                  <a:schemeClr val="bg1"/>
                </a:solidFill>
                <a:latin typeface="+mj-ea"/>
                <a:ea typeface="+mj-ea"/>
              </a:rPr>
              <a:t>김영순</a:t>
            </a:r>
            <a:r>
              <a:rPr lang="en-US" altLang="ko-KR" sz="4400" dirty="0">
                <a:solidFill>
                  <a:schemeClr val="bg1"/>
                </a:solidFill>
                <a:latin typeface="+mj-ea"/>
                <a:ea typeface="+mj-ea"/>
              </a:rPr>
              <a:t>(</a:t>
            </a:r>
            <a:r>
              <a:rPr lang="ko-KR" altLang="en-US" sz="3200" dirty="0">
                <a:solidFill>
                  <a:schemeClr val="bg1"/>
                </a:solidFill>
                <a:latin typeface="+mj-ea"/>
                <a:ea typeface="+mj-ea"/>
              </a:rPr>
              <a:t>인하대학교 사회교육과 교수</a:t>
            </a:r>
            <a:r>
              <a:rPr lang="en-US" altLang="ko-KR" sz="4400" dirty="0">
                <a:solidFill>
                  <a:schemeClr val="bg1"/>
                </a:solidFill>
                <a:latin typeface="+mj-ea"/>
                <a:ea typeface="+mj-ea"/>
              </a:rPr>
              <a:t>)</a:t>
            </a:r>
            <a:endParaRPr lang="ko-KR" altLang="en-US" sz="4400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5DB26C8-E49A-3FB8-CE57-5F42CF5D2478}"/>
              </a:ext>
            </a:extLst>
          </p:cNvPr>
          <p:cNvSpPr txBox="1"/>
          <p:nvPr/>
        </p:nvSpPr>
        <p:spPr>
          <a:xfrm>
            <a:off x="2193464" y="7053531"/>
            <a:ext cx="12831097" cy="988142"/>
          </a:xfrm>
          <a:prstGeom prst="roundRect">
            <a:avLst/>
          </a:prstGeom>
          <a:solidFill>
            <a:schemeClr val="tx2">
              <a:lumMod val="10000"/>
            </a:schemeClr>
          </a:solidFill>
        </p:spPr>
        <p:txBody>
          <a:bodyPr wrap="square" rtlCol="0" anchor="ctr" anchorCtr="0">
            <a:noAutofit/>
          </a:bodyPr>
          <a:lstStyle/>
          <a:p>
            <a:pPr algn="ctr"/>
            <a:r>
              <a:rPr lang="ko-KR" altLang="en-US" sz="48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맑은 고딕" panose="020B0503020000020004" pitchFamily="50" charset="-127"/>
                <a:ea typeface="맑은 고딕" panose="020B0503020000020004" pitchFamily="50" charset="-127"/>
              </a:rPr>
              <a:t>요약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4258C04-AAFA-D125-830D-66564C888C99}"/>
              </a:ext>
            </a:extLst>
          </p:cNvPr>
          <p:cNvSpPr txBox="1"/>
          <p:nvPr/>
        </p:nvSpPr>
        <p:spPr>
          <a:xfrm>
            <a:off x="1497928" y="8346473"/>
            <a:ext cx="14077932" cy="4554851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</p:spPr>
        <p:txBody>
          <a:bodyPr wrap="square" lIns="216000" tIns="216000" rIns="252000" bIns="180000" rtlCol="0" anchor="t" anchorCtr="0">
            <a:spAutoFit/>
          </a:bodyPr>
          <a:lstStyle/>
          <a:p>
            <a:pPr algn="just"/>
            <a:r>
              <a:rPr lang="ko-KR" altLang="en-US" sz="3000" dirty="0">
                <a:solidFill>
                  <a:schemeClr val="bg1"/>
                </a:solidFill>
                <a:latin typeface="+mn-ea"/>
                <a:ea typeface="+mn-ea"/>
              </a:rPr>
              <a:t>본 연구의 목적은 교육 현장에서 현지조사를 어떻게 인식하고 이를 교육에 통합할 수 있는지를 파악하는 것이다</a:t>
            </a:r>
            <a:r>
              <a:rPr lang="en-US" altLang="ko-KR" sz="3000" dirty="0">
                <a:solidFill>
                  <a:schemeClr val="bg1"/>
                </a:solidFill>
                <a:latin typeface="+mn-ea"/>
                <a:ea typeface="+mn-ea"/>
              </a:rPr>
              <a:t>. </a:t>
            </a:r>
            <a:r>
              <a:rPr lang="ko-KR" altLang="en-US" sz="3000" dirty="0">
                <a:solidFill>
                  <a:schemeClr val="bg1"/>
                </a:solidFill>
                <a:latin typeface="+mn-ea"/>
                <a:ea typeface="+mn-ea"/>
              </a:rPr>
              <a:t>예비 </a:t>
            </a:r>
            <a:r>
              <a:rPr lang="ko-KR" altLang="en-US" sz="3000" dirty="0" err="1">
                <a:solidFill>
                  <a:schemeClr val="bg1"/>
                </a:solidFill>
                <a:latin typeface="+mn-ea"/>
                <a:ea typeface="+mn-ea"/>
              </a:rPr>
              <a:t>사회과</a:t>
            </a:r>
            <a:r>
              <a:rPr lang="ko-KR" altLang="en-US" sz="3000" dirty="0">
                <a:solidFill>
                  <a:schemeClr val="bg1"/>
                </a:solidFill>
                <a:latin typeface="+mn-ea"/>
                <a:ea typeface="+mn-ea"/>
              </a:rPr>
              <a:t> 교사들의 현지조사에 대한 인식을 탐색하기 위해 </a:t>
            </a:r>
            <a:r>
              <a:rPr lang="en-US" altLang="ko-KR" sz="3000" dirty="0">
                <a:solidFill>
                  <a:schemeClr val="bg1"/>
                </a:solidFill>
                <a:latin typeface="+mn-ea"/>
                <a:ea typeface="+mn-ea"/>
              </a:rPr>
              <a:t>Q</a:t>
            </a:r>
            <a:r>
              <a:rPr lang="ko-KR" altLang="en-US" sz="3000" dirty="0">
                <a:solidFill>
                  <a:schemeClr val="bg1"/>
                </a:solidFill>
                <a:latin typeface="+mn-ea"/>
                <a:ea typeface="+mn-ea"/>
              </a:rPr>
              <a:t>방법론을 사용하였으며</a:t>
            </a:r>
            <a:r>
              <a:rPr lang="en-US" altLang="ko-KR" sz="3000" dirty="0">
                <a:solidFill>
                  <a:schemeClr val="bg1"/>
                </a:solidFill>
                <a:latin typeface="+mn-ea"/>
                <a:ea typeface="+mn-ea"/>
              </a:rPr>
              <a:t>, 17</a:t>
            </a:r>
            <a:r>
              <a:rPr lang="ko-KR" altLang="en-US" sz="3000" dirty="0">
                <a:solidFill>
                  <a:schemeClr val="bg1"/>
                </a:solidFill>
                <a:latin typeface="+mn-ea"/>
                <a:ea typeface="+mn-ea"/>
              </a:rPr>
              <a:t>명의 예비 교사를 대상으로 자료를 분석한 결과</a:t>
            </a:r>
            <a:r>
              <a:rPr lang="en-US" altLang="ko-KR" sz="3000" dirty="0">
                <a:solidFill>
                  <a:schemeClr val="bg1"/>
                </a:solidFill>
                <a:latin typeface="+mn-ea"/>
                <a:ea typeface="+mn-ea"/>
              </a:rPr>
              <a:t>, '</a:t>
            </a:r>
            <a:r>
              <a:rPr lang="ko-KR" altLang="en-US" sz="3000" dirty="0">
                <a:solidFill>
                  <a:schemeClr val="bg1"/>
                </a:solidFill>
                <a:latin typeface="+mn-ea"/>
                <a:ea typeface="+mn-ea"/>
              </a:rPr>
              <a:t>역량 강화형</a:t>
            </a:r>
            <a:r>
              <a:rPr lang="en-US" altLang="ko-KR" sz="3000" dirty="0">
                <a:solidFill>
                  <a:schemeClr val="bg1"/>
                </a:solidFill>
                <a:latin typeface="+mn-ea"/>
                <a:ea typeface="+mn-ea"/>
              </a:rPr>
              <a:t>', '</a:t>
            </a:r>
            <a:r>
              <a:rPr lang="ko-KR" altLang="en-US" sz="3000" dirty="0">
                <a:solidFill>
                  <a:schemeClr val="bg1"/>
                </a:solidFill>
                <a:latin typeface="+mn-ea"/>
                <a:ea typeface="+mn-ea"/>
              </a:rPr>
              <a:t>도전적 성장형</a:t>
            </a:r>
            <a:r>
              <a:rPr lang="en-US" altLang="ko-KR" sz="3000" dirty="0">
                <a:solidFill>
                  <a:schemeClr val="bg1"/>
                </a:solidFill>
                <a:latin typeface="+mn-ea"/>
                <a:ea typeface="+mn-ea"/>
              </a:rPr>
              <a:t>', '</a:t>
            </a:r>
            <a:r>
              <a:rPr lang="ko-KR" altLang="en-US" sz="3000" dirty="0">
                <a:solidFill>
                  <a:schemeClr val="bg1"/>
                </a:solidFill>
                <a:latin typeface="+mn-ea"/>
                <a:ea typeface="+mn-ea"/>
              </a:rPr>
              <a:t>실천적 경험형</a:t>
            </a:r>
            <a:r>
              <a:rPr lang="en-US" altLang="ko-KR" sz="3000" dirty="0">
                <a:solidFill>
                  <a:schemeClr val="bg1"/>
                </a:solidFill>
                <a:latin typeface="+mn-ea"/>
                <a:ea typeface="+mn-ea"/>
              </a:rPr>
              <a:t>', '</a:t>
            </a:r>
            <a:r>
              <a:rPr lang="ko-KR" altLang="en-US" sz="3000" dirty="0">
                <a:solidFill>
                  <a:schemeClr val="bg1"/>
                </a:solidFill>
                <a:latin typeface="+mn-ea"/>
                <a:ea typeface="+mn-ea"/>
              </a:rPr>
              <a:t>실천적 한계 인식형</a:t>
            </a:r>
            <a:r>
              <a:rPr lang="en-US" altLang="ko-KR" sz="3000" dirty="0">
                <a:solidFill>
                  <a:schemeClr val="bg1"/>
                </a:solidFill>
                <a:latin typeface="+mn-ea"/>
                <a:ea typeface="+mn-ea"/>
              </a:rPr>
              <a:t>'</a:t>
            </a:r>
            <a:r>
              <a:rPr lang="ko-KR" altLang="en-US" sz="3000" dirty="0">
                <a:solidFill>
                  <a:schemeClr val="bg1"/>
                </a:solidFill>
                <a:latin typeface="+mn-ea"/>
                <a:ea typeface="+mn-ea"/>
              </a:rPr>
              <a:t>의 네 가지 주요 인식유형으로 분류되었다</a:t>
            </a:r>
            <a:r>
              <a:rPr lang="en-US" altLang="ko-KR" sz="3000" dirty="0">
                <a:solidFill>
                  <a:schemeClr val="bg1"/>
                </a:solidFill>
                <a:latin typeface="+mn-ea"/>
                <a:ea typeface="+mn-ea"/>
              </a:rPr>
              <a:t>. </a:t>
            </a:r>
            <a:r>
              <a:rPr lang="ko-KR" altLang="en-US" sz="3000" dirty="0">
                <a:solidFill>
                  <a:schemeClr val="bg1"/>
                </a:solidFill>
                <a:latin typeface="+mn-ea"/>
                <a:ea typeface="+mn-ea"/>
              </a:rPr>
              <a:t>연구 결과는 교육적 맥락에서 현지조사의 의미와 가치를 이해하는 데 도움을 주며</a:t>
            </a:r>
            <a:r>
              <a:rPr lang="en-US" altLang="ko-KR" sz="3000" dirty="0">
                <a:solidFill>
                  <a:schemeClr val="bg1"/>
                </a:solidFill>
                <a:latin typeface="+mn-ea"/>
                <a:ea typeface="+mn-ea"/>
              </a:rPr>
              <a:t>, </a:t>
            </a:r>
            <a:r>
              <a:rPr lang="ko-KR" altLang="en-US" sz="3000" dirty="0">
                <a:solidFill>
                  <a:schemeClr val="bg1"/>
                </a:solidFill>
                <a:latin typeface="+mn-ea"/>
                <a:ea typeface="+mn-ea"/>
              </a:rPr>
              <a:t>학습자의 창의성</a:t>
            </a:r>
            <a:r>
              <a:rPr lang="en-US" altLang="ko-KR" sz="3000" dirty="0">
                <a:solidFill>
                  <a:schemeClr val="bg1"/>
                </a:solidFill>
                <a:latin typeface="+mn-ea"/>
                <a:ea typeface="+mn-ea"/>
              </a:rPr>
              <a:t>, </a:t>
            </a:r>
            <a:r>
              <a:rPr lang="ko-KR" altLang="en-US" sz="3000" dirty="0">
                <a:solidFill>
                  <a:schemeClr val="bg1"/>
                </a:solidFill>
                <a:latin typeface="+mn-ea"/>
                <a:ea typeface="+mn-ea"/>
              </a:rPr>
              <a:t>자기주도성</a:t>
            </a:r>
            <a:r>
              <a:rPr lang="en-US" altLang="ko-KR" sz="3000" dirty="0">
                <a:solidFill>
                  <a:schemeClr val="bg1"/>
                </a:solidFill>
                <a:latin typeface="+mn-ea"/>
                <a:ea typeface="+mn-ea"/>
              </a:rPr>
              <a:t>, </a:t>
            </a:r>
            <a:r>
              <a:rPr lang="ko-KR" altLang="en-US" sz="3000" dirty="0">
                <a:solidFill>
                  <a:schemeClr val="bg1"/>
                </a:solidFill>
                <a:latin typeface="+mn-ea"/>
                <a:ea typeface="+mn-ea"/>
              </a:rPr>
              <a:t>문제해결 능력 향상을 위한 구체적인 수업 설계와 실행 전략 개발의 필요성을 강조하고</a:t>
            </a:r>
            <a:r>
              <a:rPr lang="en-US" altLang="ko-KR" sz="3000" dirty="0">
                <a:solidFill>
                  <a:schemeClr val="bg1"/>
                </a:solidFill>
                <a:latin typeface="+mn-ea"/>
                <a:ea typeface="+mn-ea"/>
              </a:rPr>
              <a:t>, </a:t>
            </a:r>
            <a:r>
              <a:rPr lang="ko-KR" altLang="en-US" sz="3000" dirty="0">
                <a:solidFill>
                  <a:schemeClr val="bg1"/>
                </a:solidFill>
                <a:latin typeface="+mn-ea"/>
                <a:ea typeface="+mn-ea"/>
              </a:rPr>
              <a:t>현지조사 활동에서 직면하는 도전 요인에 대한 체계적인 대응 전략 마련의 중요성을 제시한다</a:t>
            </a:r>
            <a:r>
              <a:rPr lang="en-US" altLang="ko-KR" sz="3000" dirty="0">
                <a:solidFill>
                  <a:schemeClr val="bg1"/>
                </a:solidFill>
                <a:latin typeface="+mn-ea"/>
                <a:ea typeface="+mn-ea"/>
              </a:rPr>
              <a:t>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8A9E34B-17D0-235E-8341-E93447036081}"/>
              </a:ext>
            </a:extLst>
          </p:cNvPr>
          <p:cNvSpPr txBox="1"/>
          <p:nvPr/>
        </p:nvSpPr>
        <p:spPr>
          <a:xfrm>
            <a:off x="2193464" y="21635901"/>
            <a:ext cx="12831097" cy="799423"/>
          </a:xfrm>
          <a:prstGeom prst="roundRect">
            <a:avLst/>
          </a:prstGeom>
          <a:solidFill>
            <a:schemeClr val="bg1">
              <a:lumMod val="50000"/>
            </a:schemeClr>
          </a:solidFill>
        </p:spPr>
        <p:txBody>
          <a:bodyPr wrap="square" rtlCol="0" anchor="ctr" anchorCtr="0">
            <a:noAutofit/>
          </a:bodyPr>
          <a:lstStyle/>
          <a:p>
            <a:pPr algn="ctr"/>
            <a:r>
              <a:rPr lang="en-US" altLang="ko-KR" sz="4400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2.1 </a:t>
            </a:r>
            <a:r>
              <a:rPr lang="ko-KR" altLang="en-US" sz="4400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현지조사의 정의와 방법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9612BE96-ADE4-4131-E472-7904DD4D1B60}"/>
              </a:ext>
            </a:extLst>
          </p:cNvPr>
          <p:cNvSpPr txBox="1"/>
          <p:nvPr/>
        </p:nvSpPr>
        <p:spPr>
          <a:xfrm>
            <a:off x="16468522" y="13151101"/>
            <a:ext cx="14077932" cy="2665345"/>
          </a:xfrm>
          <a:prstGeom prst="rect">
            <a:avLst/>
          </a:prstGeom>
          <a:noFill/>
        </p:spPr>
        <p:txBody>
          <a:bodyPr wrap="square" rtlCol="0" anchor="t" anchorCtr="0">
            <a:spAutoFit/>
          </a:bodyPr>
          <a:lstStyle/>
          <a:p>
            <a:pPr marL="457200" indent="-457200" algn="just">
              <a:lnSpc>
                <a:spcPct val="11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ko-KR" altLang="en-US" sz="30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현지조사 인식유형 분석 결과</a:t>
            </a:r>
            <a:r>
              <a:rPr lang="en-US" altLang="ko-KR" sz="30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30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인자가중치 </a:t>
            </a:r>
            <a:r>
              <a:rPr lang="en-US" altLang="ko-KR" sz="30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1.0 </a:t>
            </a:r>
            <a:r>
              <a:rPr lang="ko-KR" altLang="en-US" sz="30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이상의 </a:t>
            </a:r>
            <a:r>
              <a:rPr lang="en-US" altLang="ko-KR" sz="30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6</a:t>
            </a:r>
            <a:r>
              <a:rPr lang="ko-KR" altLang="en-US" sz="30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개 요인이 도출되었고</a:t>
            </a:r>
            <a:r>
              <a:rPr lang="en-US" altLang="ko-KR" sz="30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30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그 중 </a:t>
            </a:r>
            <a:r>
              <a:rPr lang="en-US" altLang="ko-KR" sz="30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4</a:t>
            </a:r>
            <a:r>
              <a:rPr lang="ko-KR" altLang="en-US" sz="30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개의 유형이 최종 선정되었다</a:t>
            </a:r>
            <a:r>
              <a:rPr lang="en-US" altLang="ko-KR" sz="30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 </a:t>
            </a:r>
          </a:p>
          <a:p>
            <a:pPr marL="457200" indent="-457200" algn="just">
              <a:lnSpc>
                <a:spcPct val="11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ko-KR" altLang="en-US" sz="30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각 유형의 설명력은 제</a:t>
            </a:r>
            <a:r>
              <a:rPr lang="en-US" altLang="ko-KR" sz="30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r>
            <a:r>
              <a:rPr lang="ko-KR" altLang="en-US" sz="30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유형 </a:t>
            </a:r>
            <a:r>
              <a:rPr lang="en-US" altLang="ko-KR" sz="30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30%, </a:t>
            </a:r>
            <a:r>
              <a:rPr lang="ko-KR" altLang="en-US" sz="30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제</a:t>
            </a:r>
            <a:r>
              <a:rPr lang="en-US" altLang="ko-KR" sz="30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</a:t>
            </a:r>
            <a:r>
              <a:rPr lang="ko-KR" altLang="en-US" sz="30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유형 </a:t>
            </a:r>
            <a:r>
              <a:rPr lang="en-US" altLang="ko-KR" sz="30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22%, </a:t>
            </a:r>
            <a:r>
              <a:rPr lang="ko-KR" altLang="en-US" sz="30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제</a:t>
            </a:r>
            <a:r>
              <a:rPr lang="en-US" altLang="ko-KR" sz="30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3</a:t>
            </a:r>
            <a:r>
              <a:rPr lang="ko-KR" altLang="en-US" sz="30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유형 </a:t>
            </a:r>
            <a:r>
              <a:rPr lang="en-US" altLang="ko-KR" sz="30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17%, </a:t>
            </a:r>
            <a:r>
              <a:rPr lang="ko-KR" altLang="en-US" sz="30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제</a:t>
            </a:r>
            <a:r>
              <a:rPr lang="en-US" altLang="ko-KR" sz="30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4</a:t>
            </a:r>
            <a:r>
              <a:rPr lang="ko-KR" altLang="en-US" sz="30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유형 </a:t>
            </a:r>
            <a:r>
              <a:rPr lang="en-US" altLang="ko-KR" sz="30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10%</a:t>
            </a:r>
            <a:r>
              <a:rPr lang="ko-KR" altLang="en-US" sz="30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로 총 누적 설명력은 </a:t>
            </a:r>
            <a:r>
              <a:rPr lang="en-US" altLang="ko-KR" sz="30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79%</a:t>
            </a:r>
            <a:r>
              <a:rPr lang="ko-KR" altLang="en-US" sz="30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에 달해 높은 설명력을 보였다</a:t>
            </a:r>
            <a:r>
              <a:rPr lang="en-US" altLang="ko-KR" sz="30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 P</a:t>
            </a:r>
            <a:r>
              <a:rPr lang="ko-KR" altLang="en-US" sz="30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표본 수는 제</a:t>
            </a:r>
            <a:r>
              <a:rPr lang="en-US" altLang="ko-KR" sz="30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r>
            <a:r>
              <a:rPr lang="ko-KR" altLang="en-US" sz="30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유형과 제</a:t>
            </a:r>
            <a:r>
              <a:rPr lang="en-US" altLang="ko-KR" sz="30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</a:t>
            </a:r>
            <a:r>
              <a:rPr lang="ko-KR" altLang="en-US" sz="30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유형 각각 </a:t>
            </a:r>
            <a:r>
              <a:rPr lang="en-US" altLang="ko-KR" sz="30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6</a:t>
            </a:r>
            <a:r>
              <a:rPr lang="ko-KR" altLang="en-US" sz="30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명</a:t>
            </a:r>
            <a:r>
              <a:rPr lang="en-US" altLang="ko-KR" sz="30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30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제</a:t>
            </a:r>
            <a:r>
              <a:rPr lang="en-US" altLang="ko-KR" sz="30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3</a:t>
            </a:r>
            <a:r>
              <a:rPr lang="ko-KR" altLang="en-US" sz="30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유형 </a:t>
            </a:r>
            <a:r>
              <a:rPr lang="en-US" altLang="ko-KR" sz="30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3</a:t>
            </a:r>
            <a:r>
              <a:rPr lang="ko-KR" altLang="en-US" sz="30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명</a:t>
            </a:r>
            <a:r>
              <a:rPr lang="en-US" altLang="ko-KR" sz="30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30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제</a:t>
            </a:r>
            <a:r>
              <a:rPr lang="en-US" altLang="ko-KR" sz="30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4</a:t>
            </a:r>
            <a:r>
              <a:rPr lang="ko-KR" altLang="en-US" sz="30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유형 </a:t>
            </a:r>
            <a:r>
              <a:rPr lang="en-US" altLang="ko-KR" sz="30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</a:t>
            </a:r>
            <a:r>
              <a:rPr lang="ko-KR" altLang="en-US" sz="30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명으로 나타났다</a:t>
            </a:r>
            <a:r>
              <a:rPr lang="en-US" altLang="ko-KR" sz="30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2B5BEFC-D724-097C-FC48-2639B1515FFD}"/>
              </a:ext>
            </a:extLst>
          </p:cNvPr>
          <p:cNvSpPr txBox="1"/>
          <p:nvPr/>
        </p:nvSpPr>
        <p:spPr>
          <a:xfrm>
            <a:off x="2193464" y="13219282"/>
            <a:ext cx="12831097" cy="988142"/>
          </a:xfrm>
          <a:prstGeom prst="roundRect">
            <a:avLst/>
          </a:prstGeom>
          <a:solidFill>
            <a:srgbClr val="144E37"/>
          </a:solidFill>
        </p:spPr>
        <p:txBody>
          <a:bodyPr wrap="square" rtlCol="0" anchor="ctr" anchorCtr="0">
            <a:noAutofit/>
          </a:bodyPr>
          <a:lstStyle/>
          <a:p>
            <a:pPr algn="ctr"/>
            <a:r>
              <a:rPr lang="en-US" altLang="ko-KR" sz="48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맑은 고딕" panose="020B0503020000020004" pitchFamily="50" charset="-127"/>
                <a:ea typeface="맑은 고딕" panose="020B0503020000020004" pitchFamily="50" charset="-127"/>
              </a:rPr>
              <a:t>1. </a:t>
            </a:r>
            <a:r>
              <a:rPr lang="ko-KR" altLang="en-US" sz="48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맑은 고딕" panose="020B0503020000020004" pitchFamily="50" charset="-127"/>
                <a:ea typeface="맑은 고딕" panose="020B0503020000020004" pitchFamily="50" charset="-127"/>
              </a:rPr>
              <a:t>서론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D501F2EF-252D-BD98-A7DD-0E9C8337A5F0}"/>
              </a:ext>
            </a:extLst>
          </p:cNvPr>
          <p:cNvSpPr txBox="1"/>
          <p:nvPr/>
        </p:nvSpPr>
        <p:spPr>
          <a:xfrm>
            <a:off x="1497928" y="14550323"/>
            <a:ext cx="14077932" cy="5358390"/>
          </a:xfrm>
          <a:prstGeom prst="rect">
            <a:avLst/>
          </a:prstGeom>
          <a:noFill/>
        </p:spPr>
        <p:txBody>
          <a:bodyPr wrap="square" rtlCol="0" anchor="t" anchorCtr="0">
            <a:spAutoFit/>
          </a:bodyPr>
          <a:lstStyle/>
          <a:p>
            <a:pPr marL="457200" indent="-457200" algn="just">
              <a:lnSpc>
                <a:spcPct val="11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ko-KR" altLang="en-US" sz="3000" dirty="0">
                <a:solidFill>
                  <a:schemeClr val="tx1"/>
                </a:solidFill>
                <a:latin typeface="+mn-ea"/>
                <a:ea typeface="+mn-ea"/>
              </a:rPr>
              <a:t>현대 교육 환경의 변화에 따라 예비 </a:t>
            </a:r>
            <a:r>
              <a:rPr lang="ko-KR" altLang="en-US" sz="3000" dirty="0" err="1">
                <a:solidFill>
                  <a:schemeClr val="tx1"/>
                </a:solidFill>
                <a:latin typeface="+mn-ea"/>
                <a:ea typeface="+mn-ea"/>
              </a:rPr>
              <a:t>사회과</a:t>
            </a:r>
            <a:r>
              <a:rPr lang="ko-KR" altLang="en-US" sz="3000" dirty="0">
                <a:solidFill>
                  <a:schemeClr val="tx1"/>
                </a:solidFill>
                <a:latin typeface="+mn-ea"/>
                <a:ea typeface="+mn-ea"/>
              </a:rPr>
              <a:t> 교사들의 인식을 조사하는 본 연구는 </a:t>
            </a:r>
            <a:r>
              <a:rPr lang="en-US" altLang="ko-KR" sz="3000" dirty="0">
                <a:solidFill>
                  <a:schemeClr val="tx1"/>
                </a:solidFill>
                <a:latin typeface="+mn-ea"/>
                <a:ea typeface="+mn-ea"/>
              </a:rPr>
              <a:t>2022</a:t>
            </a:r>
            <a:r>
              <a:rPr lang="ko-KR" altLang="en-US" sz="3000" dirty="0">
                <a:solidFill>
                  <a:schemeClr val="tx1"/>
                </a:solidFill>
                <a:latin typeface="+mn-ea"/>
                <a:ea typeface="+mn-ea"/>
              </a:rPr>
              <a:t>년 개정 교육과정에서 강조된 자기 주도성과 </a:t>
            </a:r>
            <a:r>
              <a:rPr lang="ko-KR" altLang="en-US" sz="3000" dirty="0" err="1">
                <a:solidFill>
                  <a:schemeClr val="tx1"/>
                </a:solidFill>
                <a:latin typeface="+mn-ea"/>
                <a:ea typeface="+mn-ea"/>
              </a:rPr>
              <a:t>사회과</a:t>
            </a:r>
            <a:r>
              <a:rPr lang="ko-KR" altLang="en-US" sz="3000" dirty="0">
                <a:solidFill>
                  <a:schemeClr val="tx1"/>
                </a:solidFill>
                <a:latin typeface="+mn-ea"/>
                <a:ea typeface="+mn-ea"/>
              </a:rPr>
              <a:t> 역량에 주목한다</a:t>
            </a:r>
            <a:r>
              <a:rPr lang="en-US" altLang="ko-KR" sz="3000" dirty="0">
                <a:solidFill>
                  <a:schemeClr val="tx1"/>
                </a:solidFill>
                <a:latin typeface="+mn-ea"/>
                <a:ea typeface="+mn-ea"/>
              </a:rPr>
              <a:t>.</a:t>
            </a:r>
          </a:p>
          <a:p>
            <a:pPr marL="457200" indent="-457200" algn="just">
              <a:lnSpc>
                <a:spcPct val="11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ko-KR" altLang="en-US" sz="3000" dirty="0">
                <a:solidFill>
                  <a:schemeClr val="tx1"/>
                </a:solidFill>
                <a:latin typeface="+mn-ea"/>
                <a:ea typeface="+mn-ea"/>
              </a:rPr>
              <a:t>현지조사는 학생들이 실제 상황을 관찰하고 분석하는 과정으로</a:t>
            </a:r>
            <a:r>
              <a:rPr lang="en-US" altLang="ko-KR" sz="3000" dirty="0">
                <a:solidFill>
                  <a:schemeClr val="tx1"/>
                </a:solidFill>
                <a:latin typeface="+mn-ea"/>
                <a:ea typeface="+mn-ea"/>
              </a:rPr>
              <a:t>, </a:t>
            </a:r>
            <a:r>
              <a:rPr lang="ko-KR" altLang="en-US" sz="3000" dirty="0">
                <a:solidFill>
                  <a:schemeClr val="tx1"/>
                </a:solidFill>
                <a:latin typeface="+mn-ea"/>
                <a:ea typeface="+mn-ea"/>
              </a:rPr>
              <a:t>비판적 사고와 문제해결 능력을 키우는 데 핵심적인 역할을 한다</a:t>
            </a:r>
            <a:r>
              <a:rPr lang="en-US" altLang="ko-KR" sz="3000" dirty="0">
                <a:solidFill>
                  <a:schemeClr val="tx1"/>
                </a:solidFill>
                <a:latin typeface="+mn-ea"/>
                <a:ea typeface="+mn-ea"/>
              </a:rPr>
              <a:t>. </a:t>
            </a:r>
          </a:p>
          <a:p>
            <a:pPr marL="457200" indent="-457200" algn="just">
              <a:lnSpc>
                <a:spcPct val="11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ko-KR" altLang="en-US" sz="3000" dirty="0">
                <a:solidFill>
                  <a:schemeClr val="tx1"/>
                </a:solidFill>
                <a:latin typeface="+mn-ea"/>
                <a:ea typeface="+mn-ea"/>
              </a:rPr>
              <a:t>본 연구는 </a:t>
            </a:r>
            <a:r>
              <a:rPr lang="en-US" altLang="ko-KR" sz="3000" dirty="0">
                <a:solidFill>
                  <a:schemeClr val="tx1"/>
                </a:solidFill>
                <a:latin typeface="+mn-ea"/>
                <a:ea typeface="+mn-ea"/>
              </a:rPr>
              <a:t>Q</a:t>
            </a:r>
            <a:r>
              <a:rPr lang="ko-KR" altLang="en-US" sz="3000" dirty="0">
                <a:solidFill>
                  <a:schemeClr val="tx1"/>
                </a:solidFill>
                <a:latin typeface="+mn-ea"/>
                <a:ea typeface="+mn-ea"/>
              </a:rPr>
              <a:t>방법론을 활용하여 예비 </a:t>
            </a:r>
            <a:r>
              <a:rPr lang="ko-KR" altLang="en-US" sz="3000" dirty="0" err="1">
                <a:solidFill>
                  <a:schemeClr val="tx1"/>
                </a:solidFill>
                <a:latin typeface="+mn-ea"/>
                <a:ea typeface="+mn-ea"/>
              </a:rPr>
              <a:t>사회과</a:t>
            </a:r>
            <a:r>
              <a:rPr lang="ko-KR" altLang="en-US" sz="3000" dirty="0">
                <a:solidFill>
                  <a:schemeClr val="tx1"/>
                </a:solidFill>
                <a:latin typeface="+mn-ea"/>
                <a:ea typeface="+mn-ea"/>
              </a:rPr>
              <a:t> 교사들이 현지조사에 대해 어떻게 인식하는지 탐색하고</a:t>
            </a:r>
            <a:r>
              <a:rPr lang="en-US" altLang="ko-KR" sz="3000" dirty="0">
                <a:solidFill>
                  <a:schemeClr val="tx1"/>
                </a:solidFill>
                <a:latin typeface="+mn-ea"/>
                <a:ea typeface="+mn-ea"/>
              </a:rPr>
              <a:t>, </a:t>
            </a:r>
            <a:r>
              <a:rPr lang="ko-KR" altLang="en-US" sz="3000" dirty="0">
                <a:solidFill>
                  <a:schemeClr val="tx1"/>
                </a:solidFill>
                <a:latin typeface="+mn-ea"/>
                <a:ea typeface="+mn-ea"/>
              </a:rPr>
              <a:t>이를 교육 현장에 어떻게 적용할 수 있는지를 분석하고자 한다</a:t>
            </a:r>
            <a:r>
              <a:rPr lang="en-US" altLang="ko-KR" sz="3000" dirty="0">
                <a:solidFill>
                  <a:schemeClr val="tx1"/>
                </a:solidFill>
                <a:latin typeface="+mn-ea"/>
                <a:ea typeface="+mn-ea"/>
              </a:rPr>
              <a:t>. </a:t>
            </a:r>
          </a:p>
          <a:p>
            <a:pPr marL="457200" indent="-457200" algn="just">
              <a:lnSpc>
                <a:spcPct val="11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ko-KR" altLang="en-US" sz="3000" dirty="0">
                <a:solidFill>
                  <a:schemeClr val="tx1"/>
                </a:solidFill>
                <a:latin typeface="+mn-ea"/>
                <a:ea typeface="+mn-ea"/>
              </a:rPr>
              <a:t>연구 문제는 “예비 </a:t>
            </a:r>
            <a:r>
              <a:rPr lang="ko-KR" altLang="en-US" sz="3000" dirty="0" err="1">
                <a:solidFill>
                  <a:schemeClr val="tx1"/>
                </a:solidFill>
                <a:latin typeface="+mn-ea"/>
                <a:ea typeface="+mn-ea"/>
              </a:rPr>
              <a:t>사회과</a:t>
            </a:r>
            <a:r>
              <a:rPr lang="ko-KR" altLang="en-US" sz="3000" dirty="0">
                <a:solidFill>
                  <a:schemeClr val="tx1"/>
                </a:solidFill>
                <a:latin typeface="+mn-ea"/>
                <a:ea typeface="+mn-ea"/>
              </a:rPr>
              <a:t> 교사들이 생각하는 현지조사 활용 수업의 의의는 무엇이며</a:t>
            </a:r>
            <a:r>
              <a:rPr lang="en-US" altLang="ko-KR" sz="3000" dirty="0">
                <a:solidFill>
                  <a:schemeClr val="tx1"/>
                </a:solidFill>
                <a:latin typeface="+mn-ea"/>
                <a:ea typeface="+mn-ea"/>
              </a:rPr>
              <a:t>, </a:t>
            </a:r>
            <a:r>
              <a:rPr lang="ko-KR" altLang="en-US" sz="3000" dirty="0">
                <a:solidFill>
                  <a:schemeClr val="tx1"/>
                </a:solidFill>
                <a:latin typeface="+mn-ea"/>
                <a:ea typeface="+mn-ea"/>
              </a:rPr>
              <a:t>어떤 유형으로 분류되는가</a:t>
            </a:r>
            <a:r>
              <a:rPr lang="en-US" altLang="ko-KR" sz="3000" dirty="0">
                <a:solidFill>
                  <a:schemeClr val="tx1"/>
                </a:solidFill>
                <a:latin typeface="+mn-ea"/>
                <a:ea typeface="+mn-ea"/>
              </a:rPr>
              <a:t>?”</a:t>
            </a:r>
            <a:r>
              <a:rPr lang="ko-KR" altLang="en-US" sz="3000" dirty="0">
                <a:solidFill>
                  <a:schemeClr val="tx1"/>
                </a:solidFill>
                <a:latin typeface="+mn-ea"/>
                <a:ea typeface="+mn-ea"/>
              </a:rPr>
              <a:t>이다</a:t>
            </a:r>
            <a:r>
              <a:rPr lang="en-US" altLang="ko-KR" sz="3000" dirty="0">
                <a:solidFill>
                  <a:schemeClr val="tx1"/>
                </a:solidFill>
                <a:latin typeface="+mn-ea"/>
                <a:ea typeface="+mn-ea"/>
              </a:rPr>
              <a:t>.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BF79DE71-A16F-B176-9C8E-E953672DE891}"/>
              </a:ext>
            </a:extLst>
          </p:cNvPr>
          <p:cNvSpPr txBox="1"/>
          <p:nvPr/>
        </p:nvSpPr>
        <p:spPr>
          <a:xfrm>
            <a:off x="2193464" y="20449041"/>
            <a:ext cx="12831097" cy="988142"/>
          </a:xfrm>
          <a:prstGeom prst="roundRect">
            <a:avLst/>
          </a:prstGeom>
          <a:solidFill>
            <a:srgbClr val="144E37"/>
          </a:solidFill>
        </p:spPr>
        <p:txBody>
          <a:bodyPr wrap="square" rtlCol="0" anchor="ctr" anchorCtr="0">
            <a:noAutofit/>
          </a:bodyPr>
          <a:lstStyle/>
          <a:p>
            <a:pPr algn="ctr"/>
            <a:r>
              <a:rPr lang="en-US" altLang="ko-KR" sz="48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맑은 고딕" panose="020B0503020000020004" pitchFamily="50" charset="-127"/>
                <a:ea typeface="맑은 고딕" panose="020B0503020000020004" pitchFamily="50" charset="-127"/>
              </a:rPr>
              <a:t>2. </a:t>
            </a:r>
            <a:r>
              <a:rPr lang="ko-KR" altLang="en-US" sz="48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맑은 고딕" panose="020B0503020000020004" pitchFamily="50" charset="-127"/>
                <a:ea typeface="맑은 고딕" panose="020B0503020000020004" pitchFamily="50" charset="-127"/>
              </a:rPr>
              <a:t>이론적 배경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25431536-046F-6EE0-6945-2837F6BADBDB}"/>
              </a:ext>
            </a:extLst>
          </p:cNvPr>
          <p:cNvSpPr txBox="1"/>
          <p:nvPr/>
        </p:nvSpPr>
        <p:spPr>
          <a:xfrm>
            <a:off x="1497928" y="22742438"/>
            <a:ext cx="14077932" cy="4850559"/>
          </a:xfrm>
          <a:prstGeom prst="rect">
            <a:avLst/>
          </a:prstGeom>
          <a:noFill/>
        </p:spPr>
        <p:txBody>
          <a:bodyPr wrap="square" rtlCol="0" anchor="t" anchorCtr="0">
            <a:spAutoFit/>
          </a:bodyPr>
          <a:lstStyle/>
          <a:p>
            <a:pPr marL="457200" indent="-457200" algn="just">
              <a:lnSpc>
                <a:spcPct val="11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ko-KR" altLang="en-US" sz="3000" dirty="0">
                <a:solidFill>
                  <a:schemeClr val="tx1"/>
                </a:solidFill>
                <a:latin typeface="+mn-ea"/>
                <a:ea typeface="+mn-ea"/>
              </a:rPr>
              <a:t>현지조사</a:t>
            </a:r>
            <a:r>
              <a:rPr lang="en-US" altLang="ko-KR" sz="3000" dirty="0">
                <a:solidFill>
                  <a:schemeClr val="tx1"/>
                </a:solidFill>
                <a:latin typeface="+mn-ea"/>
                <a:ea typeface="+mn-ea"/>
              </a:rPr>
              <a:t>(fieldwork)</a:t>
            </a:r>
            <a:r>
              <a:rPr lang="ko-KR" altLang="en-US" sz="3000" dirty="0">
                <a:solidFill>
                  <a:schemeClr val="tx1"/>
                </a:solidFill>
                <a:latin typeface="+mn-ea"/>
                <a:ea typeface="+mn-ea"/>
              </a:rPr>
              <a:t>는 현장 관찰을 통해 자료를 수집하는 연구 방법으로</a:t>
            </a:r>
            <a:r>
              <a:rPr lang="en-US" altLang="ko-KR" sz="3000" dirty="0">
                <a:solidFill>
                  <a:schemeClr val="tx1"/>
                </a:solidFill>
                <a:latin typeface="+mn-ea"/>
                <a:ea typeface="+mn-ea"/>
              </a:rPr>
              <a:t>, </a:t>
            </a:r>
            <a:r>
              <a:rPr lang="ko-KR" altLang="en-US" sz="3000" dirty="0" err="1">
                <a:solidFill>
                  <a:schemeClr val="tx1"/>
                </a:solidFill>
                <a:latin typeface="+mn-ea"/>
                <a:ea typeface="+mn-ea"/>
              </a:rPr>
              <a:t>사회과교육에서는</a:t>
            </a:r>
            <a:r>
              <a:rPr lang="ko-KR" altLang="en-US" sz="3000" dirty="0">
                <a:solidFill>
                  <a:schemeClr val="tx1"/>
                </a:solidFill>
                <a:latin typeface="+mn-ea"/>
                <a:ea typeface="+mn-ea"/>
              </a:rPr>
              <a:t> ‘현장체험학습’ 등 다양한 용어로 나타난다</a:t>
            </a:r>
            <a:r>
              <a:rPr lang="en-US" altLang="ko-KR" sz="3000" dirty="0">
                <a:solidFill>
                  <a:schemeClr val="tx1"/>
                </a:solidFill>
                <a:latin typeface="+mn-ea"/>
                <a:ea typeface="+mn-ea"/>
              </a:rPr>
              <a:t>. </a:t>
            </a:r>
          </a:p>
          <a:p>
            <a:pPr marL="457200" indent="-457200" algn="just">
              <a:lnSpc>
                <a:spcPct val="11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ko-KR" altLang="en-US" sz="3000" dirty="0">
                <a:solidFill>
                  <a:schemeClr val="tx1"/>
                </a:solidFill>
                <a:latin typeface="+mn-ea"/>
                <a:ea typeface="+mn-ea"/>
              </a:rPr>
              <a:t>주요 방법으로는 인터뷰</a:t>
            </a:r>
            <a:r>
              <a:rPr lang="en-US" altLang="ko-KR" sz="3000" dirty="0">
                <a:solidFill>
                  <a:schemeClr val="tx1"/>
                </a:solidFill>
                <a:latin typeface="+mn-ea"/>
                <a:ea typeface="+mn-ea"/>
              </a:rPr>
              <a:t>, </a:t>
            </a:r>
            <a:r>
              <a:rPr lang="ko-KR" altLang="en-US" sz="3000" dirty="0">
                <a:solidFill>
                  <a:schemeClr val="tx1"/>
                </a:solidFill>
                <a:latin typeface="+mn-ea"/>
                <a:ea typeface="+mn-ea"/>
              </a:rPr>
              <a:t>사례 연구</a:t>
            </a:r>
            <a:r>
              <a:rPr lang="en-US" altLang="ko-KR" sz="3000" dirty="0">
                <a:solidFill>
                  <a:schemeClr val="tx1"/>
                </a:solidFill>
                <a:latin typeface="+mn-ea"/>
                <a:ea typeface="+mn-ea"/>
              </a:rPr>
              <a:t>, </a:t>
            </a:r>
            <a:r>
              <a:rPr lang="ko-KR" altLang="en-US" sz="3000" dirty="0">
                <a:solidFill>
                  <a:schemeClr val="tx1"/>
                </a:solidFill>
                <a:latin typeface="+mn-ea"/>
                <a:ea typeface="+mn-ea"/>
              </a:rPr>
              <a:t>설문조사가 있으며</a:t>
            </a:r>
            <a:r>
              <a:rPr lang="en-US" altLang="ko-KR" sz="3000" dirty="0">
                <a:solidFill>
                  <a:schemeClr val="tx1"/>
                </a:solidFill>
                <a:latin typeface="+mn-ea"/>
                <a:ea typeface="+mn-ea"/>
              </a:rPr>
              <a:t>, </a:t>
            </a:r>
            <a:r>
              <a:rPr lang="ko-KR" altLang="en-US" sz="3000" dirty="0">
                <a:solidFill>
                  <a:schemeClr val="tx1"/>
                </a:solidFill>
                <a:latin typeface="+mn-ea"/>
                <a:ea typeface="+mn-ea"/>
              </a:rPr>
              <a:t>학습자는 직접 상호작용을 통해 질적인 자료를 수집하고 자발적인 지식 습득을 도모할 수 있다</a:t>
            </a:r>
            <a:r>
              <a:rPr lang="en-US" altLang="ko-KR" sz="3000" dirty="0">
                <a:solidFill>
                  <a:schemeClr val="tx1"/>
                </a:solidFill>
                <a:latin typeface="+mn-ea"/>
                <a:ea typeface="+mn-ea"/>
              </a:rPr>
              <a:t>. </a:t>
            </a:r>
          </a:p>
          <a:p>
            <a:pPr marL="457200" indent="-457200" algn="just">
              <a:lnSpc>
                <a:spcPct val="11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ko-KR" altLang="en-US" sz="3000" dirty="0">
                <a:solidFill>
                  <a:schemeClr val="tx1"/>
                </a:solidFill>
                <a:latin typeface="+mn-ea"/>
                <a:ea typeface="+mn-ea"/>
              </a:rPr>
              <a:t>이러한 방법들은 학습자에게 사회적 현상에 대한 직접적인 통찰과 지식을 제공하며</a:t>
            </a:r>
            <a:r>
              <a:rPr lang="en-US" altLang="ko-KR" sz="3000" dirty="0">
                <a:solidFill>
                  <a:schemeClr val="tx1"/>
                </a:solidFill>
                <a:latin typeface="+mn-ea"/>
                <a:ea typeface="+mn-ea"/>
              </a:rPr>
              <a:t>, </a:t>
            </a:r>
            <a:r>
              <a:rPr lang="ko-KR" altLang="en-US" sz="3000" dirty="0">
                <a:solidFill>
                  <a:schemeClr val="tx1"/>
                </a:solidFill>
                <a:latin typeface="+mn-ea"/>
                <a:ea typeface="+mn-ea"/>
              </a:rPr>
              <a:t>민주시민 양성을 목표로 하는 </a:t>
            </a:r>
            <a:r>
              <a:rPr lang="ko-KR" altLang="en-US" sz="3000" dirty="0" err="1">
                <a:solidFill>
                  <a:schemeClr val="tx1"/>
                </a:solidFill>
                <a:latin typeface="+mn-ea"/>
                <a:ea typeface="+mn-ea"/>
              </a:rPr>
              <a:t>사회과교육의</a:t>
            </a:r>
            <a:r>
              <a:rPr lang="ko-KR" altLang="en-US" sz="3000" dirty="0">
                <a:solidFill>
                  <a:schemeClr val="tx1"/>
                </a:solidFill>
                <a:latin typeface="+mn-ea"/>
                <a:ea typeface="+mn-ea"/>
              </a:rPr>
              <a:t> 지향점과 일치한다</a:t>
            </a:r>
            <a:r>
              <a:rPr lang="en-US" altLang="ko-KR" sz="3000" dirty="0">
                <a:solidFill>
                  <a:schemeClr val="tx1"/>
                </a:solidFill>
                <a:latin typeface="+mn-ea"/>
                <a:ea typeface="+mn-ea"/>
              </a:rPr>
              <a:t>. </a:t>
            </a:r>
          </a:p>
          <a:p>
            <a:pPr marL="457200" indent="-457200" algn="just">
              <a:lnSpc>
                <a:spcPct val="11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ko-KR" altLang="en-US" sz="3000" dirty="0">
                <a:solidFill>
                  <a:schemeClr val="tx1"/>
                </a:solidFill>
                <a:latin typeface="+mn-ea"/>
                <a:ea typeface="+mn-ea"/>
              </a:rPr>
              <a:t>따라서 현지조사는 교육 현장에서 효과적으로 활용될 수 있는 중요한 교수</a:t>
            </a:r>
            <a:r>
              <a:rPr lang="en-US" altLang="ko-KR" sz="3000" dirty="0">
                <a:solidFill>
                  <a:schemeClr val="tx1"/>
                </a:solidFill>
                <a:latin typeface="+mn-ea"/>
                <a:ea typeface="+mn-ea"/>
              </a:rPr>
              <a:t>·</a:t>
            </a:r>
            <a:r>
              <a:rPr lang="ko-KR" altLang="en-US" sz="3000" dirty="0">
                <a:solidFill>
                  <a:schemeClr val="tx1"/>
                </a:solidFill>
                <a:latin typeface="+mn-ea"/>
                <a:ea typeface="+mn-ea"/>
              </a:rPr>
              <a:t>학습 방법이다</a:t>
            </a:r>
            <a:r>
              <a:rPr lang="en-US" altLang="ko-KR" sz="3000" dirty="0">
                <a:solidFill>
                  <a:schemeClr val="tx1"/>
                </a:solidFill>
                <a:latin typeface="+mn-ea"/>
                <a:ea typeface="+mn-ea"/>
              </a:rPr>
              <a:t>.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02EC8FE4-FA3B-D327-25EE-5A5C475B4262}"/>
              </a:ext>
            </a:extLst>
          </p:cNvPr>
          <p:cNvSpPr txBox="1"/>
          <p:nvPr/>
        </p:nvSpPr>
        <p:spPr>
          <a:xfrm>
            <a:off x="2193464" y="28026156"/>
            <a:ext cx="12831097" cy="799423"/>
          </a:xfrm>
          <a:prstGeom prst="roundRect">
            <a:avLst/>
          </a:prstGeom>
          <a:solidFill>
            <a:schemeClr val="bg1">
              <a:lumMod val="50000"/>
            </a:schemeClr>
          </a:solidFill>
        </p:spPr>
        <p:txBody>
          <a:bodyPr wrap="square" rtlCol="0" anchor="ctr" anchorCtr="0">
            <a:noAutofit/>
          </a:bodyPr>
          <a:lstStyle/>
          <a:p>
            <a:pPr algn="ctr"/>
            <a:r>
              <a:rPr lang="en-US" altLang="ko-KR" sz="4400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2.2 </a:t>
            </a:r>
            <a:r>
              <a:rPr lang="ko-KR" altLang="en-US" sz="4400" dirty="0" err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사회과교육에서의</a:t>
            </a:r>
            <a:r>
              <a:rPr lang="ko-KR" altLang="en-US" sz="4400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현지조사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DAFFA58E-4C81-7B64-A360-ADBEAEEF4A4C}"/>
              </a:ext>
            </a:extLst>
          </p:cNvPr>
          <p:cNvSpPr txBox="1"/>
          <p:nvPr/>
        </p:nvSpPr>
        <p:spPr>
          <a:xfrm>
            <a:off x="1497928" y="29132693"/>
            <a:ext cx="14077932" cy="4342727"/>
          </a:xfrm>
          <a:prstGeom prst="rect">
            <a:avLst/>
          </a:prstGeom>
          <a:noFill/>
        </p:spPr>
        <p:txBody>
          <a:bodyPr wrap="square" rtlCol="0" anchor="t" anchorCtr="0">
            <a:spAutoFit/>
          </a:bodyPr>
          <a:lstStyle/>
          <a:p>
            <a:pPr marL="457200" indent="-457200" algn="just">
              <a:lnSpc>
                <a:spcPct val="11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ko-KR" altLang="en-US" sz="3000" dirty="0">
                <a:solidFill>
                  <a:schemeClr val="tx1"/>
                </a:solidFill>
                <a:latin typeface="+mn-ea"/>
                <a:ea typeface="+mn-ea"/>
              </a:rPr>
              <a:t>현대 사회의 변화에 따라 </a:t>
            </a:r>
            <a:r>
              <a:rPr lang="ko-KR" altLang="en-US" sz="3000" dirty="0" err="1">
                <a:solidFill>
                  <a:schemeClr val="tx1"/>
                </a:solidFill>
                <a:latin typeface="+mn-ea"/>
                <a:ea typeface="+mn-ea"/>
              </a:rPr>
              <a:t>사회과교육은</a:t>
            </a:r>
            <a:r>
              <a:rPr lang="ko-KR" altLang="en-US" sz="3000" dirty="0">
                <a:solidFill>
                  <a:schemeClr val="tx1"/>
                </a:solidFill>
                <a:latin typeface="+mn-ea"/>
                <a:ea typeface="+mn-ea"/>
              </a:rPr>
              <a:t> 이론과 실제를 연계하여 학습자의 문제해결 능력을 향상시키기 위해 현지조사를 강조한다</a:t>
            </a:r>
            <a:r>
              <a:rPr lang="en-US" altLang="ko-KR" sz="3000" dirty="0">
                <a:solidFill>
                  <a:schemeClr val="tx1"/>
                </a:solidFill>
                <a:latin typeface="+mn-ea"/>
                <a:ea typeface="+mn-ea"/>
              </a:rPr>
              <a:t>. </a:t>
            </a:r>
          </a:p>
          <a:p>
            <a:pPr marL="457200" indent="-457200" algn="just">
              <a:lnSpc>
                <a:spcPct val="11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ko-KR" altLang="en-US" sz="3000" dirty="0">
                <a:solidFill>
                  <a:schemeClr val="tx1"/>
                </a:solidFill>
                <a:latin typeface="+mn-ea"/>
                <a:ea typeface="+mn-ea"/>
              </a:rPr>
              <a:t>현지조사는 학습자가 실제 사회 문제를 관찰하고 분석함으로써 이론과 현실의 격차를 줄이고 실용적인 기술을 배우는 기회를 제공한다</a:t>
            </a:r>
            <a:r>
              <a:rPr lang="en-US" altLang="ko-KR" sz="3000" dirty="0">
                <a:solidFill>
                  <a:schemeClr val="tx1"/>
                </a:solidFill>
                <a:latin typeface="+mn-ea"/>
                <a:ea typeface="+mn-ea"/>
              </a:rPr>
              <a:t>. </a:t>
            </a:r>
          </a:p>
          <a:p>
            <a:pPr marL="457200" indent="-457200" algn="just">
              <a:lnSpc>
                <a:spcPct val="11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altLang="ko-KR" sz="3000" dirty="0">
                <a:solidFill>
                  <a:schemeClr val="tx1"/>
                </a:solidFill>
                <a:latin typeface="+mn-ea"/>
                <a:ea typeface="+mn-ea"/>
              </a:rPr>
              <a:t>Traber </a:t>
            </a:r>
            <a:r>
              <a:rPr lang="ko-KR" altLang="en-US" sz="3000" dirty="0">
                <a:solidFill>
                  <a:schemeClr val="tx1"/>
                </a:solidFill>
                <a:latin typeface="+mn-ea"/>
                <a:ea typeface="+mn-ea"/>
              </a:rPr>
              <a:t>외</a:t>
            </a:r>
            <a:r>
              <a:rPr lang="en-US" altLang="ko-KR" sz="3000" dirty="0">
                <a:solidFill>
                  <a:schemeClr val="tx1"/>
                </a:solidFill>
                <a:latin typeface="+mn-ea"/>
                <a:ea typeface="+mn-ea"/>
              </a:rPr>
              <a:t>(2021)</a:t>
            </a:r>
            <a:r>
              <a:rPr lang="ko-KR" altLang="en-US" sz="3000" dirty="0">
                <a:solidFill>
                  <a:schemeClr val="tx1"/>
                </a:solidFill>
                <a:latin typeface="+mn-ea"/>
                <a:ea typeface="+mn-ea"/>
              </a:rPr>
              <a:t>는 사회복지 교육에서도 현지조사의 중요성을 언급하며</a:t>
            </a:r>
            <a:r>
              <a:rPr lang="en-US" altLang="ko-KR" sz="3000" dirty="0">
                <a:solidFill>
                  <a:schemeClr val="tx1"/>
                </a:solidFill>
                <a:latin typeface="+mn-ea"/>
                <a:ea typeface="+mn-ea"/>
              </a:rPr>
              <a:t>, </a:t>
            </a:r>
            <a:r>
              <a:rPr lang="ko-KR" altLang="en-US" sz="3000" dirty="0">
                <a:solidFill>
                  <a:schemeClr val="tx1"/>
                </a:solidFill>
                <a:latin typeface="+mn-ea"/>
                <a:ea typeface="+mn-ea"/>
              </a:rPr>
              <a:t>교육과정에서의 필요성을 제시한다</a:t>
            </a:r>
            <a:r>
              <a:rPr lang="en-US" altLang="ko-KR" sz="3000" dirty="0">
                <a:solidFill>
                  <a:schemeClr val="tx1"/>
                </a:solidFill>
                <a:latin typeface="+mn-ea"/>
                <a:ea typeface="+mn-ea"/>
              </a:rPr>
              <a:t>. </a:t>
            </a:r>
          </a:p>
          <a:p>
            <a:pPr marL="457200" indent="-457200" algn="just">
              <a:lnSpc>
                <a:spcPct val="11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ko-KR" altLang="en-US" sz="3000" dirty="0">
                <a:solidFill>
                  <a:schemeClr val="tx1"/>
                </a:solidFill>
                <a:latin typeface="+mn-ea"/>
                <a:ea typeface="+mn-ea"/>
              </a:rPr>
              <a:t>따라서 예비 </a:t>
            </a:r>
            <a:r>
              <a:rPr lang="ko-KR" altLang="en-US" sz="3000" dirty="0" err="1">
                <a:solidFill>
                  <a:schemeClr val="tx1"/>
                </a:solidFill>
                <a:latin typeface="+mn-ea"/>
                <a:ea typeface="+mn-ea"/>
              </a:rPr>
              <a:t>사회과</a:t>
            </a:r>
            <a:r>
              <a:rPr lang="ko-KR" altLang="en-US" sz="3000" dirty="0">
                <a:solidFill>
                  <a:schemeClr val="tx1"/>
                </a:solidFill>
                <a:latin typeface="+mn-ea"/>
                <a:ea typeface="+mn-ea"/>
              </a:rPr>
              <a:t> 교사들의 현지조사에 대한 인식을 탐색하는 것은 교육 현장에서의 효과적인 활용 방안을 모색하는 데 중요한 통찰을 제공한다</a:t>
            </a:r>
            <a:r>
              <a:rPr lang="en-US" altLang="ko-KR" sz="3000" dirty="0">
                <a:solidFill>
                  <a:schemeClr val="tx1"/>
                </a:solidFill>
                <a:latin typeface="+mn-ea"/>
                <a:ea typeface="+mn-ea"/>
              </a:rPr>
              <a:t>.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242B0ED3-ED6E-8639-3FED-B576DB688CB3}"/>
              </a:ext>
            </a:extLst>
          </p:cNvPr>
          <p:cNvSpPr txBox="1"/>
          <p:nvPr/>
        </p:nvSpPr>
        <p:spPr>
          <a:xfrm>
            <a:off x="2193464" y="33972048"/>
            <a:ext cx="12831097" cy="988142"/>
          </a:xfrm>
          <a:prstGeom prst="roundRect">
            <a:avLst/>
          </a:prstGeom>
          <a:solidFill>
            <a:srgbClr val="144E37"/>
          </a:solidFill>
        </p:spPr>
        <p:txBody>
          <a:bodyPr wrap="square" rtlCol="0" anchor="ctr" anchorCtr="0">
            <a:noAutofit/>
          </a:bodyPr>
          <a:lstStyle/>
          <a:p>
            <a:pPr algn="ctr"/>
            <a:r>
              <a:rPr lang="en-US" altLang="ko-KR" sz="48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맑은 고딕" panose="020B0503020000020004" pitchFamily="50" charset="-127"/>
                <a:ea typeface="맑은 고딕" panose="020B0503020000020004" pitchFamily="50" charset="-127"/>
              </a:rPr>
              <a:t>3. </a:t>
            </a:r>
            <a:r>
              <a:rPr lang="ko-KR" altLang="en-US" sz="48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맑은 고딕" panose="020B0503020000020004" pitchFamily="50" charset="-127"/>
                <a:ea typeface="맑은 고딕" panose="020B0503020000020004" pitchFamily="50" charset="-127"/>
              </a:rPr>
              <a:t>연구 방법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EA325F2C-3FED-6EFA-515F-ECC177FF5246}"/>
              </a:ext>
            </a:extLst>
          </p:cNvPr>
          <p:cNvSpPr txBox="1"/>
          <p:nvPr/>
        </p:nvSpPr>
        <p:spPr>
          <a:xfrm>
            <a:off x="17164057" y="8259221"/>
            <a:ext cx="12831097" cy="799423"/>
          </a:xfrm>
          <a:prstGeom prst="roundRect">
            <a:avLst/>
          </a:prstGeom>
          <a:solidFill>
            <a:schemeClr val="bg1">
              <a:lumMod val="50000"/>
            </a:schemeClr>
          </a:solidFill>
        </p:spPr>
        <p:txBody>
          <a:bodyPr wrap="square" rtlCol="0" anchor="ctr" anchorCtr="0">
            <a:noAutofit/>
          </a:bodyPr>
          <a:lstStyle/>
          <a:p>
            <a:pPr algn="ctr"/>
            <a:r>
              <a:rPr lang="en-US" altLang="ko-KR" sz="4400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4.1 </a:t>
            </a:r>
            <a:r>
              <a:rPr lang="ko-KR" altLang="en-US" sz="4400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인식유형의 추출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16450FFB-4E66-1D3A-B517-FA90E23464C3}"/>
              </a:ext>
            </a:extLst>
          </p:cNvPr>
          <p:cNvSpPr txBox="1"/>
          <p:nvPr/>
        </p:nvSpPr>
        <p:spPr>
          <a:xfrm>
            <a:off x="17164057" y="7072361"/>
            <a:ext cx="12831097" cy="988142"/>
          </a:xfrm>
          <a:prstGeom prst="roundRect">
            <a:avLst/>
          </a:prstGeom>
          <a:solidFill>
            <a:srgbClr val="144E37"/>
          </a:solidFill>
        </p:spPr>
        <p:txBody>
          <a:bodyPr wrap="square" rtlCol="0" anchor="ctr" anchorCtr="0">
            <a:noAutofit/>
          </a:bodyPr>
          <a:lstStyle/>
          <a:p>
            <a:pPr algn="ctr"/>
            <a:r>
              <a:rPr lang="en-US" altLang="ko-KR" sz="48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맑은 고딕" panose="020B0503020000020004" pitchFamily="50" charset="-127"/>
                <a:ea typeface="맑은 고딕" panose="020B0503020000020004" pitchFamily="50" charset="-127"/>
              </a:rPr>
              <a:t>4. </a:t>
            </a:r>
            <a:r>
              <a:rPr lang="ko-KR" altLang="en-US" sz="48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맑은 고딕" panose="020B0503020000020004" pitchFamily="50" charset="-127"/>
                <a:ea typeface="맑은 고딕" panose="020B0503020000020004" pitchFamily="50" charset="-127"/>
              </a:rPr>
              <a:t>연구결과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EF4093C4-AA19-6C39-8B8D-AD4B4AC8A6D4}"/>
              </a:ext>
            </a:extLst>
          </p:cNvPr>
          <p:cNvSpPr txBox="1"/>
          <p:nvPr/>
        </p:nvSpPr>
        <p:spPr>
          <a:xfrm>
            <a:off x="16468522" y="28988671"/>
            <a:ext cx="14077932" cy="6374053"/>
          </a:xfrm>
          <a:prstGeom prst="rect">
            <a:avLst/>
          </a:prstGeom>
          <a:noFill/>
        </p:spPr>
        <p:txBody>
          <a:bodyPr wrap="square" rtlCol="0" anchor="t" anchorCtr="0">
            <a:spAutoFit/>
          </a:bodyPr>
          <a:lstStyle/>
          <a:p>
            <a:pPr marL="571500" indent="-571500" algn="just">
              <a:lnSpc>
                <a:spcPct val="110000"/>
              </a:lnSpc>
              <a:spcBef>
                <a:spcPts val="600"/>
              </a:spcBef>
              <a:buFont typeface="Wingdings" panose="05000000000000000000" pitchFamily="2" charset="2"/>
              <a:buChar char="Ø"/>
            </a:pPr>
            <a:r>
              <a:rPr lang="ko-KR" altLang="en-US" sz="300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역량 강화형</a:t>
            </a:r>
            <a:r>
              <a:rPr lang="en-US" altLang="ko-KR" sz="300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: </a:t>
            </a:r>
            <a:r>
              <a:rPr lang="ko-KR" altLang="en-US" sz="30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현지조사가 교수자와 학습자의 자기주도성</a:t>
            </a:r>
            <a:r>
              <a:rPr lang="en-US" altLang="ko-KR" sz="30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30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문제해결능력</a:t>
            </a:r>
            <a:r>
              <a:rPr lang="en-US" altLang="ko-KR" sz="30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30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창의성</a:t>
            </a:r>
            <a:r>
              <a:rPr lang="en-US" altLang="ko-KR" sz="30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30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책임감을 향상시킨다고 인식한다</a:t>
            </a:r>
            <a:r>
              <a:rPr lang="en-US" altLang="ko-KR" sz="30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 </a:t>
            </a:r>
            <a:r>
              <a:rPr lang="ko-KR" altLang="en-US" sz="30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그러나 수업에서의 실제 활용의 어려움에 대해서는 부정적인 입장을 보인다</a:t>
            </a:r>
            <a:r>
              <a:rPr lang="en-US" altLang="ko-KR" sz="30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</a:p>
          <a:p>
            <a:pPr marL="571500" indent="-571500" algn="just">
              <a:lnSpc>
                <a:spcPct val="110000"/>
              </a:lnSpc>
              <a:spcBef>
                <a:spcPts val="600"/>
              </a:spcBef>
              <a:buFont typeface="Wingdings" panose="05000000000000000000" pitchFamily="2" charset="2"/>
              <a:buChar char="Ø"/>
            </a:pPr>
            <a:r>
              <a:rPr lang="ko-KR" altLang="en-US" sz="300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도전적 성장형</a:t>
            </a:r>
            <a:r>
              <a:rPr lang="en-US" altLang="ko-KR" sz="300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: </a:t>
            </a:r>
            <a:r>
              <a:rPr lang="ko-KR" altLang="en-US" sz="30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현지조사가 교수자의 수업 개발 능력과 학습자의 동기부여에 긍정적인 영향을 미친다고 인식하지만</a:t>
            </a:r>
            <a:r>
              <a:rPr lang="en-US" altLang="ko-KR" sz="30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30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현지조사에서 발생하는 제약 요인에는 부정적이다</a:t>
            </a:r>
            <a:r>
              <a:rPr lang="en-US" altLang="ko-KR" sz="30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</a:p>
          <a:p>
            <a:pPr marL="571500" indent="-571500" algn="just">
              <a:lnSpc>
                <a:spcPct val="110000"/>
              </a:lnSpc>
              <a:spcBef>
                <a:spcPts val="600"/>
              </a:spcBef>
              <a:buFont typeface="Wingdings" panose="05000000000000000000" pitchFamily="2" charset="2"/>
              <a:buChar char="Ø"/>
            </a:pPr>
            <a:r>
              <a:rPr lang="ko-KR" altLang="en-US" sz="300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실천적 경험형</a:t>
            </a:r>
            <a:r>
              <a:rPr lang="en-US" altLang="ko-KR" sz="300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: </a:t>
            </a:r>
            <a:r>
              <a:rPr lang="ko-KR" altLang="en-US" sz="30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현지조사가 교수자와 학습자의 개인적</a:t>
            </a:r>
            <a:r>
              <a:rPr lang="en-US" altLang="ko-KR" sz="30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30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사회적 능력 개발에 긍정적인 영향을 미친다고 보지만</a:t>
            </a:r>
            <a:r>
              <a:rPr lang="en-US" altLang="ko-KR" sz="30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30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실제 활용의 어려움에 대해서는 부정적인 입장을 취한다</a:t>
            </a:r>
            <a:r>
              <a:rPr lang="en-US" altLang="ko-KR" sz="30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</a:p>
          <a:p>
            <a:pPr marL="571500" indent="-571500" algn="just">
              <a:lnSpc>
                <a:spcPct val="110000"/>
              </a:lnSpc>
              <a:spcBef>
                <a:spcPts val="600"/>
              </a:spcBef>
              <a:buFont typeface="Wingdings" panose="05000000000000000000" pitchFamily="2" charset="2"/>
              <a:buChar char="Ø"/>
            </a:pPr>
            <a:r>
              <a:rPr lang="ko-KR" altLang="en-US" sz="300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실천적 한계 인식형</a:t>
            </a:r>
            <a:r>
              <a:rPr lang="en-US" altLang="ko-KR" sz="300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: </a:t>
            </a:r>
            <a:r>
              <a:rPr lang="ko-KR" altLang="en-US" sz="30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현지조사가 안전 문제와 제한된 활용 시간 등 실천의 어려움에 동의하며</a:t>
            </a:r>
            <a:r>
              <a:rPr lang="en-US" altLang="ko-KR" sz="30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30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교수자와 학습자의 역량 향상에 대해서는 부정적인 입장을 갖고 있다</a:t>
            </a:r>
            <a:r>
              <a:rPr lang="en-US" altLang="ko-KR" sz="30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8DF85E3D-867C-7B57-F323-7BA39F436EB9}"/>
              </a:ext>
            </a:extLst>
          </p:cNvPr>
          <p:cNvSpPr txBox="1"/>
          <p:nvPr/>
        </p:nvSpPr>
        <p:spPr>
          <a:xfrm>
            <a:off x="17164057" y="16289580"/>
            <a:ext cx="12831097" cy="799423"/>
          </a:xfrm>
          <a:prstGeom prst="roundRect">
            <a:avLst/>
          </a:prstGeom>
          <a:solidFill>
            <a:schemeClr val="bg1">
              <a:lumMod val="50000"/>
            </a:schemeClr>
          </a:solidFill>
        </p:spPr>
        <p:txBody>
          <a:bodyPr wrap="square" rtlCol="0" anchor="ctr" anchorCtr="0">
            <a:noAutofit/>
          </a:bodyPr>
          <a:lstStyle/>
          <a:p>
            <a:pPr algn="ctr"/>
            <a:r>
              <a:rPr lang="en-US" altLang="ko-KR" sz="4400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4.2 </a:t>
            </a:r>
            <a:r>
              <a:rPr lang="ko-KR" altLang="en-US" sz="4400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인식유형의 특성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BFDE6A4E-F71D-AC90-6810-0ADA55BE483C}"/>
              </a:ext>
            </a:extLst>
          </p:cNvPr>
          <p:cNvSpPr txBox="1"/>
          <p:nvPr/>
        </p:nvSpPr>
        <p:spPr>
          <a:xfrm>
            <a:off x="1597237" y="37868556"/>
            <a:ext cx="14077932" cy="3250121"/>
          </a:xfrm>
          <a:prstGeom prst="rect">
            <a:avLst/>
          </a:prstGeom>
          <a:noFill/>
        </p:spPr>
        <p:txBody>
          <a:bodyPr wrap="square" rtlCol="0" anchor="t" anchorCtr="0">
            <a:spAutoFit/>
          </a:bodyPr>
          <a:lstStyle/>
          <a:p>
            <a:pPr marL="457200" indent="-457200" algn="just">
              <a:lnSpc>
                <a:spcPct val="11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ko-KR" altLang="en-US" sz="30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본 연구는 </a:t>
            </a:r>
            <a:r>
              <a:rPr lang="en-US" altLang="ko-KR" sz="30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Q</a:t>
            </a:r>
            <a:r>
              <a:rPr lang="ko-KR" altLang="en-US" sz="30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방법론을 사용하여 예비 </a:t>
            </a:r>
            <a:r>
              <a:rPr lang="ko-KR" altLang="en-US" sz="3000" dirty="0" err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사회과</a:t>
            </a:r>
            <a:r>
              <a:rPr lang="ko-KR" altLang="en-US" sz="30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교사들의 현지조사에 대한 인식을 탐색하였다</a:t>
            </a:r>
            <a:r>
              <a:rPr lang="en-US" altLang="ko-KR" sz="30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 </a:t>
            </a:r>
          </a:p>
          <a:p>
            <a:pPr marL="457200" indent="-457200" algn="just">
              <a:lnSpc>
                <a:spcPct val="11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ko-KR" altLang="en-US" sz="30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연구 대상은 ‘문화와 사회’ 수업을 수강한 </a:t>
            </a:r>
            <a:r>
              <a:rPr lang="en-US" altLang="ko-KR" sz="30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17</a:t>
            </a:r>
            <a:r>
              <a:rPr lang="ko-KR" altLang="en-US" sz="30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명의 예비 </a:t>
            </a:r>
            <a:r>
              <a:rPr lang="ko-KR" altLang="en-US" sz="3000" dirty="0" err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사회과</a:t>
            </a:r>
            <a:r>
              <a:rPr lang="ko-KR" altLang="en-US" sz="30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교사로 선정하였다</a:t>
            </a:r>
            <a:r>
              <a:rPr lang="en-US" altLang="ko-KR" sz="30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 </a:t>
            </a:r>
          </a:p>
          <a:p>
            <a:pPr marL="457200" indent="-457200" algn="just">
              <a:lnSpc>
                <a:spcPct val="11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altLang="ko-KR" sz="30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Q</a:t>
            </a:r>
            <a:r>
              <a:rPr lang="ko-KR" altLang="en-US" sz="30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진술문은 선행연구와 서면 인터뷰를 통해 </a:t>
            </a:r>
            <a:r>
              <a:rPr lang="en-US" altLang="ko-KR" sz="30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154</a:t>
            </a:r>
            <a:r>
              <a:rPr lang="ko-KR" altLang="en-US" sz="30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개의 진술문을 추출하고</a:t>
            </a:r>
            <a:r>
              <a:rPr lang="en-US" altLang="ko-KR" sz="30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30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전문가 집단의 협의를 거쳐 최종 </a:t>
            </a:r>
            <a:r>
              <a:rPr lang="en-US" altLang="ko-KR" sz="30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34</a:t>
            </a:r>
            <a:r>
              <a:rPr lang="ko-KR" altLang="en-US" sz="30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개의 </a:t>
            </a:r>
            <a:r>
              <a:rPr lang="en-US" altLang="ko-KR" sz="30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Q</a:t>
            </a:r>
            <a:r>
              <a:rPr lang="ko-KR" altLang="en-US" sz="30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진술문을 선정하였다</a:t>
            </a:r>
            <a:r>
              <a:rPr lang="en-US" altLang="ko-KR" sz="30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F9B4AD53-83B3-C9F5-51B2-DB99FA3B41DD}"/>
              </a:ext>
            </a:extLst>
          </p:cNvPr>
          <p:cNvSpPr txBox="1"/>
          <p:nvPr/>
        </p:nvSpPr>
        <p:spPr>
          <a:xfrm>
            <a:off x="16464653" y="37123735"/>
            <a:ext cx="14077932" cy="4342727"/>
          </a:xfrm>
          <a:prstGeom prst="rect">
            <a:avLst/>
          </a:prstGeom>
          <a:noFill/>
        </p:spPr>
        <p:txBody>
          <a:bodyPr wrap="square" rtlCol="0" anchor="t" anchorCtr="0">
            <a:spAutoFit/>
          </a:bodyPr>
          <a:lstStyle/>
          <a:p>
            <a:pPr marL="457200" indent="-457200" algn="just">
              <a:lnSpc>
                <a:spcPct val="11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ko-KR" altLang="en-US" sz="30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본 연구는 현지조사 활용 수업에 대한 다양한 인식유형을 식별하고</a:t>
            </a:r>
            <a:r>
              <a:rPr lang="en-US" altLang="ko-KR" sz="30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30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이들 유형의 특성을 분석하여 교육적 맥락에서의 의미와 가치를 이해하고자 하였다</a:t>
            </a:r>
            <a:r>
              <a:rPr lang="en-US" altLang="ko-KR" sz="30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 </a:t>
            </a:r>
          </a:p>
          <a:p>
            <a:pPr marL="457200" indent="-457200" algn="just">
              <a:lnSpc>
                <a:spcPct val="11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ko-KR" altLang="en-US" sz="30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연구 결과</a:t>
            </a:r>
            <a:r>
              <a:rPr lang="en-US" altLang="ko-KR" sz="30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30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네 가지 주요 인식유형이 확인되었으며</a:t>
            </a:r>
            <a:r>
              <a:rPr lang="en-US" altLang="ko-KR" sz="30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30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각 유형은 현지조사에 대한 다양한 관점과 태도를 반영하고 있다</a:t>
            </a:r>
            <a:r>
              <a:rPr lang="en-US" altLang="ko-KR" sz="30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 </a:t>
            </a:r>
          </a:p>
          <a:p>
            <a:pPr marL="457200" indent="-457200" algn="just">
              <a:lnSpc>
                <a:spcPct val="11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ko-KR" altLang="en-US" sz="30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현지조사는 교수자와 학습자에게 교육적 가치를 제공하며</a:t>
            </a:r>
            <a:r>
              <a:rPr lang="en-US" altLang="ko-KR" sz="30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30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실행 과정에서의 한계도 인식되고 있다</a:t>
            </a:r>
            <a:r>
              <a:rPr lang="en-US" altLang="ko-KR" sz="30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 </a:t>
            </a:r>
          </a:p>
          <a:p>
            <a:pPr marL="457200" indent="-457200" algn="just">
              <a:lnSpc>
                <a:spcPct val="11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ko-KR" altLang="en-US" sz="30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이러한 결과를 바탕으로 교육 커리큘럼에 현지조사를 포함하고</a:t>
            </a:r>
            <a:r>
              <a:rPr lang="en-US" altLang="ko-KR" sz="30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30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현장 경험을 통한 학습의 중요성을 강조할 필요가 있다</a:t>
            </a:r>
            <a:r>
              <a:rPr lang="en-US" altLang="ko-KR" sz="30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44DB5C72-10DB-645B-FE38-90654C6ADD88}"/>
              </a:ext>
            </a:extLst>
          </p:cNvPr>
          <p:cNvSpPr txBox="1"/>
          <p:nvPr/>
        </p:nvSpPr>
        <p:spPr>
          <a:xfrm>
            <a:off x="17160188" y="35730983"/>
            <a:ext cx="12831097" cy="988142"/>
          </a:xfrm>
          <a:prstGeom prst="roundRect">
            <a:avLst/>
          </a:prstGeom>
          <a:solidFill>
            <a:srgbClr val="144E37"/>
          </a:solidFill>
        </p:spPr>
        <p:txBody>
          <a:bodyPr wrap="square" rtlCol="0" anchor="ctr" anchorCtr="0">
            <a:noAutofit/>
          </a:bodyPr>
          <a:lstStyle/>
          <a:p>
            <a:pPr algn="ctr"/>
            <a:r>
              <a:rPr lang="en-US" altLang="ko-KR" sz="48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맑은 고딕" panose="020B0503020000020004" pitchFamily="50" charset="-127"/>
                <a:ea typeface="맑은 고딕" panose="020B0503020000020004" pitchFamily="50" charset="-127"/>
              </a:rPr>
              <a:t>5. </a:t>
            </a:r>
            <a:r>
              <a:rPr lang="ko-KR" altLang="en-US" sz="48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맑은 고딕" panose="020B0503020000020004" pitchFamily="50" charset="-127"/>
                <a:ea typeface="맑은 고딕" panose="020B0503020000020004" pitchFamily="50" charset="-127"/>
              </a:rPr>
              <a:t>결론 및 논의</a:t>
            </a: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5FFDC54B-F9E6-55B6-F143-C18F8BA3B5E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26583" y="35457562"/>
            <a:ext cx="11164858" cy="1352739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A47C2424-FE81-6492-0A0E-88689074304D}"/>
              </a:ext>
            </a:extLst>
          </p:cNvPr>
          <p:cNvSpPr txBox="1"/>
          <p:nvPr/>
        </p:nvSpPr>
        <p:spPr>
          <a:xfrm>
            <a:off x="1570046" y="37138348"/>
            <a:ext cx="14077932" cy="402161"/>
          </a:xfrm>
          <a:prstGeom prst="rect">
            <a:avLst/>
          </a:prstGeom>
          <a:noFill/>
        </p:spPr>
        <p:txBody>
          <a:bodyPr wrap="square" rtlCol="0" anchor="t" anchorCtr="0">
            <a:spAutoFit/>
          </a:bodyPr>
          <a:lstStyle/>
          <a:p>
            <a:pPr algn="ctr">
              <a:lnSpc>
                <a:spcPct val="110000"/>
              </a:lnSpc>
              <a:spcBef>
                <a:spcPts val="600"/>
              </a:spcBef>
            </a:pPr>
            <a:r>
              <a:rPr lang="ko-KR" altLang="en-US" sz="20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20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[</a:t>
            </a:r>
            <a:r>
              <a:rPr lang="ko-KR" altLang="en-US" sz="20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그림 </a:t>
            </a:r>
            <a:r>
              <a:rPr lang="en-US" altLang="ko-KR" sz="20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1] </a:t>
            </a:r>
            <a:r>
              <a:rPr lang="ko-KR" altLang="en-US" sz="20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연구 진행 절차 </a:t>
            </a:r>
            <a:r>
              <a:rPr lang="en-US" altLang="ko-KR" sz="20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(</a:t>
            </a:r>
            <a:r>
              <a:rPr lang="ko-KR" altLang="en-US" sz="20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출처</a:t>
            </a:r>
            <a:r>
              <a:rPr lang="en-US" altLang="ko-KR" sz="20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: </a:t>
            </a:r>
            <a:r>
              <a:rPr lang="ko-KR" altLang="en-US" sz="2000" dirty="0" err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서대진</a:t>
            </a:r>
            <a:r>
              <a:rPr lang="ko-KR" altLang="en-US" sz="20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외</a:t>
            </a:r>
            <a:r>
              <a:rPr lang="en-US" altLang="ko-KR" sz="20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2016) </a:t>
            </a:r>
          </a:p>
        </p:txBody>
      </p:sp>
      <p:pic>
        <p:nvPicPr>
          <p:cNvPr id="12" name="그림 11">
            <a:extLst>
              <a:ext uri="{FF2B5EF4-FFF2-40B4-BE49-F238E27FC236}">
                <a16:creationId xmlns:a16="http://schemas.microsoft.com/office/drawing/2014/main" id="{9FA0C69A-83B2-0927-43A8-17D7FBB59BE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160188" y="9890962"/>
            <a:ext cx="13382397" cy="2695066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1411DB79-0607-C791-BAA4-474EC0A28CE5}"/>
              </a:ext>
            </a:extLst>
          </p:cNvPr>
          <p:cNvSpPr txBox="1"/>
          <p:nvPr/>
        </p:nvSpPr>
        <p:spPr>
          <a:xfrm>
            <a:off x="18346621" y="9325889"/>
            <a:ext cx="11009530" cy="402161"/>
          </a:xfrm>
          <a:prstGeom prst="rect">
            <a:avLst/>
          </a:prstGeom>
          <a:noFill/>
        </p:spPr>
        <p:txBody>
          <a:bodyPr wrap="square" rtlCol="0" anchor="t" anchorCtr="0">
            <a:spAutoFit/>
          </a:bodyPr>
          <a:lstStyle/>
          <a:p>
            <a:pPr algn="ctr">
              <a:lnSpc>
                <a:spcPct val="110000"/>
              </a:lnSpc>
              <a:spcBef>
                <a:spcPts val="600"/>
              </a:spcBef>
            </a:pPr>
            <a:r>
              <a:rPr lang="en-US" altLang="ko-KR" sz="20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&lt;</a:t>
            </a:r>
            <a:r>
              <a:rPr lang="ko-KR" altLang="en-US" sz="20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표 </a:t>
            </a:r>
            <a:r>
              <a:rPr lang="en-US" altLang="ko-KR" sz="20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3&gt; 4</a:t>
            </a:r>
            <a:r>
              <a:rPr lang="ko-KR" altLang="en-US" sz="20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개 요인의 상관관계</a:t>
            </a:r>
            <a:endParaRPr lang="en-US" altLang="ko-KR" sz="2000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15" name="그림 14">
            <a:extLst>
              <a:ext uri="{FF2B5EF4-FFF2-40B4-BE49-F238E27FC236}">
                <a16:creationId xmlns:a16="http://schemas.microsoft.com/office/drawing/2014/main" id="{99AB9F69-F4B4-F70D-B7D0-9C229636CB1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261350" y="18075938"/>
            <a:ext cx="7266200" cy="4754702"/>
          </a:xfrm>
          <a:prstGeom prst="rect">
            <a:avLst/>
          </a:prstGeom>
        </p:spPr>
      </p:pic>
      <p:pic>
        <p:nvPicPr>
          <p:cNvPr id="17" name="그림 16">
            <a:extLst>
              <a:ext uri="{FF2B5EF4-FFF2-40B4-BE49-F238E27FC236}">
                <a16:creationId xmlns:a16="http://schemas.microsoft.com/office/drawing/2014/main" id="{32A84BEC-845B-3412-7F96-21E6A935554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3787939" y="18081863"/>
            <a:ext cx="7266199" cy="4754702"/>
          </a:xfrm>
          <a:prstGeom prst="rect">
            <a:avLst/>
          </a:prstGeom>
        </p:spPr>
      </p:pic>
      <p:pic>
        <p:nvPicPr>
          <p:cNvPr id="19" name="그림 18">
            <a:extLst>
              <a:ext uri="{FF2B5EF4-FFF2-40B4-BE49-F238E27FC236}">
                <a16:creationId xmlns:a16="http://schemas.microsoft.com/office/drawing/2014/main" id="{281B3E28-F825-0BA0-D968-B7184436E5C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6261350" y="23711731"/>
            <a:ext cx="7266199" cy="4754702"/>
          </a:xfrm>
          <a:prstGeom prst="rect">
            <a:avLst/>
          </a:prstGeom>
        </p:spPr>
      </p:pic>
      <p:pic>
        <p:nvPicPr>
          <p:cNvPr id="28" name="그림 27">
            <a:extLst>
              <a:ext uri="{FF2B5EF4-FFF2-40B4-BE49-F238E27FC236}">
                <a16:creationId xmlns:a16="http://schemas.microsoft.com/office/drawing/2014/main" id="{9131F48D-75AE-ED32-DC0B-91842E903EDA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3768095" y="23688827"/>
            <a:ext cx="7266199" cy="4754702"/>
          </a:xfrm>
          <a:prstGeom prst="rect">
            <a:avLst/>
          </a:prstGeom>
        </p:spPr>
      </p:pic>
      <p:sp>
        <p:nvSpPr>
          <p:cNvPr id="29" name="TextBox 28">
            <a:extLst>
              <a:ext uri="{FF2B5EF4-FFF2-40B4-BE49-F238E27FC236}">
                <a16:creationId xmlns:a16="http://schemas.microsoft.com/office/drawing/2014/main" id="{0F572607-D37A-621A-DEF7-FFFDE56B1954}"/>
              </a:ext>
            </a:extLst>
          </p:cNvPr>
          <p:cNvSpPr txBox="1"/>
          <p:nvPr/>
        </p:nvSpPr>
        <p:spPr>
          <a:xfrm>
            <a:off x="23768095" y="23138755"/>
            <a:ext cx="7286043" cy="402161"/>
          </a:xfrm>
          <a:prstGeom prst="rect">
            <a:avLst/>
          </a:prstGeom>
          <a:noFill/>
        </p:spPr>
        <p:txBody>
          <a:bodyPr wrap="square" rtlCol="0" anchor="t" anchorCtr="0">
            <a:spAutoFit/>
          </a:bodyPr>
          <a:lstStyle/>
          <a:p>
            <a:pPr algn="ctr">
              <a:lnSpc>
                <a:spcPct val="110000"/>
              </a:lnSpc>
              <a:spcBef>
                <a:spcPts val="600"/>
              </a:spcBef>
            </a:pPr>
            <a:r>
              <a:rPr lang="ko-KR" altLang="en-US" sz="20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20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&lt;</a:t>
            </a:r>
            <a:r>
              <a:rPr lang="ko-KR" altLang="en-US" sz="20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표 </a:t>
            </a:r>
            <a:r>
              <a:rPr lang="en-US" altLang="ko-KR" sz="20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8&gt; </a:t>
            </a:r>
            <a:r>
              <a:rPr lang="ko-KR" altLang="en-US" sz="20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제</a:t>
            </a:r>
            <a:r>
              <a:rPr lang="en-US" altLang="ko-KR" sz="20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4</a:t>
            </a:r>
            <a:r>
              <a:rPr lang="ko-KR" altLang="en-US" sz="20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유형</a:t>
            </a:r>
            <a:r>
              <a:rPr lang="en-US" altLang="ko-KR" sz="20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: </a:t>
            </a:r>
            <a:r>
              <a:rPr lang="ko-KR" altLang="en-US" sz="20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실천적 한계 인식형</a:t>
            </a:r>
            <a:endParaRPr lang="en-US" altLang="ko-KR" sz="2000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59F39BC5-C144-E768-6187-A8D84C50BF13}"/>
              </a:ext>
            </a:extLst>
          </p:cNvPr>
          <p:cNvSpPr txBox="1"/>
          <p:nvPr/>
        </p:nvSpPr>
        <p:spPr>
          <a:xfrm>
            <a:off x="16148452" y="23100016"/>
            <a:ext cx="7286043" cy="402161"/>
          </a:xfrm>
          <a:prstGeom prst="rect">
            <a:avLst/>
          </a:prstGeom>
          <a:noFill/>
        </p:spPr>
        <p:txBody>
          <a:bodyPr wrap="square" rtlCol="0" anchor="t" anchorCtr="0">
            <a:spAutoFit/>
          </a:bodyPr>
          <a:lstStyle/>
          <a:p>
            <a:pPr algn="ctr">
              <a:lnSpc>
                <a:spcPct val="110000"/>
              </a:lnSpc>
              <a:spcBef>
                <a:spcPts val="600"/>
              </a:spcBef>
            </a:pPr>
            <a:r>
              <a:rPr lang="ko-KR" altLang="en-US" sz="20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20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&lt;</a:t>
            </a:r>
            <a:r>
              <a:rPr lang="ko-KR" altLang="en-US" sz="20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표 </a:t>
            </a:r>
            <a:r>
              <a:rPr lang="en-US" altLang="ko-KR" sz="20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7&gt; </a:t>
            </a:r>
            <a:r>
              <a:rPr lang="ko-KR" altLang="en-US" sz="20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제</a:t>
            </a:r>
            <a:r>
              <a:rPr lang="en-US" altLang="ko-KR" sz="20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3</a:t>
            </a:r>
            <a:r>
              <a:rPr lang="ko-KR" altLang="en-US" sz="20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유형</a:t>
            </a:r>
            <a:r>
              <a:rPr lang="en-US" altLang="ko-KR" sz="20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: </a:t>
            </a:r>
            <a:r>
              <a:rPr lang="ko-KR" altLang="en-US" sz="20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실천적경험형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CB4E40DC-796B-FF98-6889-427E08DE4213}"/>
              </a:ext>
            </a:extLst>
          </p:cNvPr>
          <p:cNvSpPr txBox="1"/>
          <p:nvPr/>
        </p:nvSpPr>
        <p:spPr>
          <a:xfrm>
            <a:off x="23857600" y="17493896"/>
            <a:ext cx="7286043" cy="402161"/>
          </a:xfrm>
          <a:prstGeom prst="rect">
            <a:avLst/>
          </a:prstGeom>
          <a:noFill/>
        </p:spPr>
        <p:txBody>
          <a:bodyPr wrap="square" rtlCol="0" anchor="t" anchorCtr="0">
            <a:spAutoFit/>
          </a:bodyPr>
          <a:lstStyle/>
          <a:p>
            <a:pPr algn="ctr">
              <a:lnSpc>
                <a:spcPct val="110000"/>
              </a:lnSpc>
              <a:spcBef>
                <a:spcPts val="600"/>
              </a:spcBef>
            </a:pPr>
            <a:r>
              <a:rPr lang="ko-KR" altLang="en-US" sz="20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20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&lt;</a:t>
            </a:r>
            <a:r>
              <a:rPr lang="ko-KR" altLang="en-US" sz="20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표 </a:t>
            </a:r>
            <a:r>
              <a:rPr lang="en-US" altLang="ko-KR" sz="20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6&gt; </a:t>
            </a:r>
            <a:r>
              <a:rPr lang="ko-KR" altLang="en-US" sz="20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제</a:t>
            </a:r>
            <a:r>
              <a:rPr lang="en-US" altLang="ko-KR" sz="20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</a:t>
            </a:r>
            <a:r>
              <a:rPr lang="ko-KR" altLang="en-US" sz="20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유형</a:t>
            </a:r>
            <a:r>
              <a:rPr lang="en-US" altLang="ko-KR" sz="20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: </a:t>
            </a:r>
            <a:r>
              <a:rPr lang="ko-KR" altLang="en-US" sz="20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도전적성장형</a:t>
            </a:r>
            <a:endParaRPr lang="en-US" altLang="ko-KR" sz="2000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11D802AA-9EBF-D42A-A0D7-712747CB48C7}"/>
              </a:ext>
            </a:extLst>
          </p:cNvPr>
          <p:cNvSpPr txBox="1"/>
          <p:nvPr/>
        </p:nvSpPr>
        <p:spPr>
          <a:xfrm>
            <a:off x="16237957" y="17455157"/>
            <a:ext cx="7286043" cy="402161"/>
          </a:xfrm>
          <a:prstGeom prst="rect">
            <a:avLst/>
          </a:prstGeom>
          <a:noFill/>
        </p:spPr>
        <p:txBody>
          <a:bodyPr wrap="square" rtlCol="0" anchor="t" anchorCtr="0">
            <a:spAutoFit/>
          </a:bodyPr>
          <a:lstStyle/>
          <a:p>
            <a:pPr algn="ctr">
              <a:lnSpc>
                <a:spcPct val="110000"/>
              </a:lnSpc>
              <a:spcBef>
                <a:spcPts val="600"/>
              </a:spcBef>
            </a:pPr>
            <a:r>
              <a:rPr lang="ko-KR" altLang="en-US" sz="20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20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&lt;</a:t>
            </a:r>
            <a:r>
              <a:rPr lang="ko-KR" altLang="en-US" sz="20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표 </a:t>
            </a:r>
            <a:r>
              <a:rPr lang="en-US" altLang="ko-KR" sz="20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5&gt; </a:t>
            </a:r>
            <a:r>
              <a:rPr lang="ko-KR" altLang="en-US" sz="20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제</a:t>
            </a:r>
            <a:r>
              <a:rPr lang="en-US" altLang="ko-KR" sz="20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r>
            <a:r>
              <a:rPr lang="ko-KR" altLang="en-US" sz="20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유형</a:t>
            </a:r>
            <a:r>
              <a:rPr lang="en-US" altLang="ko-KR" sz="20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: </a:t>
            </a:r>
            <a:r>
              <a:rPr lang="ko-KR" altLang="en-US" sz="20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역량강화형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89</TotalTime>
  <Words>778</Words>
  <Application>Microsoft Office PowerPoint</Application>
  <PresentationFormat>사용자 지정</PresentationFormat>
  <Paragraphs>46</Paragraphs>
  <Slides>1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6" baseType="lpstr">
      <vt:lpstr>맑은 고딕</vt:lpstr>
      <vt:lpstr>맑은 고딕</vt:lpstr>
      <vt:lpstr>Arial</vt:lpstr>
      <vt:lpstr>Wingdings</vt:lpstr>
      <vt:lpstr>Office 테마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user</dc:creator>
  <cp:lastModifiedBy>하유 무</cp:lastModifiedBy>
  <cp:revision>5</cp:revision>
  <dcterms:created xsi:type="dcterms:W3CDTF">2024-07-31T09:14:56Z</dcterms:created>
  <dcterms:modified xsi:type="dcterms:W3CDTF">2024-11-13T06:08:22Z</dcterms:modified>
</cp:coreProperties>
</file>