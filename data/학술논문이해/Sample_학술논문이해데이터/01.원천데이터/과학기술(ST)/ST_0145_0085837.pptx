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482">
          <p15:clr>
            <a:srgbClr val="A4A3A4"/>
          </p15:clr>
        </p15:guide>
        <p15:guide id="2" pos="9536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gPi7jr+A4YPg74lnu0nHqD798K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2E59"/>
    <a:srgbClr val="954F79"/>
    <a:srgbClr val="6E2F53"/>
    <a:srgbClr val="7C456C"/>
    <a:srgbClr val="702D56"/>
    <a:srgbClr val="82456B"/>
    <a:srgbClr val="85486E"/>
    <a:srgbClr val="6C3059"/>
    <a:srgbClr val="5195D3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068" autoAdjust="0"/>
    <p:restoredTop sz="96370" autoAdjust="0"/>
  </p:normalViewPr>
  <p:slideViewPr>
    <p:cSldViewPr snapToGrid="0">
      <p:cViewPr>
        <p:scale>
          <a:sx n="33" d="100"/>
          <a:sy n="33" d="100"/>
        </p:scale>
        <p:origin x="2322" y="-3702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하유 무" userId="cb54ea464047e753" providerId="LiveId" clId="{EC4C71FC-97AF-42C8-994C-175FEC68FC7C}"/>
    <pc:docChg chg="undo custSel modSld">
      <pc:chgData name="하유 무" userId="cb54ea464047e753" providerId="LiveId" clId="{EC4C71FC-97AF-42C8-994C-175FEC68FC7C}" dt="2024-09-02T01:34:56.407" v="235" actId="1036"/>
      <pc:docMkLst>
        <pc:docMk/>
      </pc:docMkLst>
      <pc:sldChg chg="addSp delSp modSp mod">
        <pc:chgData name="하유 무" userId="cb54ea464047e753" providerId="LiveId" clId="{EC4C71FC-97AF-42C8-994C-175FEC68FC7C}" dt="2024-09-02T01:34:56.407" v="235" actId="1036"/>
        <pc:sldMkLst>
          <pc:docMk/>
          <pc:sldMk cId="0" sldId="256"/>
        </pc:sldMkLst>
        <pc:spChg chg="mod">
          <ac:chgData name="하유 무" userId="cb54ea464047e753" providerId="LiveId" clId="{EC4C71FC-97AF-42C8-994C-175FEC68FC7C}" dt="2024-09-02T01:16:02.232" v="25" actId="20577"/>
          <ac:spMkLst>
            <pc:docMk/>
            <pc:sldMk cId="0" sldId="256"/>
            <ac:spMk id="2" creationId="{0CE03EAB-86F0-7DD4-9239-A2A6E953730F}"/>
          </ac:spMkLst>
        </pc:spChg>
        <pc:spChg chg="mod">
          <ac:chgData name="하유 무" userId="cb54ea464047e753" providerId="LiveId" clId="{EC4C71FC-97AF-42C8-994C-175FEC68FC7C}" dt="2024-09-02T01:18:25.320" v="52"/>
          <ac:spMkLst>
            <pc:docMk/>
            <pc:sldMk cId="0" sldId="256"/>
            <ac:spMk id="6" creationId="{E12009F4-269B-45E5-5D31-AEB984B0C9C3}"/>
          </ac:spMkLst>
        </pc:spChg>
        <pc:spChg chg="add mod">
          <ac:chgData name="하유 무" userId="cb54ea464047e753" providerId="LiveId" clId="{EC4C71FC-97AF-42C8-994C-175FEC68FC7C}" dt="2024-09-02T01:23:02.556" v="105" actId="14100"/>
          <ac:spMkLst>
            <pc:docMk/>
            <pc:sldMk cId="0" sldId="256"/>
            <ac:spMk id="12" creationId="{7B824265-3896-6602-A90E-552AD80A612A}"/>
          </ac:spMkLst>
        </pc:spChg>
        <pc:spChg chg="del">
          <ac:chgData name="하유 무" userId="cb54ea464047e753" providerId="LiveId" clId="{EC4C71FC-97AF-42C8-994C-175FEC68FC7C}" dt="2024-09-02T01:20:53.369" v="63" actId="478"/>
          <ac:spMkLst>
            <pc:docMk/>
            <pc:sldMk cId="0" sldId="256"/>
            <ac:spMk id="16" creationId="{763536E1-962D-D137-D063-E7FEBE8DEF1E}"/>
          </ac:spMkLst>
        </pc:spChg>
        <pc:spChg chg="del">
          <ac:chgData name="하유 무" userId="cb54ea464047e753" providerId="LiveId" clId="{EC4C71FC-97AF-42C8-994C-175FEC68FC7C}" dt="2024-09-02T01:20:53.369" v="63" actId="478"/>
          <ac:spMkLst>
            <pc:docMk/>
            <pc:sldMk cId="0" sldId="256"/>
            <ac:spMk id="17" creationId="{E2A9AADD-F48E-8A49-2AD3-485AB684EF82}"/>
          </ac:spMkLst>
        </pc:spChg>
        <pc:spChg chg="del">
          <ac:chgData name="하유 무" userId="cb54ea464047e753" providerId="LiveId" clId="{EC4C71FC-97AF-42C8-994C-175FEC68FC7C}" dt="2024-09-02T01:27:42.153" v="161" actId="478"/>
          <ac:spMkLst>
            <pc:docMk/>
            <pc:sldMk cId="0" sldId="256"/>
            <ac:spMk id="18" creationId="{6EEDB2C3-2418-B30F-CD4D-43FD78C345B5}"/>
          </ac:spMkLst>
        </pc:spChg>
        <pc:spChg chg="del">
          <ac:chgData name="하유 무" userId="cb54ea464047e753" providerId="LiveId" clId="{EC4C71FC-97AF-42C8-994C-175FEC68FC7C}" dt="2024-09-02T01:27:42.153" v="161" actId="478"/>
          <ac:spMkLst>
            <pc:docMk/>
            <pc:sldMk cId="0" sldId="256"/>
            <ac:spMk id="19" creationId="{22371120-7332-020E-D0C6-AE02D793087C}"/>
          </ac:spMkLst>
        </pc:spChg>
        <pc:spChg chg="mod">
          <ac:chgData name="하유 무" userId="cb54ea464047e753" providerId="LiveId" clId="{EC4C71FC-97AF-42C8-994C-175FEC68FC7C}" dt="2024-09-02T01:22:06.528" v="95"/>
          <ac:spMkLst>
            <pc:docMk/>
            <pc:sldMk cId="0" sldId="256"/>
            <ac:spMk id="27" creationId="{D3B9B85D-8865-254D-E38C-9CA794825F2D}"/>
          </ac:spMkLst>
        </pc:spChg>
        <pc:spChg chg="mod">
          <ac:chgData name="하유 무" userId="cb54ea464047e753" providerId="LiveId" clId="{EC4C71FC-97AF-42C8-994C-175FEC68FC7C}" dt="2024-09-02T01:21:40.826" v="93"/>
          <ac:spMkLst>
            <pc:docMk/>
            <pc:sldMk cId="0" sldId="256"/>
            <ac:spMk id="28" creationId="{FD57D834-931D-32A2-7D6C-1266C00A6024}"/>
          </ac:spMkLst>
        </pc:spChg>
        <pc:spChg chg="add mod">
          <ac:chgData name="하유 무" userId="cb54ea464047e753" providerId="LiveId" clId="{EC4C71FC-97AF-42C8-994C-175FEC68FC7C}" dt="2024-09-02T01:27:28.723" v="159" actId="14100"/>
          <ac:spMkLst>
            <pc:docMk/>
            <pc:sldMk cId="0" sldId="256"/>
            <ac:spMk id="31" creationId="{341A46D4-F397-4CC5-DECC-537F4965B9E0}"/>
          </ac:spMkLst>
        </pc:spChg>
        <pc:spChg chg="mod">
          <ac:chgData name="하유 무" userId="cb54ea464047e753" providerId="LiveId" clId="{EC4C71FC-97AF-42C8-994C-175FEC68FC7C}" dt="2024-09-02T01:26:31.155" v="150"/>
          <ac:spMkLst>
            <pc:docMk/>
            <pc:sldMk cId="0" sldId="256"/>
            <ac:spMk id="33" creationId="{35C37608-4777-432F-EEFE-983636F7D060}"/>
          </ac:spMkLst>
        </pc:spChg>
        <pc:spChg chg="mod">
          <ac:chgData name="하유 무" userId="cb54ea464047e753" providerId="LiveId" clId="{EC4C71FC-97AF-42C8-994C-175FEC68FC7C}" dt="2024-09-02T01:23:15.212" v="108"/>
          <ac:spMkLst>
            <pc:docMk/>
            <pc:sldMk cId="0" sldId="256"/>
            <ac:spMk id="34" creationId="{790D7743-09E2-8953-0ECB-F9135BF23475}"/>
          </ac:spMkLst>
        </pc:spChg>
        <pc:spChg chg="add mod">
          <ac:chgData name="하유 무" userId="cb54ea464047e753" providerId="LiveId" clId="{EC4C71FC-97AF-42C8-994C-175FEC68FC7C}" dt="2024-09-02T01:34:56.407" v="235" actId="1036"/>
          <ac:spMkLst>
            <pc:docMk/>
            <pc:sldMk cId="0" sldId="256"/>
            <ac:spMk id="36" creationId="{A3D6C34D-B816-42BD-8F3A-DC37B6FDD345}"/>
          </ac:spMkLst>
        </pc:spChg>
        <pc:spChg chg="mod">
          <ac:chgData name="하유 무" userId="cb54ea464047e753" providerId="LiveId" clId="{EC4C71FC-97AF-42C8-994C-175FEC68FC7C}" dt="2024-09-02T01:10:25.534" v="2" actId="113"/>
          <ac:spMkLst>
            <pc:docMk/>
            <pc:sldMk cId="0" sldId="256"/>
            <ac:spMk id="37" creationId="{F0EC930E-A1B2-4B71-CA51-493D8EF12AC8}"/>
          </ac:spMkLst>
        </pc:spChg>
        <pc:spChg chg="mod">
          <ac:chgData name="하유 무" userId="cb54ea464047e753" providerId="LiveId" clId="{EC4C71FC-97AF-42C8-994C-175FEC68FC7C}" dt="2024-09-02T01:10:38.556" v="17" actId="20577"/>
          <ac:spMkLst>
            <pc:docMk/>
            <pc:sldMk cId="0" sldId="256"/>
            <ac:spMk id="38" creationId="{BDD35A0F-6A62-B38A-604A-1CFCAFB4D85F}"/>
          </ac:spMkLst>
        </pc:spChg>
        <pc:spChg chg="mod">
          <ac:chgData name="하유 무" userId="cb54ea464047e753" providerId="LiveId" clId="{EC4C71FC-97AF-42C8-994C-175FEC68FC7C}" dt="2024-09-02T01:20:59.997" v="76" actId="1035"/>
          <ac:spMkLst>
            <pc:docMk/>
            <pc:sldMk cId="0" sldId="256"/>
            <ac:spMk id="39" creationId="{45077630-DEAD-4844-E3B2-AED466730B19}"/>
          </ac:spMkLst>
        </pc:spChg>
        <pc:spChg chg="mod">
          <ac:chgData name="하유 무" userId="cb54ea464047e753" providerId="LiveId" clId="{EC4C71FC-97AF-42C8-994C-175FEC68FC7C}" dt="2024-09-02T01:29:08.579" v="165" actId="20577"/>
          <ac:spMkLst>
            <pc:docMk/>
            <pc:sldMk cId="0" sldId="256"/>
            <ac:spMk id="41" creationId="{B8EE5000-70FB-EEFD-03AC-0C116ACA4A47}"/>
          </ac:spMkLst>
        </pc:spChg>
        <pc:spChg chg="mod">
          <ac:chgData name="하유 무" userId="cb54ea464047e753" providerId="LiveId" clId="{EC4C71FC-97AF-42C8-994C-175FEC68FC7C}" dt="2024-09-02T01:27:46.763" v="162"/>
          <ac:spMkLst>
            <pc:docMk/>
            <pc:sldMk cId="0" sldId="256"/>
            <ac:spMk id="42" creationId="{DF2075E9-9B18-5579-8FDC-8E9DEED2CB58}"/>
          </ac:spMkLst>
        </pc:spChg>
        <pc:spChg chg="mod">
          <ac:chgData name="하유 무" userId="cb54ea464047e753" providerId="LiveId" clId="{EC4C71FC-97AF-42C8-994C-175FEC68FC7C}" dt="2024-09-02T01:22:23.635" v="98" actId="1036"/>
          <ac:spMkLst>
            <pc:docMk/>
            <pc:sldMk cId="0" sldId="256"/>
            <ac:spMk id="43" creationId="{0E2ED4E9-6150-2CBB-1AD8-1317E28D80D2}"/>
          </ac:spMkLst>
        </pc:spChg>
        <pc:spChg chg="add mod">
          <ac:chgData name="하유 무" userId="cb54ea464047e753" providerId="LiveId" clId="{EC4C71FC-97AF-42C8-994C-175FEC68FC7C}" dt="2024-09-02T01:34:51.251" v="224" actId="1035"/>
          <ac:spMkLst>
            <pc:docMk/>
            <pc:sldMk cId="0" sldId="256"/>
            <ac:spMk id="44" creationId="{6E18D3E5-CC47-2B49-5C0F-A9C824DEEC4E}"/>
          </ac:spMkLst>
        </pc:spChg>
        <pc:spChg chg="mod">
          <ac:chgData name="하유 무" userId="cb54ea464047e753" providerId="LiveId" clId="{EC4C71FC-97AF-42C8-994C-175FEC68FC7C}" dt="2024-09-02T01:33:29.818" v="172"/>
          <ac:spMkLst>
            <pc:docMk/>
            <pc:sldMk cId="0" sldId="256"/>
            <ac:spMk id="46" creationId="{2F7E63D2-3F4C-C704-BEFE-2DE0A7432519}"/>
          </ac:spMkLst>
        </pc:spChg>
        <pc:spChg chg="del">
          <ac:chgData name="하유 무" userId="cb54ea464047e753" providerId="LiveId" clId="{EC4C71FC-97AF-42C8-994C-175FEC68FC7C}" dt="2024-09-02T01:20:53.369" v="63" actId="478"/>
          <ac:spMkLst>
            <pc:docMk/>
            <pc:sldMk cId="0" sldId="256"/>
            <ac:spMk id="47" creationId="{D8B47A69-A796-D205-3FEA-B7BA11ED9D69}"/>
          </ac:spMkLst>
        </pc:spChg>
        <pc:spChg chg="mod">
          <ac:chgData name="하유 무" userId="cb54ea464047e753" providerId="LiveId" clId="{EC4C71FC-97AF-42C8-994C-175FEC68FC7C}" dt="2024-09-02T01:33:29.818" v="172"/>
          <ac:spMkLst>
            <pc:docMk/>
            <pc:sldMk cId="0" sldId="256"/>
            <ac:spMk id="48" creationId="{08D8BCFA-9D8B-4B7D-8C4B-0BFDD164F37C}"/>
          </ac:spMkLst>
        </pc:spChg>
        <pc:spChg chg="del">
          <ac:chgData name="하유 무" userId="cb54ea464047e753" providerId="LiveId" clId="{EC4C71FC-97AF-42C8-994C-175FEC68FC7C}" dt="2024-09-02T01:20:53.369" v="63" actId="478"/>
          <ac:spMkLst>
            <pc:docMk/>
            <pc:sldMk cId="0" sldId="256"/>
            <ac:spMk id="49" creationId="{9D1053EE-5061-BFDC-2354-64FBCE1A8E22}"/>
          </ac:spMkLst>
        </pc:spChg>
        <pc:spChg chg="del">
          <ac:chgData name="하유 무" userId="cb54ea464047e753" providerId="LiveId" clId="{EC4C71FC-97AF-42C8-994C-175FEC68FC7C}" dt="2024-09-02T01:20:53.369" v="63" actId="478"/>
          <ac:spMkLst>
            <pc:docMk/>
            <pc:sldMk cId="0" sldId="256"/>
            <ac:spMk id="53" creationId="{7BF17C71-7453-F2A3-00D6-667735102001}"/>
          </ac:spMkLst>
        </pc:spChg>
        <pc:spChg chg="del">
          <ac:chgData name="하유 무" userId="cb54ea464047e753" providerId="LiveId" clId="{EC4C71FC-97AF-42C8-994C-175FEC68FC7C}" dt="2024-09-02T01:27:42.153" v="161" actId="478"/>
          <ac:spMkLst>
            <pc:docMk/>
            <pc:sldMk cId="0" sldId="256"/>
            <ac:spMk id="55" creationId="{A58000F7-901B-8F06-03C6-CBB8B6CAD0FB}"/>
          </ac:spMkLst>
        </pc:spChg>
        <pc:spChg chg="del">
          <ac:chgData name="하유 무" userId="cb54ea464047e753" providerId="LiveId" clId="{EC4C71FC-97AF-42C8-994C-175FEC68FC7C}" dt="2024-09-02T01:27:42.153" v="161" actId="478"/>
          <ac:spMkLst>
            <pc:docMk/>
            <pc:sldMk cId="0" sldId="256"/>
            <ac:spMk id="57" creationId="{B4395D72-1DB1-5999-ACEB-1AB0ADECBE3D}"/>
          </ac:spMkLst>
        </pc:spChg>
        <pc:spChg chg="del">
          <ac:chgData name="하유 무" userId="cb54ea464047e753" providerId="LiveId" clId="{EC4C71FC-97AF-42C8-994C-175FEC68FC7C}" dt="2024-09-02T01:27:42.153" v="161" actId="478"/>
          <ac:spMkLst>
            <pc:docMk/>
            <pc:sldMk cId="0" sldId="256"/>
            <ac:spMk id="59" creationId="{98DCFB1F-EA23-082A-7643-567549A0D849}"/>
          </ac:spMkLst>
        </pc:spChg>
        <pc:spChg chg="del">
          <ac:chgData name="하유 무" userId="cb54ea464047e753" providerId="LiveId" clId="{EC4C71FC-97AF-42C8-994C-175FEC68FC7C}" dt="2024-09-02T01:27:42.153" v="161" actId="478"/>
          <ac:spMkLst>
            <pc:docMk/>
            <pc:sldMk cId="0" sldId="256"/>
            <ac:spMk id="63" creationId="{061B558D-1CF5-D40A-BB90-06675BA00525}"/>
          </ac:spMkLst>
        </pc:spChg>
        <pc:spChg chg="del">
          <ac:chgData name="하유 무" userId="cb54ea464047e753" providerId="LiveId" clId="{EC4C71FC-97AF-42C8-994C-175FEC68FC7C}" dt="2024-09-02T01:27:42.153" v="161" actId="478"/>
          <ac:spMkLst>
            <pc:docMk/>
            <pc:sldMk cId="0" sldId="256"/>
            <ac:spMk id="67" creationId="{7D10B275-0B2D-D1C1-017B-8E9901DB08DD}"/>
          </ac:spMkLst>
        </pc:spChg>
        <pc:grpChg chg="mod">
          <ac:chgData name="하유 무" userId="cb54ea464047e753" providerId="LiveId" clId="{EC4C71FC-97AF-42C8-994C-175FEC68FC7C}" dt="2024-09-02T01:21:12.853" v="92" actId="1036"/>
          <ac:grpSpMkLst>
            <pc:docMk/>
            <pc:sldMk cId="0" sldId="256"/>
            <ac:grpSpMk id="5" creationId="{0FF4979E-27C5-9184-6261-AE538AF4BD6B}"/>
          </ac:grpSpMkLst>
        </pc:grpChg>
        <pc:grpChg chg="del">
          <ac:chgData name="하유 무" userId="cb54ea464047e753" providerId="LiveId" clId="{EC4C71FC-97AF-42C8-994C-175FEC68FC7C}" dt="2024-09-02T01:20:53.369" v="63" actId="478"/>
          <ac:grpSpMkLst>
            <pc:docMk/>
            <pc:sldMk cId="0" sldId="256"/>
            <ac:grpSpMk id="9" creationId="{8E3AAEDE-F5F0-6B1D-0A10-17A76F928B7B}"/>
          </ac:grpSpMkLst>
        </pc:grpChg>
        <pc:grpChg chg="del">
          <ac:chgData name="하유 무" userId="cb54ea464047e753" providerId="LiveId" clId="{EC4C71FC-97AF-42C8-994C-175FEC68FC7C}" dt="2024-09-02T01:20:53.369" v="63" actId="478"/>
          <ac:grpSpMkLst>
            <pc:docMk/>
            <pc:sldMk cId="0" sldId="256"/>
            <ac:grpSpMk id="13" creationId="{2D6B41BF-86C4-A72B-21B5-A3B4C23BCA0E}"/>
          </ac:grpSpMkLst>
        </pc:grpChg>
        <pc:grpChg chg="del">
          <ac:chgData name="하유 무" userId="cb54ea464047e753" providerId="LiveId" clId="{EC4C71FC-97AF-42C8-994C-175FEC68FC7C}" dt="2024-09-02T01:27:42.153" v="161" actId="478"/>
          <ac:grpSpMkLst>
            <pc:docMk/>
            <pc:sldMk cId="0" sldId="256"/>
            <ac:grpSpMk id="20" creationId="{8CE24439-2836-5005-AE8F-1105025394B3}"/>
          </ac:grpSpMkLst>
        </pc:grpChg>
        <pc:grpChg chg="del">
          <ac:chgData name="하유 무" userId="cb54ea464047e753" providerId="LiveId" clId="{EC4C71FC-97AF-42C8-994C-175FEC68FC7C}" dt="2024-09-02T01:27:42.153" v="161" actId="478"/>
          <ac:grpSpMkLst>
            <pc:docMk/>
            <pc:sldMk cId="0" sldId="256"/>
            <ac:grpSpMk id="23" creationId="{FA04CBBA-ECB5-266C-1460-F16522869285}"/>
          </ac:grpSpMkLst>
        </pc:grpChg>
        <pc:grpChg chg="add mod">
          <ac:chgData name="하유 무" userId="cb54ea464047e753" providerId="LiveId" clId="{EC4C71FC-97AF-42C8-994C-175FEC68FC7C}" dt="2024-09-02T01:21:46.182" v="94" actId="1076"/>
          <ac:grpSpMkLst>
            <pc:docMk/>
            <pc:sldMk cId="0" sldId="256"/>
            <ac:grpSpMk id="26" creationId="{2D387A73-7612-E345-017F-85F8B0666B55}"/>
          </ac:grpSpMkLst>
        </pc:grpChg>
        <pc:grpChg chg="add mod">
          <ac:chgData name="하유 무" userId="cb54ea464047e753" providerId="LiveId" clId="{EC4C71FC-97AF-42C8-994C-175FEC68FC7C}" dt="2024-09-02T01:23:33.248" v="149" actId="1035"/>
          <ac:grpSpMkLst>
            <pc:docMk/>
            <pc:sldMk cId="0" sldId="256"/>
            <ac:grpSpMk id="32" creationId="{83D85D37-D344-E437-E1C7-A66C57310D57}"/>
          </ac:grpSpMkLst>
        </pc:grpChg>
        <pc:grpChg chg="add mod">
          <ac:chgData name="하유 무" userId="cb54ea464047e753" providerId="LiveId" clId="{EC4C71FC-97AF-42C8-994C-175FEC68FC7C}" dt="2024-09-02T01:34:56.407" v="235" actId="1036"/>
          <ac:grpSpMkLst>
            <pc:docMk/>
            <pc:sldMk cId="0" sldId="256"/>
            <ac:grpSpMk id="40" creationId="{A63BEDD9-D478-746D-5632-1A9469B59801}"/>
          </ac:grpSpMkLst>
        </pc:grpChg>
        <pc:grpChg chg="add mod">
          <ac:chgData name="하유 무" userId="cb54ea464047e753" providerId="LiveId" clId="{EC4C71FC-97AF-42C8-994C-175FEC68FC7C}" dt="2024-09-02T01:34:51.251" v="224" actId="1035"/>
          <ac:grpSpMkLst>
            <pc:docMk/>
            <pc:sldMk cId="0" sldId="256"/>
            <ac:grpSpMk id="45" creationId="{665DE940-C0DE-C1A7-D259-56CF6E1A4E01}"/>
          </ac:grpSpMkLst>
        </pc:grpChg>
        <pc:picChg chg="mod">
          <ac:chgData name="하유 무" userId="cb54ea464047e753" providerId="LiveId" clId="{EC4C71FC-97AF-42C8-994C-175FEC68FC7C}" dt="2024-09-02T01:27:39.186" v="160" actId="1076"/>
          <ac:picMkLst>
            <pc:docMk/>
            <pc:sldMk cId="0" sldId="256"/>
            <ac:picMk id="7" creationId="{A15D432C-FCA9-0545-261D-780DF590573A}"/>
          </ac:picMkLst>
        </pc:picChg>
        <pc:picChg chg="add mod">
          <ac:chgData name="하유 무" userId="cb54ea464047e753" providerId="LiveId" clId="{EC4C71FC-97AF-42C8-994C-175FEC68FC7C}" dt="2024-09-02T01:23:11.010" v="107" actId="1076"/>
          <ac:picMkLst>
            <pc:docMk/>
            <pc:sldMk cId="0" sldId="256"/>
            <ac:picMk id="30" creationId="{DB600227-B0E8-24EC-3586-89C5DB4730A9}"/>
          </ac:picMkLst>
        </pc:picChg>
        <pc:picChg chg="add del mod">
          <ac:chgData name="하유 무" userId="cb54ea464047e753" providerId="LiveId" clId="{EC4C71FC-97AF-42C8-994C-175FEC68FC7C}" dt="2024-09-02T01:26:47.147" v="152" actId="478"/>
          <ac:picMkLst>
            <pc:docMk/>
            <pc:sldMk cId="0" sldId="256"/>
            <ac:picMk id="35" creationId="{9E0F1D0F-5F79-C405-DF99-B7ABD0EBA2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301543" cy="72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2798" y="0"/>
            <a:ext cx="4301543" cy="72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251200" y="1793875"/>
            <a:ext cx="3424200" cy="484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bg>
      <p:bgPr>
        <a:gradFill>
          <a:gsLst>
            <a:gs pos="0">
              <a:schemeClr val="lt1"/>
            </a:gs>
            <a:gs pos="40000">
              <a:srgbClr val="FDFDFD"/>
            </a:gs>
            <a:gs pos="100000">
              <a:srgbClr val="7A7A7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35BD5D7-405B-659F-C284-18ACE0B1F721}"/>
              </a:ext>
            </a:extLst>
          </p:cNvPr>
          <p:cNvSpPr/>
          <p:nvPr userDrawn="1"/>
        </p:nvSpPr>
        <p:spPr>
          <a:xfrm>
            <a:off x="-1" y="-1"/>
            <a:ext cx="30275213" cy="6350001"/>
          </a:xfrm>
          <a:prstGeom prst="rect">
            <a:avLst/>
          </a:prstGeom>
          <a:solidFill>
            <a:srgbClr val="702D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68086984-9CA5-174B-B932-E451567C32ED}"/>
              </a:ext>
            </a:extLst>
          </p:cNvPr>
          <p:cNvSpPr/>
          <p:nvPr userDrawn="1"/>
        </p:nvSpPr>
        <p:spPr>
          <a:xfrm>
            <a:off x="2033589" y="1"/>
            <a:ext cx="4113212" cy="2056605"/>
          </a:xfrm>
          <a:custGeom>
            <a:avLst/>
            <a:gdLst>
              <a:gd name="connsiteX0" fmla="*/ 0 w 4113212"/>
              <a:gd name="connsiteY0" fmla="*/ 0 h 2056605"/>
              <a:gd name="connsiteX1" fmla="*/ 1028302 w 4113212"/>
              <a:gd name="connsiteY1" fmla="*/ 0 h 2056605"/>
              <a:gd name="connsiteX2" fmla="*/ 1049194 w 4113212"/>
              <a:gd name="connsiteY2" fmla="*/ 207238 h 2056605"/>
              <a:gd name="connsiteX3" fmla="*/ 2056606 w 4113212"/>
              <a:gd name="connsiteY3" fmla="*/ 1028302 h 2056605"/>
              <a:gd name="connsiteX4" fmla="*/ 3064017 w 4113212"/>
              <a:gd name="connsiteY4" fmla="*/ 207238 h 2056605"/>
              <a:gd name="connsiteX5" fmla="*/ 3084909 w 4113212"/>
              <a:gd name="connsiteY5" fmla="*/ 0 h 2056605"/>
              <a:gd name="connsiteX6" fmla="*/ 4113212 w 4113212"/>
              <a:gd name="connsiteY6" fmla="*/ 0 h 2056605"/>
              <a:gd name="connsiteX7" fmla="*/ 4071429 w 4113212"/>
              <a:gd name="connsiteY7" fmla="*/ 414477 h 2056605"/>
              <a:gd name="connsiteX8" fmla="*/ 2056606 w 4113212"/>
              <a:gd name="connsiteY8" fmla="*/ 2056605 h 2056605"/>
              <a:gd name="connsiteX9" fmla="*/ 41782 w 4113212"/>
              <a:gd name="connsiteY9" fmla="*/ 414477 h 2056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13212" h="2056605">
                <a:moveTo>
                  <a:pt x="0" y="0"/>
                </a:moveTo>
                <a:lnTo>
                  <a:pt x="1028302" y="0"/>
                </a:lnTo>
                <a:lnTo>
                  <a:pt x="1049194" y="207238"/>
                </a:lnTo>
                <a:cubicBezTo>
                  <a:pt x="1145079" y="675818"/>
                  <a:pt x="1559679" y="1028302"/>
                  <a:pt x="2056606" y="1028302"/>
                </a:cubicBezTo>
                <a:cubicBezTo>
                  <a:pt x="2553532" y="1028302"/>
                  <a:pt x="2968132" y="675818"/>
                  <a:pt x="3064017" y="207238"/>
                </a:cubicBezTo>
                <a:lnTo>
                  <a:pt x="3084909" y="0"/>
                </a:lnTo>
                <a:lnTo>
                  <a:pt x="4113212" y="0"/>
                </a:lnTo>
                <a:lnTo>
                  <a:pt x="4071429" y="414477"/>
                </a:lnTo>
                <a:cubicBezTo>
                  <a:pt x="3879658" y="1351638"/>
                  <a:pt x="3050459" y="2056605"/>
                  <a:pt x="2056606" y="2056605"/>
                </a:cubicBezTo>
                <a:cubicBezTo>
                  <a:pt x="1062753" y="2056605"/>
                  <a:pt x="233553" y="1351638"/>
                  <a:pt x="41782" y="414477"/>
                </a:cubicBezTo>
                <a:close/>
              </a:path>
            </a:pathLst>
          </a:custGeom>
          <a:solidFill>
            <a:srgbClr val="7C45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82A87F30-A493-5F37-59C4-677882806008}"/>
              </a:ext>
            </a:extLst>
          </p:cNvPr>
          <p:cNvSpPr/>
          <p:nvPr userDrawn="1"/>
        </p:nvSpPr>
        <p:spPr>
          <a:xfrm>
            <a:off x="23013988" y="4293395"/>
            <a:ext cx="4113212" cy="2056605"/>
          </a:xfrm>
          <a:custGeom>
            <a:avLst/>
            <a:gdLst>
              <a:gd name="connsiteX0" fmla="*/ 2056606 w 4113212"/>
              <a:gd name="connsiteY0" fmla="*/ 0 h 2056605"/>
              <a:gd name="connsiteX1" fmla="*/ 4071428 w 4113212"/>
              <a:gd name="connsiteY1" fmla="*/ 1642128 h 2056605"/>
              <a:gd name="connsiteX2" fmla="*/ 4113212 w 4113212"/>
              <a:gd name="connsiteY2" fmla="*/ 2056605 h 2056605"/>
              <a:gd name="connsiteX3" fmla="*/ 3084908 w 4113212"/>
              <a:gd name="connsiteY3" fmla="*/ 2056605 h 2056605"/>
              <a:gd name="connsiteX4" fmla="*/ 3064016 w 4113212"/>
              <a:gd name="connsiteY4" fmla="*/ 1849367 h 2056605"/>
              <a:gd name="connsiteX5" fmla="*/ 2056606 w 4113212"/>
              <a:gd name="connsiteY5" fmla="*/ 1028303 h 2056605"/>
              <a:gd name="connsiteX6" fmla="*/ 1049196 w 4113212"/>
              <a:gd name="connsiteY6" fmla="*/ 1849367 h 2056605"/>
              <a:gd name="connsiteX7" fmla="*/ 1028304 w 4113212"/>
              <a:gd name="connsiteY7" fmla="*/ 2056605 h 2056605"/>
              <a:gd name="connsiteX8" fmla="*/ 0 w 4113212"/>
              <a:gd name="connsiteY8" fmla="*/ 2056605 h 2056605"/>
              <a:gd name="connsiteX9" fmla="*/ 41782 w 4113212"/>
              <a:gd name="connsiteY9" fmla="*/ 1642128 h 2056605"/>
              <a:gd name="connsiteX10" fmla="*/ 2056606 w 4113212"/>
              <a:gd name="connsiteY10" fmla="*/ 0 h 2056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13212" h="2056605">
                <a:moveTo>
                  <a:pt x="2056606" y="0"/>
                </a:moveTo>
                <a:cubicBezTo>
                  <a:pt x="3050460" y="0"/>
                  <a:pt x="3879658" y="704968"/>
                  <a:pt x="4071428" y="1642128"/>
                </a:cubicBezTo>
                <a:lnTo>
                  <a:pt x="4113212" y="2056605"/>
                </a:lnTo>
                <a:lnTo>
                  <a:pt x="3084908" y="2056605"/>
                </a:lnTo>
                <a:lnTo>
                  <a:pt x="3064016" y="1849367"/>
                </a:lnTo>
                <a:cubicBezTo>
                  <a:pt x="2968132" y="1380787"/>
                  <a:pt x="2553532" y="1028303"/>
                  <a:pt x="2056606" y="1028303"/>
                </a:cubicBezTo>
                <a:cubicBezTo>
                  <a:pt x="1559680" y="1028303"/>
                  <a:pt x="1145080" y="1380787"/>
                  <a:pt x="1049196" y="1849367"/>
                </a:cubicBezTo>
                <a:lnTo>
                  <a:pt x="1028304" y="2056605"/>
                </a:lnTo>
                <a:lnTo>
                  <a:pt x="0" y="2056605"/>
                </a:lnTo>
                <a:lnTo>
                  <a:pt x="41782" y="1642128"/>
                </a:lnTo>
                <a:cubicBezTo>
                  <a:pt x="233554" y="704968"/>
                  <a:pt x="1062754" y="0"/>
                  <a:pt x="2056606" y="0"/>
                </a:cubicBezTo>
                <a:close/>
              </a:path>
            </a:pathLst>
          </a:custGeom>
          <a:solidFill>
            <a:srgbClr val="8245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38C22D-ADA2-BC7B-0DAA-3C38EF7F4646}"/>
              </a:ext>
            </a:extLst>
          </p:cNvPr>
          <p:cNvSpPr/>
          <p:nvPr userDrawn="1"/>
        </p:nvSpPr>
        <p:spPr>
          <a:xfrm>
            <a:off x="-2" y="42560082"/>
            <a:ext cx="30275213" cy="487362"/>
          </a:xfrm>
          <a:prstGeom prst="rect">
            <a:avLst/>
          </a:prstGeom>
          <a:solidFill>
            <a:srgbClr val="702D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F0EC930E-A1B2-4B71-CA51-493D8EF12AC8}"/>
              </a:ext>
            </a:extLst>
          </p:cNvPr>
          <p:cNvSpPr txBox="1"/>
          <p:nvPr/>
        </p:nvSpPr>
        <p:spPr>
          <a:xfrm>
            <a:off x="1143000" y="305990"/>
            <a:ext cx="27946349" cy="4935282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r>
              <a:rPr lang="ko-KR" altLang="en-US" sz="6600" b="1" dirty="0">
                <a:solidFill>
                  <a:schemeClr val="bg1"/>
                </a:solidFill>
                <a:latin typeface="+mj-ea"/>
                <a:ea typeface="+mj-ea"/>
              </a:rPr>
              <a:t>학습동기유형 분석을 통한 </a:t>
            </a:r>
            <a:r>
              <a:rPr lang="en-US" altLang="ko-KR" sz="6600" b="1" dirty="0">
                <a:solidFill>
                  <a:schemeClr val="bg1"/>
                </a:solidFill>
                <a:latin typeface="+mj-ea"/>
                <a:ea typeface="+mj-ea"/>
              </a:rPr>
              <a:t>e</a:t>
            </a:r>
            <a:r>
              <a:rPr lang="ko-KR" altLang="en-US" sz="6600" b="1" dirty="0">
                <a:solidFill>
                  <a:schemeClr val="bg1"/>
                </a:solidFill>
                <a:latin typeface="+mj-ea"/>
                <a:ea typeface="+mj-ea"/>
              </a:rPr>
              <a:t>러닝 시장의 개척과 확산 방안에 관한 연구 </a:t>
            </a:r>
            <a:r>
              <a:rPr lang="en-US" altLang="ko-KR" sz="6600" b="1" dirty="0">
                <a:solidFill>
                  <a:schemeClr val="bg1"/>
                </a:solidFill>
                <a:latin typeface="+mj-ea"/>
                <a:ea typeface="+mj-ea"/>
              </a:rPr>
              <a:t>: </a:t>
            </a:r>
          </a:p>
          <a:p>
            <a:r>
              <a:rPr lang="ko-KR" altLang="en-US" sz="6600" b="1" dirty="0" err="1">
                <a:solidFill>
                  <a:schemeClr val="bg1"/>
                </a:solidFill>
                <a:latin typeface="+mj-ea"/>
                <a:ea typeface="+mj-ea"/>
              </a:rPr>
              <a:t>크레듀</a:t>
            </a:r>
            <a:r>
              <a:rPr lang="ko-KR" altLang="en-US" sz="6600" b="1" dirty="0">
                <a:solidFill>
                  <a:schemeClr val="bg1"/>
                </a:solidFill>
                <a:latin typeface="+mj-ea"/>
                <a:ea typeface="+mj-ea"/>
              </a:rPr>
              <a:t> 사례를 중심으로</a:t>
            </a:r>
            <a:endParaRPr lang="en-US" altLang="ko-KR" sz="6600" b="1" dirty="0">
              <a:solidFill>
                <a:schemeClr val="bg1"/>
              </a:solidFill>
              <a:latin typeface="+mj-ea"/>
              <a:ea typeface="+mj-ea"/>
            </a:endParaRPr>
          </a:p>
          <a:p>
            <a:endParaRPr lang="en-US" altLang="ko-KR" sz="2000" b="1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en-US" altLang="ko-KR" sz="4400" b="1" dirty="0">
                <a:solidFill>
                  <a:schemeClr val="bg1"/>
                </a:solidFill>
                <a:latin typeface="+mj-ea"/>
                <a:ea typeface="+mj-ea"/>
              </a:rPr>
              <a:t>The Study on development of e-Learning Market through Analysis of the Type of Learning Motives:</a:t>
            </a:r>
          </a:p>
          <a:p>
            <a:r>
              <a:rPr lang="en-US" altLang="ko-KR" sz="4400" b="1" dirty="0">
                <a:solidFill>
                  <a:schemeClr val="bg1"/>
                </a:solidFill>
                <a:latin typeface="+mj-ea"/>
                <a:ea typeface="+mj-ea"/>
              </a:rPr>
              <a:t>Focused on the Case of </a:t>
            </a:r>
            <a:r>
              <a:rPr lang="en-US" altLang="ko-KR" sz="4400" b="1" dirty="0" err="1">
                <a:solidFill>
                  <a:schemeClr val="bg1"/>
                </a:solidFill>
                <a:latin typeface="+mj-ea"/>
                <a:ea typeface="+mj-ea"/>
              </a:rPr>
              <a:t>Credu</a:t>
            </a:r>
            <a:endParaRPr lang="ko-KR" altLang="en-US" sz="4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D35A0F-6A62-B38A-604A-1CFCAFB4D85F}"/>
              </a:ext>
            </a:extLst>
          </p:cNvPr>
          <p:cNvSpPr txBox="1"/>
          <p:nvPr/>
        </p:nvSpPr>
        <p:spPr>
          <a:xfrm>
            <a:off x="1143000" y="5183010"/>
            <a:ext cx="28991708" cy="91267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ko-KR" altLang="en-US" sz="2400" b="1" dirty="0" err="1">
                <a:solidFill>
                  <a:schemeClr val="bg1"/>
                </a:solidFill>
                <a:latin typeface="+mj-ea"/>
                <a:ea typeface="+mj-ea"/>
              </a:rPr>
              <a:t>김남국</a:t>
            </a:r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한양대학교 경영대학 겸임교수</a:t>
            </a: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) · </a:t>
            </a:r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이준기 </a:t>
            </a: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연세대학교 정보대학원 교수</a:t>
            </a: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) · </a:t>
            </a:r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정창욱 </a:t>
            </a: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대한민국 공군사관학교 리더십학과 교수</a:t>
            </a: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) · </a:t>
            </a:r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김종혁 </a:t>
            </a: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연세대학교 정보대학원 박사과정</a:t>
            </a: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2ED4E9-6150-2CBB-1AD8-1317E28D80D2}"/>
              </a:ext>
            </a:extLst>
          </p:cNvPr>
          <p:cNvSpPr txBox="1"/>
          <p:nvPr/>
        </p:nvSpPr>
        <p:spPr>
          <a:xfrm>
            <a:off x="762142" y="11740399"/>
            <a:ext cx="13863484" cy="380841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000" dirty="0">
                <a:latin typeface="+mj-ea"/>
                <a:ea typeface="+mj-ea"/>
              </a:rPr>
              <a:t>정보화가 급진전하면서 인터넷을 활용한 </a:t>
            </a:r>
            <a:r>
              <a:rPr lang="en-US" altLang="ko-KR" sz="3000" dirty="0">
                <a:latin typeface="+mj-ea"/>
                <a:ea typeface="+mj-ea"/>
              </a:rPr>
              <a:t>e</a:t>
            </a:r>
            <a:r>
              <a:rPr lang="ko-KR" altLang="en-US" sz="3000" dirty="0">
                <a:latin typeface="+mj-ea"/>
                <a:ea typeface="+mj-ea"/>
              </a:rPr>
              <a:t>러닝 시장은 지속적으로 성장하고 있다</a:t>
            </a:r>
            <a:r>
              <a:rPr lang="en-US" altLang="ko-KR" sz="3000" dirty="0">
                <a:latin typeface="+mj-ea"/>
                <a:ea typeface="+mj-ea"/>
              </a:rPr>
              <a:t>. 2012</a:t>
            </a:r>
            <a:r>
              <a:rPr lang="ko-KR" altLang="en-US" sz="3000" dirty="0">
                <a:latin typeface="+mj-ea"/>
                <a:ea typeface="+mj-ea"/>
              </a:rPr>
              <a:t>년 한국 </a:t>
            </a:r>
            <a:r>
              <a:rPr lang="en-US" altLang="ko-KR" sz="3000" dirty="0">
                <a:latin typeface="+mj-ea"/>
                <a:ea typeface="+mj-ea"/>
              </a:rPr>
              <a:t>e</a:t>
            </a:r>
            <a:r>
              <a:rPr lang="ko-KR" altLang="en-US" sz="3000" dirty="0">
                <a:latin typeface="+mj-ea"/>
                <a:ea typeface="+mj-ea"/>
              </a:rPr>
              <a:t>러닝 산업의 총 매출액은 전년 대비 </a:t>
            </a:r>
            <a:r>
              <a:rPr lang="en-US" altLang="ko-KR" sz="3000" dirty="0">
                <a:latin typeface="+mj-ea"/>
                <a:ea typeface="+mj-ea"/>
              </a:rPr>
              <a:t>12.1% </a:t>
            </a:r>
            <a:r>
              <a:rPr lang="ko-KR" altLang="en-US" sz="3000" dirty="0">
                <a:latin typeface="+mj-ea"/>
                <a:ea typeface="+mj-ea"/>
              </a:rPr>
              <a:t>증가한 </a:t>
            </a:r>
            <a:r>
              <a:rPr lang="en-US" altLang="ko-KR" sz="3000" dirty="0">
                <a:latin typeface="+mj-ea"/>
                <a:ea typeface="+mj-ea"/>
              </a:rPr>
              <a:t>2</a:t>
            </a:r>
            <a:r>
              <a:rPr lang="ko-KR" altLang="en-US" sz="3000" dirty="0">
                <a:latin typeface="+mj-ea"/>
                <a:ea typeface="+mj-ea"/>
              </a:rPr>
              <a:t>조 </a:t>
            </a:r>
            <a:r>
              <a:rPr lang="en-US" altLang="ko-KR" sz="3000" dirty="0">
                <a:latin typeface="+mj-ea"/>
                <a:ea typeface="+mj-ea"/>
              </a:rPr>
              <a:t>7478</a:t>
            </a:r>
            <a:r>
              <a:rPr lang="ko-KR" altLang="en-US" sz="3000" dirty="0">
                <a:latin typeface="+mj-ea"/>
                <a:ea typeface="+mj-ea"/>
              </a:rPr>
              <a:t>억 원을 기록했으며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이는 시간과 공간의 제약을 넘어 개인화된 교육 서비스를 제공하는 장점 때문이다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000" dirty="0">
                <a:latin typeface="+mj-ea"/>
                <a:ea typeface="+mj-ea"/>
              </a:rPr>
              <a:t>또한</a:t>
            </a:r>
            <a:r>
              <a:rPr lang="en-US" altLang="ko-KR" sz="3000" dirty="0">
                <a:latin typeface="+mj-ea"/>
                <a:ea typeface="+mj-ea"/>
              </a:rPr>
              <a:t>, e</a:t>
            </a:r>
            <a:r>
              <a:rPr lang="ko-KR" altLang="en-US" sz="3000" dirty="0">
                <a:latin typeface="+mj-ea"/>
                <a:ea typeface="+mj-ea"/>
              </a:rPr>
              <a:t>러닝은 자기 계발과 직업적 도움을 받을 수 있는 경제적인 교육 방안을 제공하여 성장하고 있다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  <a:r>
              <a:rPr lang="ko-KR" altLang="en-US" sz="3000" dirty="0" err="1">
                <a:latin typeface="+mj-ea"/>
                <a:ea typeface="+mj-ea"/>
              </a:rPr>
              <a:t>크레듀는</a:t>
            </a:r>
            <a:r>
              <a:rPr lang="ko-KR" altLang="en-US" sz="3000" dirty="0">
                <a:latin typeface="+mj-ea"/>
                <a:ea typeface="+mj-ea"/>
              </a:rPr>
              <a:t> </a:t>
            </a:r>
            <a:r>
              <a:rPr lang="en-US" altLang="ko-KR" sz="3000" dirty="0">
                <a:latin typeface="+mj-ea"/>
                <a:ea typeface="+mj-ea"/>
              </a:rPr>
              <a:t>e</a:t>
            </a:r>
            <a:r>
              <a:rPr lang="ko-KR" altLang="en-US" sz="3000" dirty="0">
                <a:latin typeface="+mj-ea"/>
                <a:ea typeface="+mj-ea"/>
              </a:rPr>
              <a:t>러닝 시장에서 두각을 나타내며 사업을 다각화하고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새로운 </a:t>
            </a:r>
            <a:r>
              <a:rPr lang="en-US" altLang="ko-KR" sz="3000" dirty="0">
                <a:latin typeface="+mj-ea"/>
                <a:ea typeface="+mj-ea"/>
              </a:rPr>
              <a:t>e</a:t>
            </a:r>
            <a:r>
              <a:rPr lang="ko-KR" altLang="en-US" sz="3000" dirty="0">
                <a:latin typeface="+mj-ea"/>
                <a:ea typeface="+mj-ea"/>
              </a:rPr>
              <a:t>러닝 기법을 개발하여 경쟁 우위를 확보했다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000" dirty="0">
                <a:latin typeface="+mj-ea"/>
                <a:ea typeface="+mj-ea"/>
              </a:rPr>
              <a:t>본 연구는 이를 통해 </a:t>
            </a:r>
            <a:r>
              <a:rPr lang="en-US" altLang="ko-KR" sz="3000" dirty="0">
                <a:latin typeface="+mj-ea"/>
                <a:ea typeface="+mj-ea"/>
              </a:rPr>
              <a:t>e</a:t>
            </a:r>
            <a:r>
              <a:rPr lang="ko-KR" altLang="en-US" sz="3000" dirty="0">
                <a:latin typeface="+mj-ea"/>
                <a:ea typeface="+mj-ea"/>
              </a:rPr>
              <a:t>러닝 기법 발전과 기업 대응 전략을 제시하고자 한다</a:t>
            </a:r>
            <a:r>
              <a:rPr lang="en-US" altLang="ko-KR" sz="3000" dirty="0">
                <a:latin typeface="+mj-ea"/>
                <a:ea typeface="+mj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009F4-269B-45E5-5D31-AEB984B0C9C3}"/>
              </a:ext>
            </a:extLst>
          </p:cNvPr>
          <p:cNvSpPr txBox="1"/>
          <p:nvPr/>
        </p:nvSpPr>
        <p:spPr>
          <a:xfrm>
            <a:off x="762142" y="10558517"/>
            <a:ext cx="13863484" cy="950723"/>
          </a:xfrm>
          <a:prstGeom prst="roundRect">
            <a:avLst>
              <a:gd name="adj" fmla="val 0"/>
            </a:avLst>
          </a:prstGeom>
          <a:solidFill>
            <a:srgbClr val="6E2E59"/>
          </a:solidFill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1. </a:t>
            </a:r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서  론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B9B85D-8865-254D-E38C-9CA794825F2D}"/>
              </a:ext>
            </a:extLst>
          </p:cNvPr>
          <p:cNvSpPr txBox="1"/>
          <p:nvPr/>
        </p:nvSpPr>
        <p:spPr>
          <a:xfrm>
            <a:off x="762142" y="16433958"/>
            <a:ext cx="13863484" cy="950723"/>
          </a:xfrm>
          <a:prstGeom prst="roundRect">
            <a:avLst>
              <a:gd name="adj" fmla="val 0"/>
            </a:avLst>
          </a:prstGeom>
          <a:solidFill>
            <a:srgbClr val="6E2E59"/>
          </a:solidFill>
          <a:effectLst/>
        </p:spPr>
        <p:txBody>
          <a:bodyPr wrap="square" rtlCol="0" anchor="ctr" anchorCtr="0">
            <a:no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2. </a:t>
            </a:r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이론적 배경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18D3E5-CC47-2B49-5C0F-A9C824DEEC4E}"/>
              </a:ext>
            </a:extLst>
          </p:cNvPr>
          <p:cNvSpPr txBox="1"/>
          <p:nvPr/>
        </p:nvSpPr>
        <p:spPr>
          <a:xfrm>
            <a:off x="15639944" y="37561759"/>
            <a:ext cx="13863484" cy="417617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ko-KR" altLang="en-US" sz="3000" dirty="0">
                <a:latin typeface="+mj-ea"/>
                <a:ea typeface="+mj-ea"/>
              </a:rPr>
              <a:t>이 연구는 </a:t>
            </a:r>
            <a:r>
              <a:rPr lang="ko-KR" altLang="en-US" sz="3000" dirty="0" err="1">
                <a:latin typeface="+mj-ea"/>
                <a:ea typeface="+mj-ea"/>
              </a:rPr>
              <a:t>크레듀</a:t>
            </a:r>
            <a:r>
              <a:rPr lang="ko-KR" altLang="en-US" sz="3000" dirty="0">
                <a:latin typeface="+mj-ea"/>
                <a:ea typeface="+mj-ea"/>
              </a:rPr>
              <a:t> 사례를 중심으로 </a:t>
            </a:r>
            <a:r>
              <a:rPr lang="en-US" altLang="ko-KR" sz="3000" dirty="0">
                <a:latin typeface="+mj-ea"/>
                <a:ea typeface="+mj-ea"/>
              </a:rPr>
              <a:t>e</a:t>
            </a:r>
            <a:r>
              <a:rPr lang="ko-KR" altLang="en-US" sz="3000" dirty="0">
                <a:latin typeface="+mj-ea"/>
                <a:ea typeface="+mj-ea"/>
              </a:rPr>
              <a:t>러닝 시장에서 학습자의 다양한 동기 유형에 맞춘 전략과 서비스를 분석했다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ko-KR" sz="3000" dirty="0">
                <a:latin typeface="+mj-ea"/>
                <a:ea typeface="+mj-ea"/>
              </a:rPr>
              <a:t>e</a:t>
            </a:r>
            <a:r>
              <a:rPr lang="ko-KR" altLang="en-US" sz="3000" dirty="0">
                <a:latin typeface="+mj-ea"/>
                <a:ea typeface="+mj-ea"/>
              </a:rPr>
              <a:t>러닝 시장은 </a:t>
            </a:r>
            <a:r>
              <a:rPr lang="en-US" altLang="ko-KR" sz="3000" dirty="0">
                <a:latin typeface="+mj-ea"/>
                <a:ea typeface="+mj-ea"/>
              </a:rPr>
              <a:t>ICT</a:t>
            </a:r>
            <a:r>
              <a:rPr lang="ko-KR" altLang="en-US" sz="3000" dirty="0">
                <a:latin typeface="+mj-ea"/>
                <a:ea typeface="+mj-ea"/>
              </a:rPr>
              <a:t>를 활용해 기존 오프라인 교육 시장과 차별화되었으며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계속해서 발전하고 있다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  <a:r>
              <a:rPr lang="ko-KR" altLang="en-US" sz="3000" dirty="0">
                <a:latin typeface="+mj-ea"/>
                <a:ea typeface="+mj-ea"/>
              </a:rPr>
              <a:t>그러나 치열한 경쟁으로 수익 모델은 점차 감소하고 있다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ko-KR" altLang="en-US" sz="3000" dirty="0" err="1">
                <a:latin typeface="+mj-ea"/>
                <a:ea typeface="+mj-ea"/>
              </a:rPr>
              <a:t>크레듀는</a:t>
            </a:r>
            <a:r>
              <a:rPr lang="ko-KR" altLang="en-US" sz="3000" dirty="0">
                <a:latin typeface="+mj-ea"/>
                <a:ea typeface="+mj-ea"/>
              </a:rPr>
              <a:t> 고객과의 소통을 강화하고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핵심 사업에 집중하며 실험적인 제품과 서비스를 출시해 시장 발전에 기여하고 성장했다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ko-KR" altLang="en-US" sz="3000" dirty="0">
                <a:latin typeface="+mj-ea"/>
                <a:ea typeface="+mj-ea"/>
              </a:rPr>
              <a:t>본 연구는 </a:t>
            </a:r>
            <a:r>
              <a:rPr lang="en-US" altLang="ko-KR" sz="3000" dirty="0">
                <a:latin typeface="+mj-ea"/>
                <a:ea typeface="+mj-ea"/>
              </a:rPr>
              <a:t>e</a:t>
            </a:r>
            <a:r>
              <a:rPr lang="ko-KR" altLang="en-US" sz="3000" dirty="0">
                <a:latin typeface="+mj-ea"/>
                <a:ea typeface="+mj-ea"/>
              </a:rPr>
              <a:t>러닝 시장 개척과 확산 방안에 관한 중요한 사례를 제공하며 실무적으로도 큰 가치를 지닌다</a:t>
            </a:r>
            <a:r>
              <a:rPr lang="en-US" altLang="ko-KR" sz="3000" dirty="0">
                <a:latin typeface="+mj-ea"/>
                <a:ea typeface="+mj-ea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7E63D2-3F4C-C704-BEFE-2DE0A7432519}"/>
              </a:ext>
            </a:extLst>
          </p:cNvPr>
          <p:cNvSpPr txBox="1"/>
          <p:nvPr/>
        </p:nvSpPr>
        <p:spPr>
          <a:xfrm>
            <a:off x="15598488" y="36405030"/>
            <a:ext cx="13863484" cy="964939"/>
          </a:xfrm>
          <a:prstGeom prst="roundRect">
            <a:avLst>
              <a:gd name="adj" fmla="val 0"/>
            </a:avLst>
          </a:prstGeom>
          <a:solidFill>
            <a:srgbClr val="6E2E59"/>
          </a:solidFill>
          <a:effectLst/>
        </p:spPr>
        <p:txBody>
          <a:bodyPr wrap="square" rtlCol="0" anchor="ctr" anchorCtr="0">
            <a:no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5. </a:t>
            </a:r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결  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D098B3-923B-7B88-C37C-BC409086B7BA}"/>
              </a:ext>
            </a:extLst>
          </p:cNvPr>
          <p:cNvSpPr txBox="1"/>
          <p:nvPr/>
        </p:nvSpPr>
        <p:spPr>
          <a:xfrm>
            <a:off x="762142" y="6495213"/>
            <a:ext cx="1656593" cy="858789"/>
          </a:xfrm>
          <a:prstGeom prst="roundRect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effectLst/>
        </p:spPr>
        <p:txBody>
          <a:bodyPr wrap="square" rtlCol="0" anchor="ctr" anchorCtr="0">
            <a:noAutofit/>
          </a:bodyPr>
          <a:lstStyle/>
          <a:p>
            <a:pPr algn="ctr"/>
            <a:r>
              <a:rPr lang="ko-KR" altLang="en-US" sz="40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초록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B4222-8527-788E-8C01-1EB9562EFA28}"/>
              </a:ext>
            </a:extLst>
          </p:cNvPr>
          <p:cNvSpPr txBox="1"/>
          <p:nvPr/>
        </p:nvSpPr>
        <p:spPr>
          <a:xfrm>
            <a:off x="762141" y="7354002"/>
            <a:ext cx="28327207" cy="14034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j-ea"/>
                <a:ea typeface="+mj-ea"/>
              </a:rPr>
              <a:t>본 연구는 </a:t>
            </a:r>
            <a:r>
              <a:rPr lang="ko-KR" altLang="en-US" sz="2800" dirty="0" err="1">
                <a:latin typeface="+mj-ea"/>
                <a:ea typeface="+mj-ea"/>
              </a:rPr>
              <a:t>크레듀가</a:t>
            </a:r>
            <a:r>
              <a:rPr lang="ko-KR" altLang="en-US" sz="2800" dirty="0">
                <a:latin typeface="+mj-ea"/>
                <a:ea typeface="+mj-ea"/>
              </a:rPr>
              <a:t> 국내 </a:t>
            </a:r>
            <a:r>
              <a:rPr lang="en-US" altLang="ko-KR" sz="2800" dirty="0">
                <a:latin typeface="+mj-ea"/>
                <a:ea typeface="+mj-ea"/>
              </a:rPr>
              <a:t>e</a:t>
            </a:r>
            <a:r>
              <a:rPr lang="ko-KR" altLang="en-US" sz="2800" dirty="0">
                <a:latin typeface="+mj-ea"/>
                <a:ea typeface="+mj-ea"/>
              </a:rPr>
              <a:t>러닝 시장을 어떻게 개척하고</a:t>
            </a:r>
            <a:r>
              <a:rPr lang="en-US" altLang="ko-KR" sz="2800" dirty="0">
                <a:latin typeface="+mj-ea"/>
                <a:ea typeface="+mj-ea"/>
              </a:rPr>
              <a:t>, </a:t>
            </a:r>
            <a:r>
              <a:rPr lang="ko-KR" altLang="en-US" sz="2800" dirty="0">
                <a:latin typeface="+mj-ea"/>
                <a:ea typeface="+mj-ea"/>
              </a:rPr>
              <a:t>핵심 역량을 강화하며</a:t>
            </a:r>
            <a:r>
              <a:rPr lang="en-US" altLang="ko-KR" sz="2800" dirty="0">
                <a:latin typeface="+mj-ea"/>
                <a:ea typeface="+mj-ea"/>
              </a:rPr>
              <a:t>, </a:t>
            </a:r>
            <a:r>
              <a:rPr lang="ko-KR" altLang="en-US" sz="2800" dirty="0">
                <a:latin typeface="+mj-ea"/>
                <a:ea typeface="+mj-ea"/>
              </a:rPr>
              <a:t>다각화를 추진했는지 실제 사례를 통해 분석했다</a:t>
            </a:r>
            <a:r>
              <a:rPr lang="en-US" altLang="ko-KR" sz="2800" dirty="0">
                <a:latin typeface="+mj-ea"/>
                <a:ea typeface="+mj-ea"/>
              </a:rPr>
              <a:t>. </a:t>
            </a:r>
            <a:r>
              <a:rPr lang="ko-KR" altLang="en-US" sz="2800" dirty="0">
                <a:latin typeface="+mj-ea"/>
                <a:ea typeface="+mj-ea"/>
              </a:rPr>
              <a:t>경쟁이 치열한 시장에서 </a:t>
            </a:r>
            <a:r>
              <a:rPr lang="ko-KR" altLang="en-US" sz="2800" dirty="0" err="1">
                <a:latin typeface="+mj-ea"/>
                <a:ea typeface="+mj-ea"/>
              </a:rPr>
              <a:t>크레듀는</a:t>
            </a:r>
            <a:r>
              <a:rPr lang="ko-KR" altLang="en-US" sz="2800" dirty="0">
                <a:latin typeface="+mj-ea"/>
                <a:ea typeface="+mj-ea"/>
              </a:rPr>
              <a:t> 학습자의 개인적 특성을 파악하고</a:t>
            </a:r>
            <a:r>
              <a:rPr lang="en-US" altLang="ko-KR" sz="2800" dirty="0">
                <a:latin typeface="+mj-ea"/>
                <a:ea typeface="+mj-ea"/>
              </a:rPr>
              <a:t>, </a:t>
            </a:r>
            <a:r>
              <a:rPr lang="ko-KR" altLang="en-US" sz="2800" dirty="0">
                <a:latin typeface="+mj-ea"/>
                <a:ea typeface="+mj-ea"/>
              </a:rPr>
              <a:t>실험적인 제품과 서비스를 출시하여 경쟁 우위를 유지했다</a:t>
            </a:r>
            <a:r>
              <a:rPr lang="en-US" altLang="ko-KR" sz="2800" dirty="0">
                <a:latin typeface="+mj-ea"/>
                <a:ea typeface="+mj-ea"/>
              </a:rPr>
              <a:t>. </a:t>
            </a:r>
            <a:r>
              <a:rPr lang="ko-KR" altLang="en-US" sz="2800" dirty="0">
                <a:latin typeface="+mj-ea"/>
                <a:ea typeface="+mj-ea"/>
              </a:rPr>
              <a:t>이 연구는 </a:t>
            </a:r>
            <a:r>
              <a:rPr lang="en-US" altLang="ko-KR" sz="2800" dirty="0">
                <a:latin typeface="+mj-ea"/>
                <a:ea typeface="+mj-ea"/>
              </a:rPr>
              <a:t>e</a:t>
            </a:r>
            <a:r>
              <a:rPr lang="ko-KR" altLang="en-US" sz="2800" dirty="0">
                <a:latin typeface="+mj-ea"/>
                <a:ea typeface="+mj-ea"/>
              </a:rPr>
              <a:t>러닝 시장 확산 방안을 제시하며 실무적으로 가치가 높다</a:t>
            </a:r>
            <a:r>
              <a:rPr lang="en-US" altLang="ko-KR" sz="2800" dirty="0">
                <a:latin typeface="+mj-ea"/>
                <a:ea typeface="+mj-ea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B4F1D5-423E-E730-2661-A132295E0699}"/>
              </a:ext>
            </a:extLst>
          </p:cNvPr>
          <p:cNvSpPr txBox="1"/>
          <p:nvPr/>
        </p:nvSpPr>
        <p:spPr>
          <a:xfrm>
            <a:off x="813241" y="17532166"/>
            <a:ext cx="13827167" cy="89489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ko-KR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2.1 </a:t>
            </a:r>
            <a:r>
              <a:rPr lang="ko-KR" altLang="en-US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학습동기요인에 대한 이론</a:t>
            </a:r>
          </a:p>
          <a:p>
            <a:r>
              <a:rPr lang="ko-KR" altLang="en-US" sz="3000" dirty="0">
                <a:latin typeface="+mj-ea"/>
                <a:ea typeface="+mj-ea"/>
              </a:rPr>
              <a:t>학습동기 요인은 크게 네 가지로 분류된다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  <a:r>
              <a:rPr lang="ko-KR" altLang="en-US" sz="3000" dirty="0">
                <a:latin typeface="+mj-ea"/>
                <a:ea typeface="+mj-ea"/>
              </a:rPr>
              <a:t>첫째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개인의 성숙은 자기 개발과 자기 효능감을 높여 학습에 대한 동기를 증진시킨다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  <a:r>
              <a:rPr lang="ko-KR" altLang="en-US" sz="3000" dirty="0">
                <a:latin typeface="+mj-ea"/>
                <a:ea typeface="+mj-ea"/>
              </a:rPr>
              <a:t>둘째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사회적 관계는 학습 참가자 간의 감정적 교류와 네트워크 형성에 중요한 역할을 한다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  <a:r>
              <a:rPr lang="ko-KR" altLang="en-US" sz="3000" dirty="0">
                <a:latin typeface="+mj-ea"/>
                <a:ea typeface="+mj-ea"/>
              </a:rPr>
              <a:t>셋째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사회적 비교와 경쟁은 성취동기와 관련되며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나이가 어릴수록 강해진다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  <a:r>
              <a:rPr lang="ko-KR" altLang="en-US" sz="3000" dirty="0">
                <a:latin typeface="+mj-ea"/>
                <a:ea typeface="+mj-ea"/>
              </a:rPr>
              <a:t>마지막으로 도구적 동기는 학습을 통해 직장과 사회적 성공을 이루려는 동기로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장기적인 인생의 성공을 위한 중요한 요소로 작용한다</a:t>
            </a:r>
            <a:r>
              <a:rPr lang="en-US" altLang="ko-KR" sz="3000" dirty="0">
                <a:latin typeface="+mj-ea"/>
                <a:ea typeface="+mj-ea"/>
              </a:rPr>
              <a:t>.</a:t>
            </a:r>
          </a:p>
          <a:p>
            <a:r>
              <a:rPr lang="en-US" altLang="ko-KR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2.2 </a:t>
            </a:r>
            <a:r>
              <a:rPr lang="ko-KR" altLang="en-US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온라인 기반 </a:t>
            </a:r>
            <a:r>
              <a:rPr lang="en-US" altLang="ko-KR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e</a:t>
            </a:r>
            <a:r>
              <a:rPr lang="ko-KR" altLang="en-US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러닝</a:t>
            </a:r>
          </a:p>
          <a:p>
            <a:r>
              <a:rPr lang="ko-KR" altLang="en-US" sz="3000" dirty="0">
                <a:latin typeface="+mj-ea"/>
                <a:ea typeface="+mj-ea"/>
              </a:rPr>
              <a:t>빠르게 발전하는 온라인 기반 </a:t>
            </a:r>
            <a:r>
              <a:rPr lang="en-US" altLang="ko-KR" sz="3000" dirty="0">
                <a:latin typeface="+mj-ea"/>
                <a:ea typeface="+mj-ea"/>
              </a:rPr>
              <a:t>e</a:t>
            </a:r>
            <a:r>
              <a:rPr lang="ko-KR" altLang="en-US" sz="3000" dirty="0">
                <a:latin typeface="+mj-ea"/>
                <a:ea typeface="+mj-ea"/>
              </a:rPr>
              <a:t>러닝은 </a:t>
            </a:r>
            <a:r>
              <a:rPr lang="en-US" altLang="ko-KR" sz="3000" dirty="0">
                <a:latin typeface="+mj-ea"/>
                <a:ea typeface="+mj-ea"/>
              </a:rPr>
              <a:t>ICT</a:t>
            </a:r>
            <a:r>
              <a:rPr lang="ko-KR" altLang="en-US" sz="3000" dirty="0">
                <a:latin typeface="+mj-ea"/>
                <a:ea typeface="+mj-ea"/>
              </a:rPr>
              <a:t>를 활용한 새로운 형태의 학습 체계로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학습자에게 자기결정</a:t>
            </a:r>
            <a:r>
              <a:rPr lang="en-US" altLang="ko-KR" sz="3000" dirty="0">
                <a:latin typeface="+mj-ea"/>
                <a:ea typeface="+mj-ea"/>
              </a:rPr>
              <a:t>(Self-Determination) </a:t>
            </a:r>
            <a:r>
              <a:rPr lang="ko-KR" altLang="en-US" sz="3000" dirty="0">
                <a:latin typeface="+mj-ea"/>
                <a:ea typeface="+mj-ea"/>
              </a:rPr>
              <a:t>능력을 향상시킬 기회를 제공한다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  <a:r>
              <a:rPr lang="ko-KR" altLang="en-US" sz="3000" dirty="0">
                <a:latin typeface="+mj-ea"/>
                <a:ea typeface="+mj-ea"/>
              </a:rPr>
              <a:t>즉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학습자는 언제 어디서든 원하는 시간에 반복 학습이 가능하며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이러한 특성 덕분에 최근 학습 체계의 경향에 더욱 부합한다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  <a:r>
              <a:rPr lang="ko-KR" altLang="en-US" sz="3000" dirty="0">
                <a:latin typeface="+mj-ea"/>
                <a:ea typeface="+mj-ea"/>
              </a:rPr>
              <a:t>실제로 최근 연구에 따르면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메타 분석 결과 </a:t>
            </a:r>
            <a:r>
              <a:rPr lang="en-US" altLang="ko-KR" sz="3000" dirty="0">
                <a:latin typeface="+mj-ea"/>
                <a:ea typeface="+mj-ea"/>
              </a:rPr>
              <a:t>e</a:t>
            </a:r>
            <a:r>
              <a:rPr lang="ko-KR" altLang="en-US" sz="3000" dirty="0">
                <a:latin typeface="+mj-ea"/>
                <a:ea typeface="+mj-ea"/>
              </a:rPr>
              <a:t>러닝은 학습자 지향적이고 능동적인 효과를 가진다고 한다</a:t>
            </a:r>
            <a:r>
              <a:rPr lang="en-US" altLang="ko-KR" sz="3000" dirty="0">
                <a:latin typeface="+mj-ea"/>
                <a:ea typeface="+mj-ea"/>
              </a:rPr>
              <a:t>.</a:t>
            </a:r>
          </a:p>
          <a:p>
            <a:r>
              <a:rPr lang="en-US" altLang="ko-KR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2.3 </a:t>
            </a:r>
            <a:r>
              <a:rPr lang="ko-KR" altLang="en-US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개인의 특성</a:t>
            </a:r>
            <a:r>
              <a:rPr lang="en-US" altLang="ko-KR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(Personality)</a:t>
            </a:r>
            <a:r>
              <a:rPr lang="ko-KR" altLang="en-US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과 학습 동기</a:t>
            </a:r>
          </a:p>
          <a:p>
            <a:r>
              <a:rPr lang="ko-KR" altLang="en-US" sz="3000" dirty="0">
                <a:latin typeface="+mj-ea"/>
                <a:ea typeface="+mj-ea"/>
              </a:rPr>
              <a:t>학습 동기의 중요한 요소는 개인의 특성으로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이는 개방성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성실성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외향성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친화성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신경증의 </a:t>
            </a:r>
            <a:r>
              <a:rPr lang="en-US" altLang="ko-KR" sz="3000" dirty="0">
                <a:latin typeface="+mj-ea"/>
                <a:ea typeface="+mj-ea"/>
              </a:rPr>
              <a:t>5</a:t>
            </a:r>
            <a:r>
              <a:rPr lang="ko-KR" altLang="en-US" sz="3000" dirty="0">
                <a:latin typeface="+mj-ea"/>
                <a:ea typeface="+mj-ea"/>
              </a:rPr>
              <a:t>가지 요소로 구분된다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  <a:r>
              <a:rPr lang="ko-KR" altLang="en-US" sz="3000" dirty="0">
                <a:latin typeface="+mj-ea"/>
                <a:ea typeface="+mj-ea"/>
              </a:rPr>
              <a:t>이러한 특성 조합에 따라 학습 동기가 달라지며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능동적 성격의 소유자는 학습에서 긍정적인 태도를 보인다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  <a:r>
              <a:rPr lang="ko-KR" altLang="en-US" sz="3000" dirty="0">
                <a:latin typeface="+mj-ea"/>
                <a:ea typeface="+mj-ea"/>
              </a:rPr>
              <a:t>연구에 따르면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긍정적인 성격을 가진 사람들이 더 향상된 인지적 능력을 가지며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이는 </a:t>
            </a:r>
            <a:r>
              <a:rPr lang="en-US" altLang="ko-KR" sz="3000" dirty="0">
                <a:latin typeface="+mj-ea"/>
                <a:ea typeface="+mj-ea"/>
              </a:rPr>
              <a:t>e</a:t>
            </a:r>
            <a:r>
              <a:rPr lang="ko-KR" altLang="en-US" sz="3000" dirty="0">
                <a:latin typeface="+mj-ea"/>
                <a:ea typeface="+mj-ea"/>
              </a:rPr>
              <a:t>러닝 학습 동기를 규명하고 시장 확산에 긍정적인 영향을 줄 수 있다</a:t>
            </a:r>
            <a:r>
              <a:rPr lang="en-US" altLang="ko-KR" sz="3000" dirty="0">
                <a:latin typeface="+mj-ea"/>
                <a:ea typeface="+mj-ea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654123-D8DD-456B-2AE3-2157267656AF}"/>
              </a:ext>
            </a:extLst>
          </p:cNvPr>
          <p:cNvSpPr txBox="1"/>
          <p:nvPr/>
        </p:nvSpPr>
        <p:spPr>
          <a:xfrm>
            <a:off x="798459" y="35661325"/>
            <a:ext cx="13827167" cy="334879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ko-KR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3.1 </a:t>
            </a:r>
            <a:r>
              <a:rPr lang="ko-KR" altLang="en-US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사업의 초기 단계</a:t>
            </a:r>
          </a:p>
          <a:p>
            <a:r>
              <a:rPr lang="ko-KR" altLang="en-US" sz="3000" dirty="0" err="1">
                <a:latin typeface="+mj-ea"/>
                <a:ea typeface="+mj-ea"/>
              </a:rPr>
              <a:t>크레듀는</a:t>
            </a:r>
            <a:r>
              <a:rPr lang="ko-KR" altLang="en-US" sz="3000" dirty="0">
                <a:latin typeface="+mj-ea"/>
                <a:ea typeface="+mj-ea"/>
              </a:rPr>
              <a:t> 삼성인력개발원의 </a:t>
            </a:r>
            <a:r>
              <a:rPr lang="ko-KR" altLang="en-US" sz="3000" dirty="0" err="1">
                <a:latin typeface="+mj-ea"/>
                <a:ea typeface="+mj-ea"/>
              </a:rPr>
              <a:t>열린교육팀을</a:t>
            </a:r>
            <a:r>
              <a:rPr lang="ko-KR" altLang="en-US" sz="3000" dirty="0">
                <a:latin typeface="+mj-ea"/>
                <a:ea typeface="+mj-ea"/>
              </a:rPr>
              <a:t> 기반으로 창업 후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삼성 외의 민간기업과 공기업을 대상으로 영업을 확대하며 차별화된 경쟁우위를 확보했다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  <a:r>
              <a:rPr lang="ko-KR" altLang="en-US" sz="3000" dirty="0">
                <a:latin typeface="+mj-ea"/>
                <a:ea typeface="+mj-ea"/>
              </a:rPr>
              <a:t>다양한 교육 콘텐츠 제공과 학습 관리 시스템</a:t>
            </a:r>
            <a:r>
              <a:rPr lang="en-US" altLang="ko-KR" sz="3000" dirty="0">
                <a:latin typeface="+mj-ea"/>
                <a:ea typeface="+mj-ea"/>
              </a:rPr>
              <a:t>(LMS) </a:t>
            </a:r>
            <a:r>
              <a:rPr lang="ko-KR" altLang="en-US" sz="3000" dirty="0">
                <a:latin typeface="+mj-ea"/>
                <a:ea typeface="+mj-ea"/>
              </a:rPr>
              <a:t>구축을 통해 성장했고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여러 사업 모델을 개발하여 교육 시장에서 입지를 다졌다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  <a:r>
              <a:rPr lang="ko-KR" altLang="en-US" sz="3000" dirty="0">
                <a:latin typeface="+mj-ea"/>
                <a:ea typeface="+mj-ea"/>
              </a:rPr>
              <a:t>하지만 경쟁이 </a:t>
            </a:r>
            <a:r>
              <a:rPr lang="ko-KR" altLang="en-US" sz="3000" dirty="0" err="1">
                <a:latin typeface="+mj-ea"/>
                <a:ea typeface="+mj-ea"/>
              </a:rPr>
              <a:t>치열해지며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삼성</a:t>
            </a:r>
            <a:r>
              <a:rPr lang="en-US" altLang="ko-KR" sz="3000" dirty="0">
                <a:latin typeface="+mj-ea"/>
                <a:ea typeface="+mj-ea"/>
              </a:rPr>
              <a:t>SDS</a:t>
            </a:r>
            <a:r>
              <a:rPr lang="ko-KR" altLang="en-US" sz="3000" dirty="0">
                <a:latin typeface="+mj-ea"/>
                <a:ea typeface="+mj-ea"/>
              </a:rPr>
              <a:t>의 멀티캠퍼스와 같은 </a:t>
            </a:r>
            <a:r>
              <a:rPr lang="ko-KR" altLang="en-US" sz="3000" dirty="0" err="1">
                <a:latin typeface="+mj-ea"/>
                <a:ea typeface="+mj-ea"/>
              </a:rPr>
              <a:t>기업들과의</a:t>
            </a:r>
            <a:r>
              <a:rPr lang="ko-KR" altLang="en-US" sz="3000" dirty="0">
                <a:latin typeface="+mj-ea"/>
                <a:ea typeface="+mj-ea"/>
              </a:rPr>
              <a:t> 경쟁이 본격화되었고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다른 업체들도 시장에 진입하여 경쟁이 심화되었다</a:t>
            </a:r>
            <a:r>
              <a:rPr lang="en-US" altLang="ko-KR" sz="3000" dirty="0">
                <a:latin typeface="+mj-ea"/>
                <a:ea typeface="+mj-ea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C0F26D-FB92-BFB2-D2ED-698E439B6F8F}"/>
              </a:ext>
            </a:extLst>
          </p:cNvPr>
          <p:cNvSpPr txBox="1"/>
          <p:nvPr/>
        </p:nvSpPr>
        <p:spPr>
          <a:xfrm>
            <a:off x="15649588" y="21488945"/>
            <a:ext cx="13812384" cy="86100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ko-KR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3</a:t>
            </a:r>
            <a:r>
              <a:rPr kumimoji="0" lang="en-US" altLang="ko-KR" sz="30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.3 </a:t>
            </a:r>
            <a:r>
              <a:rPr kumimoji="0" lang="ko-KR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목적지향시스템</a:t>
            </a:r>
            <a:r>
              <a:rPr kumimoji="0" lang="en-US" altLang="ko-KR" sz="30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(GBS : Goal-based System) </a:t>
            </a:r>
            <a:r>
              <a:rPr kumimoji="0" lang="ko-KR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모델 도입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3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크레듀는</a:t>
            </a:r>
            <a:r>
              <a:rPr kumimoji="0" lang="ko-KR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 구성주의 이론을 도입하여 </a:t>
            </a:r>
            <a:r>
              <a:rPr kumimoji="0" lang="en-US" altLang="ko-KR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WBT(Web-Based Training)</a:t>
            </a:r>
            <a:r>
              <a:rPr kumimoji="0" lang="ko-KR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와 </a:t>
            </a:r>
            <a:r>
              <a:rPr kumimoji="0" lang="en-US" altLang="ko-KR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WBL(Web-Based Learning) </a:t>
            </a:r>
            <a:r>
              <a:rPr kumimoji="0" lang="ko-KR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형태의 교육 콘텐츠를 개발했다</a:t>
            </a:r>
            <a:r>
              <a:rPr kumimoji="0" lang="en-US" altLang="ko-KR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. </a:t>
            </a:r>
            <a:r>
              <a:rPr kumimoji="0" lang="ko-KR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학습자가 문제 해결을 통해 교육을 진행하게 하여 현장에서 더 효율적으로 활용할 수 있지만</a:t>
            </a:r>
            <a:r>
              <a:rPr kumimoji="0" lang="en-US" altLang="ko-KR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높은 집중력과 자발적 참여를 요구하여 수료율이 떨어지는 문제도 있었다</a:t>
            </a:r>
            <a:r>
              <a:rPr kumimoji="0" lang="en-US" altLang="ko-KR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r>
              <a:rPr lang="en-US" altLang="ko-KR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3.4 </a:t>
            </a:r>
            <a:r>
              <a:rPr lang="ko-KR" altLang="en-US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나인 매트릭스와 </a:t>
            </a:r>
            <a:r>
              <a:rPr lang="ko-KR" altLang="en-US" sz="3000" b="1" dirty="0" err="1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유저빌러티</a:t>
            </a:r>
            <a:r>
              <a:rPr lang="ko-KR" altLang="en-US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 테스트 </a:t>
            </a:r>
          </a:p>
          <a:p>
            <a:r>
              <a:rPr lang="en-US" altLang="ko-KR" sz="3000" dirty="0">
                <a:latin typeface="+mj-ea"/>
                <a:ea typeface="+mj-ea"/>
              </a:rPr>
              <a:t>'</a:t>
            </a:r>
            <a:r>
              <a:rPr lang="ko-KR" altLang="en-US" sz="3000" dirty="0" err="1">
                <a:latin typeface="+mj-ea"/>
                <a:ea typeface="+mj-ea"/>
              </a:rPr>
              <a:t>유저빌러티</a:t>
            </a:r>
            <a:r>
              <a:rPr lang="ko-KR" altLang="en-US" sz="3000" dirty="0">
                <a:latin typeface="+mj-ea"/>
                <a:ea typeface="+mj-ea"/>
              </a:rPr>
              <a:t> 테스트</a:t>
            </a:r>
            <a:r>
              <a:rPr lang="en-US" altLang="ko-KR" sz="3000" dirty="0">
                <a:latin typeface="+mj-ea"/>
                <a:ea typeface="+mj-ea"/>
              </a:rPr>
              <a:t>'</a:t>
            </a:r>
            <a:r>
              <a:rPr lang="ko-KR" altLang="en-US" sz="3000" dirty="0">
                <a:latin typeface="+mj-ea"/>
                <a:ea typeface="+mj-ea"/>
              </a:rPr>
              <a:t>를 통해 교육 콘텐츠의 실제 사용성을 점검하고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발견된 문제점을 수정하여 콘텐츠 품질을 향상시켰다</a:t>
            </a:r>
            <a:r>
              <a:rPr lang="en-US" altLang="ko-KR" sz="3000" dirty="0">
                <a:latin typeface="+mj-ea"/>
                <a:ea typeface="+mj-ea"/>
              </a:rPr>
              <a:t>.</a:t>
            </a:r>
          </a:p>
          <a:p>
            <a:r>
              <a:rPr lang="en-US" altLang="ko-KR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3.5 </a:t>
            </a:r>
            <a:r>
              <a:rPr lang="ko-KR" altLang="en-US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첨단 기술을 응용한 콘텐츠 제작</a:t>
            </a:r>
          </a:p>
          <a:p>
            <a:r>
              <a:rPr lang="ko-KR" altLang="en-US" sz="3000" dirty="0">
                <a:latin typeface="+mj-ea"/>
                <a:ea typeface="+mj-ea"/>
              </a:rPr>
              <a:t>증강현실</a:t>
            </a:r>
            <a:r>
              <a:rPr lang="en-US" altLang="ko-KR" sz="3000" dirty="0">
                <a:latin typeface="+mj-ea"/>
                <a:ea typeface="+mj-ea"/>
              </a:rPr>
              <a:t>(AR) </a:t>
            </a:r>
            <a:r>
              <a:rPr lang="ko-KR" altLang="en-US" sz="3000" dirty="0">
                <a:latin typeface="+mj-ea"/>
                <a:ea typeface="+mj-ea"/>
              </a:rPr>
              <a:t>기술을 적용해 </a:t>
            </a:r>
            <a:r>
              <a:rPr lang="en-US" altLang="ko-KR" sz="3000" dirty="0">
                <a:latin typeface="+mj-ea"/>
                <a:ea typeface="+mj-ea"/>
              </a:rPr>
              <a:t>3D </a:t>
            </a:r>
            <a:r>
              <a:rPr lang="ko-KR" altLang="en-US" sz="3000" dirty="0">
                <a:latin typeface="+mj-ea"/>
                <a:ea typeface="+mj-ea"/>
              </a:rPr>
              <a:t>입체 영상을 활용한 교육을 제공하고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 err="1">
                <a:latin typeface="+mj-ea"/>
                <a:ea typeface="+mj-ea"/>
              </a:rPr>
              <a:t>블렌디드</a:t>
            </a:r>
            <a:r>
              <a:rPr lang="ko-KR" altLang="en-US" sz="3000" dirty="0">
                <a:latin typeface="+mj-ea"/>
                <a:ea typeface="+mj-ea"/>
              </a:rPr>
              <a:t> 학습 모델을 통해 온라인과 오프라인 교육의 장점을 결합했다</a:t>
            </a:r>
            <a:r>
              <a:rPr lang="en-US" altLang="ko-KR" sz="3000" dirty="0">
                <a:latin typeface="+mj-ea"/>
                <a:ea typeface="+mj-ea"/>
              </a:rPr>
              <a:t>.</a:t>
            </a:r>
          </a:p>
          <a:p>
            <a:r>
              <a:rPr lang="en-US" altLang="ko-KR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3.6 </a:t>
            </a:r>
            <a:r>
              <a:rPr lang="ko-KR" altLang="en-US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다양한 시스템 구축</a:t>
            </a:r>
          </a:p>
          <a:p>
            <a:r>
              <a:rPr lang="ko-KR" altLang="en-US" sz="3000" dirty="0" err="1">
                <a:latin typeface="+mj-ea"/>
                <a:ea typeface="+mj-ea"/>
              </a:rPr>
              <a:t>크레듀는</a:t>
            </a:r>
            <a:r>
              <a:rPr lang="ko-KR" altLang="en-US" sz="3000" dirty="0">
                <a:latin typeface="+mj-ea"/>
                <a:ea typeface="+mj-ea"/>
              </a:rPr>
              <a:t> </a:t>
            </a:r>
            <a:r>
              <a:rPr lang="en-US" altLang="ko-KR" sz="3000" dirty="0">
                <a:latin typeface="+mj-ea"/>
                <a:ea typeface="+mj-ea"/>
              </a:rPr>
              <a:t>LMS(</a:t>
            </a:r>
            <a:r>
              <a:rPr lang="ko-KR" altLang="en-US" sz="3000" dirty="0">
                <a:latin typeface="+mj-ea"/>
                <a:ea typeface="+mj-ea"/>
              </a:rPr>
              <a:t>학습관리시스템</a:t>
            </a:r>
            <a:r>
              <a:rPr lang="en-US" altLang="ko-KR" sz="3000" dirty="0">
                <a:latin typeface="+mj-ea"/>
                <a:ea typeface="+mj-ea"/>
              </a:rPr>
              <a:t>) </a:t>
            </a:r>
            <a:r>
              <a:rPr lang="ko-KR" altLang="en-US" sz="3000" dirty="0">
                <a:latin typeface="+mj-ea"/>
                <a:ea typeface="+mj-ea"/>
              </a:rPr>
              <a:t>구축을 통해 기업 교육을 혁신했다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  <a:r>
              <a:rPr lang="ko-KR" altLang="en-US" sz="3000" dirty="0">
                <a:latin typeface="+mj-ea"/>
                <a:ea typeface="+mj-ea"/>
              </a:rPr>
              <a:t>최종 학습자인 피교육자 관리에 집중하고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학습 진도 및 피드백을 실시간으로 추적하는 시스템을 개발했다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</a:p>
          <a:p>
            <a:r>
              <a:rPr lang="en-US" altLang="ko-KR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3.7 </a:t>
            </a:r>
            <a:r>
              <a:rPr lang="ko-KR" altLang="en-US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핵심역량에 바탕을 둔 사업 다각화</a:t>
            </a:r>
          </a:p>
          <a:p>
            <a:r>
              <a:rPr lang="ko-KR" altLang="en-US" sz="3000" dirty="0" err="1">
                <a:latin typeface="+mj-ea"/>
                <a:ea typeface="+mj-ea"/>
              </a:rPr>
              <a:t>크레듀는</a:t>
            </a:r>
            <a:r>
              <a:rPr lang="ko-KR" altLang="en-US" sz="3000" dirty="0">
                <a:latin typeface="+mj-ea"/>
                <a:ea typeface="+mj-ea"/>
              </a:rPr>
              <a:t> 다양한 사업 다각화를 통해 </a:t>
            </a:r>
            <a:r>
              <a:rPr lang="en-US" altLang="ko-KR" sz="3000" dirty="0">
                <a:latin typeface="+mj-ea"/>
                <a:ea typeface="+mj-ea"/>
              </a:rPr>
              <a:t>e</a:t>
            </a:r>
            <a:r>
              <a:rPr lang="ko-KR" altLang="en-US" sz="3000" dirty="0">
                <a:latin typeface="+mj-ea"/>
                <a:ea typeface="+mj-ea"/>
              </a:rPr>
              <a:t>러닝 외에도 온라인 </a:t>
            </a:r>
            <a:r>
              <a:rPr lang="en-US" altLang="ko-KR" sz="3000" dirty="0">
                <a:latin typeface="+mj-ea"/>
                <a:ea typeface="+mj-ea"/>
              </a:rPr>
              <a:t>MBA, </a:t>
            </a:r>
            <a:r>
              <a:rPr lang="ko-KR" altLang="en-US" sz="3000" dirty="0">
                <a:latin typeface="+mj-ea"/>
                <a:ea typeface="+mj-ea"/>
              </a:rPr>
              <a:t>영어 마을 운영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중등 교육 시장 등으로 영역을 확장했다</a:t>
            </a:r>
            <a:r>
              <a:rPr lang="en-US" altLang="ko-KR" sz="3000" dirty="0">
                <a:latin typeface="+mj-ea"/>
                <a:ea typeface="+mj-ea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B7A8D5-63E1-F5BE-871D-6CDFAD19CE93}"/>
              </a:ext>
            </a:extLst>
          </p:cNvPr>
          <p:cNvSpPr txBox="1"/>
          <p:nvPr/>
        </p:nvSpPr>
        <p:spPr>
          <a:xfrm>
            <a:off x="720686" y="27466514"/>
            <a:ext cx="13863484" cy="950723"/>
          </a:xfrm>
          <a:prstGeom prst="roundRect">
            <a:avLst>
              <a:gd name="adj" fmla="val 0"/>
            </a:avLst>
          </a:prstGeom>
          <a:solidFill>
            <a:srgbClr val="6E2E59"/>
          </a:solidFill>
          <a:effectLst/>
        </p:spPr>
        <p:txBody>
          <a:bodyPr wrap="square" rtlCol="0" anchor="ctr" anchorCtr="0">
            <a:no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3. </a:t>
            </a:r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사례 연구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50AD23-3A0E-E61F-466E-887B55A58FD0}"/>
              </a:ext>
            </a:extLst>
          </p:cNvPr>
          <p:cNvSpPr txBox="1"/>
          <p:nvPr/>
        </p:nvSpPr>
        <p:spPr>
          <a:xfrm>
            <a:off x="813241" y="28974046"/>
            <a:ext cx="13662211" cy="44418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1800" b="1" dirty="0">
                <a:latin typeface="+mj-ea"/>
                <a:ea typeface="+mj-ea"/>
              </a:rPr>
              <a:t> &lt;Table 1&gt; Business History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5A0823-89EA-CF37-9A2A-54846C03BE70}"/>
              </a:ext>
            </a:extLst>
          </p:cNvPr>
          <p:cNvSpPr txBox="1"/>
          <p:nvPr/>
        </p:nvSpPr>
        <p:spPr>
          <a:xfrm>
            <a:off x="16418403" y="10755838"/>
            <a:ext cx="11529504" cy="44418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1800" b="1" dirty="0">
                <a:latin typeface="+mj-ea"/>
                <a:ea typeface="+mj-ea"/>
              </a:rPr>
              <a:t> &lt;Table 2&gt; Business Section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AF69F3-33A7-7B41-95AE-9615CAD468D7}"/>
              </a:ext>
            </a:extLst>
          </p:cNvPr>
          <p:cNvSpPr txBox="1"/>
          <p:nvPr/>
        </p:nvSpPr>
        <p:spPr>
          <a:xfrm>
            <a:off x="15598488" y="30760895"/>
            <a:ext cx="13863484" cy="964939"/>
          </a:xfrm>
          <a:prstGeom prst="roundRect">
            <a:avLst>
              <a:gd name="adj" fmla="val 0"/>
            </a:avLst>
          </a:prstGeom>
          <a:solidFill>
            <a:srgbClr val="6E2E59"/>
          </a:solidFill>
          <a:effectLst/>
        </p:spPr>
        <p:txBody>
          <a:bodyPr wrap="square" rtlCol="0" anchor="ctr" anchorCtr="0">
            <a:no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4. e</a:t>
            </a:r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러닝 시장의 활성화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A5F6DC-986C-4C99-1FDD-A90F77D8E1D3}"/>
              </a:ext>
            </a:extLst>
          </p:cNvPr>
          <p:cNvSpPr txBox="1"/>
          <p:nvPr/>
        </p:nvSpPr>
        <p:spPr>
          <a:xfrm>
            <a:off x="15646164" y="31846426"/>
            <a:ext cx="13863484" cy="38811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ko-KR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4.1 e</a:t>
            </a:r>
            <a:r>
              <a:rPr lang="ko-KR" altLang="en-US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러닝 시장의 위험 요소</a:t>
            </a:r>
          </a:p>
          <a:p>
            <a:r>
              <a:rPr lang="en-US" altLang="ko-KR" sz="3000" dirty="0">
                <a:latin typeface="+mj-ea"/>
                <a:ea typeface="+mj-ea"/>
              </a:rPr>
              <a:t>e</a:t>
            </a:r>
            <a:r>
              <a:rPr lang="ko-KR" altLang="en-US" sz="3000" dirty="0">
                <a:latin typeface="+mj-ea"/>
                <a:ea typeface="+mj-ea"/>
              </a:rPr>
              <a:t>러닝 시장에서는 경쟁이 치열하고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많은 기업들이 정부의 고용보험 환급 정책에 의존하고 있다</a:t>
            </a:r>
            <a:r>
              <a:rPr lang="en-US" altLang="ko-KR" sz="3000" dirty="0">
                <a:latin typeface="+mj-ea"/>
                <a:ea typeface="+mj-ea"/>
              </a:rPr>
              <a:t>. </a:t>
            </a:r>
            <a:r>
              <a:rPr lang="ko-KR" altLang="en-US" sz="3000" dirty="0">
                <a:latin typeface="+mj-ea"/>
                <a:ea typeface="+mj-ea"/>
              </a:rPr>
              <a:t>정부 정책 변경이나 노동부 평가 결과에 따라 수익성이 크게 영향을 받을 수 있다</a:t>
            </a:r>
            <a:r>
              <a:rPr lang="en-US" altLang="ko-KR" sz="3000" dirty="0">
                <a:latin typeface="+mj-ea"/>
                <a:ea typeface="+mj-ea"/>
              </a:rPr>
              <a:t>.</a:t>
            </a:r>
          </a:p>
          <a:p>
            <a:r>
              <a:rPr lang="en-US" altLang="ko-KR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4.2 e</a:t>
            </a:r>
            <a:r>
              <a:rPr lang="ko-KR" altLang="en-US" sz="30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러닝 시장 활성화 방안</a:t>
            </a:r>
          </a:p>
          <a:p>
            <a:r>
              <a:rPr lang="ko-KR" altLang="en-US" sz="3000" dirty="0" err="1">
                <a:latin typeface="+mj-ea"/>
                <a:ea typeface="+mj-ea"/>
              </a:rPr>
              <a:t>크레듀는</a:t>
            </a:r>
            <a:r>
              <a:rPr lang="ko-KR" altLang="en-US" sz="3000" dirty="0">
                <a:latin typeface="+mj-ea"/>
                <a:ea typeface="+mj-ea"/>
              </a:rPr>
              <a:t> </a:t>
            </a:r>
            <a:r>
              <a:rPr lang="en-US" altLang="ko-KR" sz="3000" dirty="0">
                <a:latin typeface="+mj-ea"/>
                <a:ea typeface="+mj-ea"/>
              </a:rPr>
              <a:t>LMS </a:t>
            </a:r>
            <a:r>
              <a:rPr lang="ko-KR" altLang="en-US" sz="3000" dirty="0">
                <a:latin typeface="+mj-ea"/>
                <a:ea typeface="+mj-ea"/>
              </a:rPr>
              <a:t>기술을 바탕으로 중고등학생 대상 독특한 서비스를 제공하고</a:t>
            </a:r>
            <a:r>
              <a:rPr lang="en-US" altLang="ko-KR" sz="3000" dirty="0">
                <a:latin typeface="+mj-ea"/>
                <a:ea typeface="+mj-ea"/>
              </a:rPr>
              <a:t>, </a:t>
            </a:r>
            <a:r>
              <a:rPr lang="ko-KR" altLang="en-US" sz="3000" dirty="0">
                <a:latin typeface="+mj-ea"/>
                <a:ea typeface="+mj-ea"/>
              </a:rPr>
              <a:t>영어교육 분야에서 </a:t>
            </a:r>
            <a:r>
              <a:rPr lang="en-US" altLang="ko-KR" sz="3000" dirty="0" err="1">
                <a:latin typeface="+mj-ea"/>
                <a:ea typeface="+mj-ea"/>
              </a:rPr>
              <a:t>OPIc</a:t>
            </a:r>
            <a:r>
              <a:rPr lang="ko-KR" altLang="en-US" sz="3000" dirty="0">
                <a:latin typeface="+mj-ea"/>
                <a:ea typeface="+mj-ea"/>
              </a:rPr>
              <a:t>과 같은 혁신 모델을 개발할 필요가 있다</a:t>
            </a:r>
            <a:r>
              <a:rPr lang="en-US" altLang="ko-KR" sz="3000" dirty="0">
                <a:latin typeface="+mj-ea"/>
                <a:ea typeface="+mj-ea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0F76D6A-E6B5-AFC8-C0E3-092A246B5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38" y="29443616"/>
            <a:ext cx="13717914" cy="558242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8063FCD-8939-A9B3-0966-D1D552E84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8403" y="11141966"/>
            <a:ext cx="11529504" cy="94504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C5801F-A6AD-029C-00FC-FCB1404537A6}"/>
              </a:ext>
            </a:extLst>
          </p:cNvPr>
          <p:cNvSpPr txBox="1"/>
          <p:nvPr/>
        </p:nvSpPr>
        <p:spPr>
          <a:xfrm>
            <a:off x="813241" y="38972017"/>
            <a:ext cx="138271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30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3.2 e</a:t>
            </a:r>
            <a:r>
              <a:rPr kumimoji="0" lang="ko-KR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러닝 콘텐츠 차별화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e</a:t>
            </a:r>
            <a:r>
              <a:rPr kumimoji="0" lang="ko-KR" altLang="en-US" sz="3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크레듀는</a:t>
            </a:r>
            <a:r>
              <a:rPr kumimoji="0" lang="ko-KR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 행동주의 교육 관점에서 구성주의적 교육 방식으로 전환하였고</a:t>
            </a:r>
            <a:r>
              <a:rPr kumimoji="0" lang="en-US" altLang="ko-KR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이는 더 많은 상호작용을 가능하게 하고 개인화된 교육을 제공할 수 있는 장점을 지닌다</a:t>
            </a:r>
            <a:r>
              <a:rPr kumimoji="0" lang="en-US" altLang="ko-KR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860</Words>
  <Application>Microsoft Office PowerPoint</Application>
  <PresentationFormat>사용자 지정</PresentationFormat>
  <Paragraphs>47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Malgun Gothic</vt:lpstr>
      <vt:lpstr>Malgun Gothic</vt:lpstr>
      <vt:lpstr>Arial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chongjin koh</cp:lastModifiedBy>
  <cp:revision>612</cp:revision>
  <dcterms:created xsi:type="dcterms:W3CDTF">2018-10-17T01:18:09Z</dcterms:created>
  <dcterms:modified xsi:type="dcterms:W3CDTF">2024-11-27T02:27:01Z</dcterms:modified>
</cp:coreProperties>
</file>