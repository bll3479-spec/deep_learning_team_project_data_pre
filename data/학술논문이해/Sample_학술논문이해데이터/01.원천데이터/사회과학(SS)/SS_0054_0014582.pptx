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30275213" cy="42803763"/>
  <p:notesSz cx="9926638" cy="1435576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3482">
          <p15:clr>
            <a:srgbClr val="A4A3A4"/>
          </p15:clr>
        </p15:guide>
        <p15:guide id="2" pos="953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" roundtripDataSignature="AMtx7mgPi7jr+A4YPg74lnu0nHqD798K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FDDDA"/>
    <a:srgbClr val="000000"/>
    <a:srgbClr val="BABABC"/>
    <a:srgbClr val="B0DDDA"/>
    <a:srgbClr val="EFEFEF"/>
    <a:srgbClr val="87D87E"/>
    <a:srgbClr val="399D85"/>
    <a:srgbClr val="898989"/>
    <a:srgbClr val="C5DEB5"/>
    <a:srgbClr val="369E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93" autoAdjust="0"/>
    <p:restoredTop sz="94915" autoAdjust="0"/>
  </p:normalViewPr>
  <p:slideViewPr>
    <p:cSldViewPr snapToGrid="0">
      <p:cViewPr varScale="1">
        <p:scale>
          <a:sx n="16" d="100"/>
          <a:sy n="16" d="100"/>
        </p:scale>
        <p:origin x="1710" y="168"/>
      </p:cViewPr>
      <p:guideLst>
        <p:guide orient="horz" pos="13482"/>
        <p:guide pos="953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6" d="100"/>
          <a:sy n="56" d="100"/>
        </p:scale>
        <p:origin x="398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7" Type="http://customschemas.google.com/relationships/presentationmetadata" Target="meta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tableStyles" Target="tableStyles.xml"/><Relationship Id="rId10" Type="http://schemas.openxmlformats.org/officeDocument/2006/relationships/theme" Target="theme/theme1.xml"/><Relationship Id="rId4" Type="http://schemas.openxmlformats.org/officeDocument/2006/relationships/handoutMaster" Target="handoutMasters/handout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B0C88F50-C423-6C5C-B4CF-62E2CCF4F0C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125" cy="719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543B4D9-B977-3D46-78C4-474679C13AC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622925" y="0"/>
            <a:ext cx="4302125" cy="719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E195A7-4752-4510-B281-0E81CED8ACD2}" type="datetimeFigureOut">
              <a:rPr lang="ko-KR" altLang="en-US" smtClean="0"/>
              <a:t>2024-12-12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600424B-40BC-08A8-47A9-1495BE6E1AA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3636625"/>
            <a:ext cx="4302125" cy="719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442F46C-9A19-4C96-27B5-2730CACFC42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622925" y="13636625"/>
            <a:ext cx="4302125" cy="719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418394-E49D-45A0-9367-0149C0D41F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31105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4301543" cy="720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8750" tIns="69375" rIns="138750" bIns="6937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622798" y="0"/>
            <a:ext cx="4301543" cy="720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8750" tIns="69375" rIns="138750" bIns="69375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251200" y="1793875"/>
            <a:ext cx="3424200" cy="4845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92664" y="6908711"/>
            <a:ext cx="7941310" cy="5652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8750" tIns="69375" rIns="138750" bIns="6937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8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8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8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8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8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8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8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8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8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3635484"/>
            <a:ext cx="4301543" cy="72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8750" tIns="69375" rIns="138750" bIns="6937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622798" y="13635484"/>
            <a:ext cx="4301543" cy="72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8750" tIns="69375" rIns="138750" bIns="693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51200" y="1793875"/>
            <a:ext cx="3424238" cy="4845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992664" y="6908711"/>
            <a:ext cx="7941310" cy="5652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8750" tIns="69375" rIns="138750" bIns="693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5622798" y="13635484"/>
            <a:ext cx="4301543" cy="72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8750" tIns="69375" rIns="138750" bIns="6937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사용자 지정 레이아웃">
  <p:cSld name="1_사용자 지정 레이아웃">
    <p:bg>
      <p:bgPr>
        <a:gradFill>
          <a:gsLst>
            <a:gs pos="0">
              <a:schemeClr val="lt1"/>
            </a:gs>
            <a:gs pos="40000">
              <a:srgbClr val="FDFDFD"/>
            </a:gs>
            <a:gs pos="100000">
              <a:srgbClr val="7A7A7A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7108417A-941D-41FB-E4DF-EBB85A1EF992}"/>
              </a:ext>
            </a:extLst>
          </p:cNvPr>
          <p:cNvSpPr/>
          <p:nvPr userDrawn="1"/>
        </p:nvSpPr>
        <p:spPr>
          <a:xfrm>
            <a:off x="2049059" y="0"/>
            <a:ext cx="10022693" cy="62992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97254E-5FF8-B465-35EC-0AC1C53973FE}"/>
              </a:ext>
            </a:extLst>
          </p:cNvPr>
          <p:cNvSpPr txBox="1"/>
          <p:nvPr/>
        </p:nvSpPr>
        <p:spPr>
          <a:xfrm>
            <a:off x="2523879" y="653781"/>
            <a:ext cx="2682049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0" b="1" dirty="0" err="1">
                <a:solidFill>
                  <a:schemeClr val="tx1"/>
                </a:solidFill>
                <a:latin typeface="+mj-ea"/>
                <a:ea typeface="+mj-ea"/>
              </a:rPr>
              <a:t>환경배상책임보험사업자</a:t>
            </a:r>
            <a:r>
              <a:rPr lang="ko-KR" altLang="en-US" sz="6000" b="1" dirty="0">
                <a:solidFill>
                  <a:schemeClr val="tx1"/>
                </a:solidFill>
                <a:latin typeface="+mj-ea"/>
                <a:ea typeface="+mj-ea"/>
              </a:rPr>
              <a:t> 운영 방식의 재검토</a:t>
            </a:r>
            <a:endParaRPr lang="en-US" altLang="ko-KR" sz="6000" b="1" dirty="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ko-KR" sz="6000" b="1" dirty="0">
                <a:solidFill>
                  <a:schemeClr val="tx1"/>
                </a:solidFill>
                <a:latin typeface="+mj-ea"/>
                <a:ea typeface="+mj-ea"/>
              </a:rPr>
              <a:t>– EU </a:t>
            </a:r>
            <a:r>
              <a:rPr lang="ko-KR" altLang="en-US" sz="6000" b="1" dirty="0">
                <a:solidFill>
                  <a:schemeClr val="tx1"/>
                </a:solidFill>
                <a:latin typeface="+mj-ea"/>
                <a:ea typeface="+mj-ea"/>
              </a:rPr>
              <a:t>회원국의 </a:t>
            </a:r>
            <a:r>
              <a:rPr lang="ko-KR" altLang="en-US" sz="6000" b="1" dirty="0" err="1">
                <a:solidFill>
                  <a:schemeClr val="tx1"/>
                </a:solidFill>
                <a:latin typeface="+mj-ea"/>
                <a:ea typeface="+mj-ea"/>
              </a:rPr>
              <a:t>환경배상책임보험사업자</a:t>
            </a:r>
            <a:r>
              <a:rPr lang="ko-KR" altLang="en-US" sz="6000" b="1" dirty="0">
                <a:solidFill>
                  <a:schemeClr val="tx1"/>
                </a:solidFill>
                <a:latin typeface="+mj-ea"/>
                <a:ea typeface="+mj-ea"/>
              </a:rPr>
              <a:t> 운영방식과 비교법적</a:t>
            </a:r>
          </a:p>
          <a:p>
            <a:r>
              <a:rPr lang="ko-KR" altLang="en-US" sz="6000" b="1" dirty="0">
                <a:solidFill>
                  <a:schemeClr val="tx1"/>
                </a:solidFill>
                <a:latin typeface="+mj-ea"/>
                <a:ea typeface="+mj-ea"/>
              </a:rPr>
              <a:t>검토를 중심으로</a:t>
            </a:r>
            <a:r>
              <a:rPr lang="en-US" altLang="ko-KR" sz="6000" b="1" dirty="0">
                <a:solidFill>
                  <a:schemeClr val="tx1"/>
                </a:solidFill>
                <a:latin typeface="+mj-ea"/>
                <a:ea typeface="+mj-ea"/>
              </a:rPr>
              <a:t>-</a:t>
            </a:r>
            <a:endParaRPr lang="ko-KR" altLang="en-US" sz="60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E92A2D-A067-7325-51B5-1EC99297C546}"/>
              </a:ext>
            </a:extLst>
          </p:cNvPr>
          <p:cNvSpPr txBox="1"/>
          <p:nvPr/>
        </p:nvSpPr>
        <p:spPr>
          <a:xfrm>
            <a:off x="2287904" y="6290914"/>
            <a:ext cx="27056471" cy="896587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r>
              <a:rPr lang="ko-KR" altLang="en-US" sz="3000" b="1" dirty="0">
                <a:solidFill>
                  <a:schemeClr val="tx1"/>
                </a:solidFill>
                <a:latin typeface="+mj-ea"/>
                <a:ea typeface="+mj-ea"/>
              </a:rPr>
              <a:t>지 광 운 </a:t>
            </a:r>
            <a:r>
              <a:rPr lang="en-US" altLang="ko-KR" sz="3000" b="1" dirty="0">
                <a:solidFill>
                  <a:schemeClr val="tx1"/>
                </a:solidFill>
                <a:latin typeface="+mj-ea"/>
                <a:ea typeface="+mj-ea"/>
              </a:rPr>
              <a:t>(</a:t>
            </a:r>
            <a:r>
              <a:rPr lang="ko-KR" altLang="en-US" sz="3000" b="1" dirty="0" err="1">
                <a:solidFill>
                  <a:schemeClr val="tx1"/>
                </a:solidFill>
                <a:latin typeface="+mj-ea"/>
                <a:ea typeface="+mj-ea"/>
              </a:rPr>
              <a:t>국립군산대학교</a:t>
            </a:r>
            <a:r>
              <a:rPr lang="ko-KR" altLang="en-US" sz="3000" b="1" dirty="0">
                <a:solidFill>
                  <a:schemeClr val="tx1"/>
                </a:solidFill>
                <a:latin typeface="+mj-ea"/>
                <a:ea typeface="+mj-ea"/>
              </a:rPr>
              <a:t> 법학과 교수</a:t>
            </a:r>
            <a:r>
              <a:rPr lang="en-US" altLang="ko-KR" sz="3000" b="1" dirty="0">
                <a:solidFill>
                  <a:schemeClr val="tx1"/>
                </a:solidFill>
                <a:latin typeface="+mj-ea"/>
                <a:ea typeface="+mj-ea"/>
              </a:rPr>
              <a:t>)</a:t>
            </a:r>
            <a:endParaRPr lang="ko-KR" altLang="en-US" sz="30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23E382EB-578F-16D1-5949-167B90F737F0}"/>
              </a:ext>
            </a:extLst>
          </p:cNvPr>
          <p:cNvCxnSpPr>
            <a:cxnSpLocks/>
          </p:cNvCxnSpPr>
          <p:nvPr/>
        </p:nvCxnSpPr>
        <p:spPr>
          <a:xfrm>
            <a:off x="15137606" y="7815017"/>
            <a:ext cx="0" cy="33356785"/>
          </a:xfrm>
          <a:prstGeom prst="line">
            <a:avLst/>
          </a:prstGeom>
          <a:ln w="88900">
            <a:solidFill>
              <a:srgbClr val="8989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6912549-F936-6E97-3FE4-873027173DD4}"/>
              </a:ext>
            </a:extLst>
          </p:cNvPr>
          <p:cNvSpPr txBox="1"/>
          <p:nvPr/>
        </p:nvSpPr>
        <p:spPr>
          <a:xfrm>
            <a:off x="1895746" y="13012936"/>
            <a:ext cx="6744652" cy="873547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r>
              <a:rPr lang="en-US" altLang="ko-KR" sz="4000" b="1" dirty="0">
                <a:solidFill>
                  <a:schemeClr val="tx1"/>
                </a:solidFill>
                <a:latin typeface="+mj-ea"/>
                <a:ea typeface="+mj-ea"/>
              </a:rPr>
              <a:t>Ⅰ. </a:t>
            </a:r>
            <a:r>
              <a:rPr lang="ko-KR" altLang="en-US" sz="4000" b="1" dirty="0">
                <a:solidFill>
                  <a:schemeClr val="tx1"/>
                </a:solidFill>
                <a:latin typeface="+mj-ea"/>
                <a:ea typeface="+mj-ea"/>
              </a:rPr>
              <a:t>들어가며</a:t>
            </a: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7D254BE4-A01A-F81A-7873-ED570C7BD155}"/>
              </a:ext>
            </a:extLst>
          </p:cNvPr>
          <p:cNvCxnSpPr>
            <a:cxnSpLocks/>
          </p:cNvCxnSpPr>
          <p:nvPr/>
        </p:nvCxnSpPr>
        <p:spPr>
          <a:xfrm flipH="1">
            <a:off x="1895746" y="41801592"/>
            <a:ext cx="26483720" cy="0"/>
          </a:xfrm>
          <a:prstGeom prst="line">
            <a:avLst/>
          </a:prstGeom>
          <a:ln w="88900">
            <a:solidFill>
              <a:srgbClr val="8989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D0884BA-475C-1015-823E-234D0D140673}"/>
              </a:ext>
            </a:extLst>
          </p:cNvPr>
          <p:cNvSpPr txBox="1"/>
          <p:nvPr/>
        </p:nvSpPr>
        <p:spPr>
          <a:xfrm>
            <a:off x="1895746" y="13970627"/>
            <a:ext cx="12810853" cy="7595192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환경배상책임보험은 환경오염으로 인한 피해를 예방하고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발생한 피해에 대한 보상을 제공하기 위해 설계된 제도로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2016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년 한국에서 도입된 이후 현재 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3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기 컨소시엄이 운영되고 있으며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이 시스템은 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ELD(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환경책임지침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)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에 따라 다양한 유형의 환경보험을 제공하고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각 보험에 대해 최대 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50,000,000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유로의 책임 제한을 두어 환경사고 발생 시 피해를 최소화하는 데 기여하고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특히 공공기관만이 청구 자격을 인정받는 구조로 되어 있어 개인의 이익에 대한 반사적 보호를 배제하는 동시에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과도한 보험료와 낮은 손해율에 대한 비판이 제기됨에 따라 정부가 제도 개선 방안을 마련하고 있으며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이를 통해 한국의 환경배상책임보험 시장은 경쟁 체제로의 전환이 필요하다는 점과 함께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독일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프랑스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이탈리아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스페인 등 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EU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회원국의 다양한 보험 운영 방식을 참고하여 보다 효과적인 환경보험 상품 개발과 위험 분석 기법의 강화를 통해 환경오염 리스크에 적합한 보험료 산정이 이루어져야 함을 강조한다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3E3364-F1B7-A7C8-6D31-4FE999D531DB}"/>
              </a:ext>
            </a:extLst>
          </p:cNvPr>
          <p:cNvSpPr txBox="1"/>
          <p:nvPr/>
        </p:nvSpPr>
        <p:spPr>
          <a:xfrm>
            <a:off x="15698152" y="7077493"/>
            <a:ext cx="6744652" cy="1323439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r>
              <a:rPr lang="en-US" altLang="ko-KR" sz="4000" b="1" dirty="0">
                <a:solidFill>
                  <a:schemeClr val="tx1"/>
                </a:solidFill>
                <a:latin typeface="+mj-ea"/>
                <a:ea typeface="+mj-ea"/>
              </a:rPr>
              <a:t>Ⅲ. EU </a:t>
            </a:r>
            <a:r>
              <a:rPr lang="ko-KR" altLang="en-US" sz="4000" b="1" dirty="0">
                <a:solidFill>
                  <a:schemeClr val="tx1"/>
                </a:solidFill>
                <a:latin typeface="+mj-ea"/>
                <a:ea typeface="+mj-ea"/>
              </a:rPr>
              <a:t>회원국의 환경책임 관련 법제 및 환경책임보험사업자</a:t>
            </a:r>
          </a:p>
          <a:p>
            <a:r>
              <a:rPr lang="ko-KR" altLang="en-US" sz="4000" b="1" dirty="0">
                <a:solidFill>
                  <a:schemeClr val="tx1"/>
                </a:solidFill>
                <a:latin typeface="+mj-ea"/>
                <a:ea typeface="+mj-ea"/>
              </a:rPr>
              <a:t>운영 형태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B4FF0E-2A25-C8CE-16E0-E8AD1735DAC1}"/>
              </a:ext>
            </a:extLst>
          </p:cNvPr>
          <p:cNvSpPr txBox="1"/>
          <p:nvPr/>
        </p:nvSpPr>
        <p:spPr>
          <a:xfrm>
            <a:off x="15698152" y="8506286"/>
            <a:ext cx="12810853" cy="3587391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r>
              <a:rPr lang="en-US" altLang="ko-KR" sz="3200" b="1" dirty="0">
                <a:solidFill>
                  <a:schemeClr val="tx1"/>
                </a:solidFill>
                <a:latin typeface="+mj-ea"/>
                <a:ea typeface="+mj-ea"/>
              </a:rPr>
              <a:t>1. </a:t>
            </a:r>
            <a:r>
              <a:rPr lang="ko-KR" altLang="en-US" sz="3200" b="1" dirty="0">
                <a:solidFill>
                  <a:schemeClr val="tx1"/>
                </a:solidFill>
                <a:latin typeface="+mj-ea"/>
                <a:ea typeface="+mj-ea"/>
              </a:rPr>
              <a:t>독일</a:t>
            </a:r>
          </a:p>
          <a:p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독일은 환경책임법이 상세하게 규정되어 있어 사업자들이 환경 피해에 대한 배상 책임을 명확히 인식한다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  <a:p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환경배상책임보험의 </a:t>
            </a:r>
            <a:r>
              <a:rPr lang="ko-KR" altLang="en-US" sz="3200" dirty="0" err="1">
                <a:solidFill>
                  <a:schemeClr val="tx1"/>
                </a:solidFill>
                <a:latin typeface="+mj-ea"/>
                <a:ea typeface="+mj-ea"/>
              </a:rPr>
              <a:t>가입률이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 높아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다양한 보험 상품이 제공된다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  <a:p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보험사들은 환경 피해 발생 시 의무를 이행하기 위한 위험 평가를 수행한다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  <a:p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독일의 법제는 환경오염 예방과 신속한 피해 구제를 목표로 한다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235BC6-4957-85F0-D2AB-7A9D6829F83E}"/>
              </a:ext>
            </a:extLst>
          </p:cNvPr>
          <p:cNvSpPr txBox="1"/>
          <p:nvPr/>
        </p:nvSpPr>
        <p:spPr>
          <a:xfrm>
            <a:off x="15698152" y="33090540"/>
            <a:ext cx="6744652" cy="826083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r>
              <a:rPr lang="en-US" altLang="ko-KR" sz="4000" b="1" dirty="0">
                <a:solidFill>
                  <a:schemeClr val="tx1"/>
                </a:solidFill>
                <a:latin typeface="+mj-ea"/>
                <a:ea typeface="+mj-ea"/>
              </a:rPr>
              <a:t>Ⅴ. </a:t>
            </a:r>
            <a:r>
              <a:rPr lang="ko-KR" altLang="en-US" sz="4000" b="1" dirty="0">
                <a:solidFill>
                  <a:schemeClr val="tx1"/>
                </a:solidFill>
                <a:latin typeface="+mj-ea"/>
                <a:ea typeface="+mj-ea"/>
              </a:rPr>
              <a:t>나가며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6B4DB4F-D5FE-52B5-39F6-7D3A5315EC21}"/>
              </a:ext>
            </a:extLst>
          </p:cNvPr>
          <p:cNvSpPr txBox="1"/>
          <p:nvPr/>
        </p:nvSpPr>
        <p:spPr>
          <a:xfrm>
            <a:off x="15698152" y="34510418"/>
            <a:ext cx="12810853" cy="6483784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환경배상책임보험은 환경오염으로 인한 피해를 예방하고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발생한 피해에 대한 보상을 제공하는 중요한 제도로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한국에서는 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2016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년 도입 이후 현재 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3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기 컨소시엄이 운영되고 있으며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이 시스템은 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ELD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및 기타 환경 책임에 대한 다양한 유형의 보험을 제공하고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최대 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50,000,000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유로의 책임 제한을 두어 환경사고 발생 시 피해를 최소화하는 데 기여하고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특히 공공기관만이 청구 자격을 인정받는 구조로 되어 있어 개인의 이익에 대한 반사적 보호를 배제하는 동시에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과도한 보험료와 낮은 손해율에 대한 비판이 제기됨에 따라 정부가 제도 개선 방안을 마련하고 있으며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이를 통해 한국의 환경배상책임보험 시장은 경쟁 체제로의 전환이 필요하다는 점과 함께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독일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프랑스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이탈리아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스페인 등 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EU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회원국의 다양한 보험 운영 방식을 참고하여 보다 효과적인 환경보험 상품 개발과 위험 분석 기법의 강화를 통해 환경오염 리스크에 적합한 보험료 산정이 이루어져야 하며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궁극적으로는 환경 피해를 예방하고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지속 가능한 발전을 도모하는 방향으로 나아가야 한다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</a:t>
            </a:r>
            <a:endParaRPr lang="ko-KR" altLang="en-US" sz="32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C0CBD1-ADE3-F156-918E-0EC287D25509}"/>
              </a:ext>
            </a:extLst>
          </p:cNvPr>
          <p:cNvSpPr txBox="1"/>
          <p:nvPr/>
        </p:nvSpPr>
        <p:spPr>
          <a:xfrm>
            <a:off x="1895746" y="7412900"/>
            <a:ext cx="6744652" cy="873547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r>
              <a:rPr lang="ko-KR" altLang="en-US" sz="4000" b="1" dirty="0">
                <a:solidFill>
                  <a:schemeClr val="accent1"/>
                </a:solidFill>
                <a:latin typeface="+mj-ea"/>
                <a:ea typeface="+mj-ea"/>
              </a:rPr>
              <a:t>초록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747067-983C-35BA-50DF-A54563FAC643}"/>
              </a:ext>
            </a:extLst>
          </p:cNvPr>
          <p:cNvSpPr txBox="1"/>
          <p:nvPr/>
        </p:nvSpPr>
        <p:spPr>
          <a:xfrm>
            <a:off x="1895746" y="8507866"/>
            <a:ext cx="12810853" cy="391594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 anchor="ctr" anchorCtr="0">
            <a:noAutofit/>
          </a:bodyPr>
          <a:lstStyle/>
          <a:p>
            <a:r>
              <a:rPr lang="ko-KR" altLang="en-US" sz="3000" dirty="0">
                <a:solidFill>
                  <a:schemeClr val="tx1"/>
                </a:solidFill>
                <a:latin typeface="+mj-ea"/>
                <a:ea typeface="+mj-ea"/>
              </a:rPr>
              <a:t>환경배상책임보험은 환경사고로 인한 피해를 예방하고</a:t>
            </a:r>
            <a:r>
              <a:rPr lang="en-US" altLang="ko-KR" sz="30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000" dirty="0">
                <a:solidFill>
                  <a:schemeClr val="tx1"/>
                </a:solidFill>
                <a:latin typeface="+mj-ea"/>
                <a:ea typeface="+mj-ea"/>
              </a:rPr>
              <a:t>그 결과를 제한하기 위한 위험 관리 대책을 시행하며</a:t>
            </a:r>
            <a:r>
              <a:rPr lang="en-US" altLang="ko-KR" sz="30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000" dirty="0">
                <a:solidFill>
                  <a:schemeClr val="tx1"/>
                </a:solidFill>
                <a:latin typeface="+mj-ea"/>
                <a:ea typeface="+mj-ea"/>
              </a:rPr>
              <a:t>환경 피해를 예방하고 구제하기 위한 조치를 보장하고</a:t>
            </a:r>
            <a:r>
              <a:rPr lang="en-US" altLang="ko-KR" sz="30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000" dirty="0">
                <a:solidFill>
                  <a:schemeClr val="tx1"/>
                </a:solidFill>
                <a:latin typeface="+mj-ea"/>
                <a:ea typeface="+mj-ea"/>
              </a:rPr>
              <a:t>필요한 조치의 비용을 개별적으로 환경보험을 통해 제공하는 시스템으로</a:t>
            </a:r>
            <a:r>
              <a:rPr lang="en-US" altLang="ko-KR" sz="3000" dirty="0">
                <a:solidFill>
                  <a:schemeClr val="tx1"/>
                </a:solidFill>
                <a:latin typeface="+mj-ea"/>
                <a:ea typeface="+mj-ea"/>
              </a:rPr>
              <a:t>, ELD </a:t>
            </a:r>
            <a:r>
              <a:rPr lang="ko-KR" altLang="en-US" sz="3000" dirty="0">
                <a:solidFill>
                  <a:schemeClr val="tx1"/>
                </a:solidFill>
                <a:latin typeface="+mj-ea"/>
                <a:ea typeface="+mj-ea"/>
              </a:rPr>
              <a:t>및 기타 환경 책임에 대한 다양한 유형의 보험을 제공하며</a:t>
            </a:r>
            <a:r>
              <a:rPr lang="en-US" altLang="ko-KR" sz="30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000" dirty="0">
                <a:solidFill>
                  <a:schemeClr val="tx1"/>
                </a:solidFill>
                <a:latin typeface="+mj-ea"/>
                <a:ea typeface="+mj-ea"/>
              </a:rPr>
              <a:t>최대 </a:t>
            </a:r>
            <a:r>
              <a:rPr lang="en-US" altLang="ko-KR" sz="3000" dirty="0">
                <a:solidFill>
                  <a:schemeClr val="tx1"/>
                </a:solidFill>
                <a:latin typeface="+mj-ea"/>
                <a:ea typeface="+mj-ea"/>
              </a:rPr>
              <a:t>50,000,000 </a:t>
            </a:r>
            <a:r>
              <a:rPr lang="ko-KR" altLang="en-US" sz="3000" dirty="0">
                <a:solidFill>
                  <a:schemeClr val="tx1"/>
                </a:solidFill>
                <a:latin typeface="+mj-ea"/>
                <a:ea typeface="+mj-ea"/>
              </a:rPr>
              <a:t>유로의 책임 제한을 두고</a:t>
            </a:r>
            <a:r>
              <a:rPr lang="en-US" altLang="ko-KR" sz="30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000" dirty="0">
                <a:solidFill>
                  <a:schemeClr val="tx1"/>
                </a:solidFill>
                <a:latin typeface="+mj-ea"/>
                <a:ea typeface="+mj-ea"/>
              </a:rPr>
              <a:t>공공기관만이 청구 자격을 인정받는 등</a:t>
            </a:r>
            <a:r>
              <a:rPr lang="en-US" altLang="ko-KR" sz="30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000" dirty="0">
                <a:solidFill>
                  <a:schemeClr val="tx1"/>
                </a:solidFill>
                <a:latin typeface="+mj-ea"/>
                <a:ea typeface="+mj-ea"/>
              </a:rPr>
              <a:t>한국의 환경배상책임보험은 도입 배경과 함께 보험료 산정 및 위험 분석 기법의 강화를 통해 환경오염 리스크에 맞는 적절한 보험 상품 개발이 필요함을 강조한다</a:t>
            </a:r>
            <a:r>
              <a:rPr lang="en-US" altLang="ko-KR" sz="3000" dirty="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6BC746-CBFD-BECC-2680-2AAE9D92EC65}"/>
              </a:ext>
            </a:extLst>
          </p:cNvPr>
          <p:cNvSpPr txBox="1"/>
          <p:nvPr/>
        </p:nvSpPr>
        <p:spPr>
          <a:xfrm>
            <a:off x="2523879" y="3715267"/>
            <a:ext cx="2682049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>
                <a:solidFill>
                  <a:schemeClr val="tx1"/>
                </a:solidFill>
                <a:latin typeface="+mj-ea"/>
                <a:ea typeface="+mj-ea"/>
              </a:rPr>
              <a:t>Reviewing the operation of environmental liability insurers</a:t>
            </a:r>
          </a:p>
          <a:p>
            <a:r>
              <a:rPr lang="en-US" altLang="ko-KR" sz="4000" dirty="0">
                <a:solidFill>
                  <a:schemeClr val="tx1"/>
                </a:solidFill>
                <a:latin typeface="+mj-ea"/>
                <a:ea typeface="+mj-ea"/>
              </a:rPr>
              <a:t>- A comparative law overview of the operation of environmental</a:t>
            </a:r>
          </a:p>
          <a:p>
            <a:r>
              <a:rPr lang="en-US" altLang="ko-KR" sz="4000" dirty="0">
                <a:solidFill>
                  <a:schemeClr val="tx1"/>
                </a:solidFill>
                <a:latin typeface="+mj-ea"/>
                <a:ea typeface="+mj-ea"/>
              </a:rPr>
              <a:t> liability insurers in EU Member States-</a:t>
            </a:r>
            <a:endParaRPr lang="ko-KR" altLang="en-US" sz="40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9E52C3-5A9A-5F7C-0E5C-2F609A6C02C8}"/>
              </a:ext>
            </a:extLst>
          </p:cNvPr>
          <p:cNvSpPr txBox="1"/>
          <p:nvPr/>
        </p:nvSpPr>
        <p:spPr>
          <a:xfrm>
            <a:off x="15698152" y="23217014"/>
            <a:ext cx="6744652" cy="1323439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r>
              <a:rPr lang="ko-KR" altLang="en-US" sz="4000" b="1" dirty="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en-US" altLang="ko-KR" sz="4000" b="1" dirty="0">
                <a:solidFill>
                  <a:schemeClr val="tx1"/>
                </a:solidFill>
                <a:latin typeface="+mj-ea"/>
                <a:ea typeface="+mj-ea"/>
              </a:rPr>
              <a:t>Ⅳ. </a:t>
            </a:r>
            <a:r>
              <a:rPr lang="ko-KR" altLang="en-US" sz="4000" b="1" dirty="0">
                <a:solidFill>
                  <a:schemeClr val="tx1"/>
                </a:solidFill>
                <a:latin typeface="+mj-ea"/>
                <a:ea typeface="+mj-ea"/>
              </a:rPr>
              <a:t>시사점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3A2B23-6BF1-A0D5-B04C-B1F1C8F5975E}"/>
              </a:ext>
            </a:extLst>
          </p:cNvPr>
          <p:cNvSpPr txBox="1"/>
          <p:nvPr/>
        </p:nvSpPr>
        <p:spPr>
          <a:xfrm>
            <a:off x="15698152" y="24325534"/>
            <a:ext cx="12810853" cy="4093714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r>
              <a:rPr lang="en-US" altLang="ko-KR" sz="3200" b="1" dirty="0">
                <a:solidFill>
                  <a:schemeClr val="tx1"/>
                </a:solidFill>
                <a:latin typeface="+mj-ea"/>
                <a:ea typeface="+mj-ea"/>
              </a:rPr>
              <a:t>1. </a:t>
            </a:r>
            <a:r>
              <a:rPr lang="ko-KR" altLang="en-US" sz="3200" b="1" dirty="0">
                <a:solidFill>
                  <a:schemeClr val="tx1"/>
                </a:solidFill>
                <a:latin typeface="+mj-ea"/>
                <a:ea typeface="+mj-ea"/>
              </a:rPr>
              <a:t>보험사업자 운영과 관련한 시사점</a:t>
            </a:r>
          </a:p>
          <a:p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보험사업자는 환경배상책임보험의 운영 방식을 개선하여 경쟁력을 높여야 한다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  <a:p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다양한 보험 상품을 개발하고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고객의 요구에 맞춘 맞춤형 서비스를 제공해야 한다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  <a:p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정부와의 협력을 통해 환경보험 제도의 활성화를 도모할 필요가 있다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  <a:p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지속적인 위험 평가와 데이터 분석을 통해 보험료 산정의 정확성을 높여야 한다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B99908-0F1A-EE34-4A9F-9030832E0D80}"/>
              </a:ext>
            </a:extLst>
          </p:cNvPr>
          <p:cNvSpPr txBox="1"/>
          <p:nvPr/>
        </p:nvSpPr>
        <p:spPr>
          <a:xfrm>
            <a:off x="1895746" y="21943938"/>
            <a:ext cx="6744652" cy="873547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r>
              <a:rPr lang="ko-KR" altLang="en-US" sz="4000" b="1" dirty="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en-US" altLang="ko-KR" sz="4000" b="1" dirty="0">
                <a:solidFill>
                  <a:schemeClr val="tx1"/>
                </a:solidFill>
                <a:latin typeface="+mj-ea"/>
                <a:ea typeface="+mj-ea"/>
              </a:rPr>
              <a:t>Ⅱ. </a:t>
            </a:r>
            <a:r>
              <a:rPr lang="ko-KR" altLang="en-US" sz="4000" b="1" dirty="0">
                <a:solidFill>
                  <a:schemeClr val="tx1"/>
                </a:solidFill>
                <a:latin typeface="+mj-ea"/>
                <a:ea typeface="+mj-ea"/>
              </a:rPr>
              <a:t>환경오염피해구제법상 환경배상책임보험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F587A3-6773-A8D5-AC89-00C59FD4EDD0}"/>
              </a:ext>
            </a:extLst>
          </p:cNvPr>
          <p:cNvSpPr txBox="1"/>
          <p:nvPr/>
        </p:nvSpPr>
        <p:spPr>
          <a:xfrm>
            <a:off x="1895746" y="23112636"/>
            <a:ext cx="12810853" cy="4310638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r>
              <a:rPr lang="en-US" altLang="ko-KR" sz="3200" b="1" dirty="0">
                <a:solidFill>
                  <a:schemeClr val="tx1"/>
                </a:solidFill>
                <a:latin typeface="+mj-ea"/>
                <a:ea typeface="+mj-ea"/>
              </a:rPr>
              <a:t>1. </a:t>
            </a:r>
            <a:r>
              <a:rPr lang="ko-KR" altLang="en-US" sz="3200" b="1" dirty="0">
                <a:solidFill>
                  <a:schemeClr val="tx1"/>
                </a:solidFill>
                <a:latin typeface="+mj-ea"/>
                <a:ea typeface="+mj-ea"/>
              </a:rPr>
              <a:t>의의 및 필요성</a:t>
            </a:r>
          </a:p>
          <a:p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환경배상책임보험은 환경오염으로 인한 피해를 보상하기 위해 설계된 보험으로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피해자에게 신속한 구제를 제공하는 역할을 한다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이 보험은 환경오염 피해를 예방하고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발생한 피해에 대한 책임을 분산시키는 시스템을 구축한다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또한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기업이 환경오염으로 인한 법적 책임을 부담할 수 있도록 지원하여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환경 보호와 지속 가능한 발전을 도모하는 데 기여한다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따라서 환경배상책임보험은 환경오염 피해를 최소화하고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피해자 보호를 위한 필수적인 제도임을 강조한다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D62286-4F2D-3126-7F6A-FAB2B0536BEA}"/>
              </a:ext>
            </a:extLst>
          </p:cNvPr>
          <p:cNvSpPr txBox="1"/>
          <p:nvPr/>
        </p:nvSpPr>
        <p:spPr>
          <a:xfrm>
            <a:off x="15698152" y="12199031"/>
            <a:ext cx="12810853" cy="3587391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r>
              <a:rPr lang="en-US" altLang="ko-KR" sz="3200" b="1" dirty="0">
                <a:solidFill>
                  <a:schemeClr val="tx1"/>
                </a:solidFill>
                <a:latin typeface="+mj-ea"/>
                <a:ea typeface="+mj-ea"/>
              </a:rPr>
              <a:t>2. </a:t>
            </a:r>
            <a:r>
              <a:rPr lang="ko-KR" altLang="en-US" sz="3200" b="1" dirty="0">
                <a:solidFill>
                  <a:schemeClr val="tx1"/>
                </a:solidFill>
                <a:latin typeface="+mj-ea"/>
                <a:ea typeface="+mj-ea"/>
              </a:rPr>
              <a:t>프랑스</a:t>
            </a:r>
          </a:p>
          <a:p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프랑스는 환경보험 풀을 구성하여 환경 피해로 인한 위험을 분산시키는 방식을 채택한다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  <a:p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이는 한국의 컨소시엄 형태와는 다른 접근 방식이다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  <a:p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프랑스의 법제는 환경 피해에 대한 책임을 명확히 하고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보험 가입을 촉진한다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  <a:p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환경보험의 활성화로 인해 사업자들의 참여가 증가하고 있다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0CB237-CE35-A474-FC62-B9E900561DC1}"/>
              </a:ext>
            </a:extLst>
          </p:cNvPr>
          <p:cNvSpPr txBox="1"/>
          <p:nvPr/>
        </p:nvSpPr>
        <p:spPr>
          <a:xfrm>
            <a:off x="15698152" y="15935456"/>
            <a:ext cx="12810853" cy="3587391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r>
              <a:rPr lang="en-US" altLang="ko-KR" sz="3200" b="1" dirty="0">
                <a:solidFill>
                  <a:schemeClr val="tx1"/>
                </a:solidFill>
                <a:latin typeface="+mj-ea"/>
                <a:ea typeface="+mj-ea"/>
              </a:rPr>
              <a:t>3. </a:t>
            </a:r>
            <a:r>
              <a:rPr lang="ko-KR" altLang="en-US" sz="3200" b="1" dirty="0">
                <a:solidFill>
                  <a:schemeClr val="tx1"/>
                </a:solidFill>
                <a:latin typeface="+mj-ea"/>
                <a:ea typeface="+mj-ea"/>
              </a:rPr>
              <a:t>이탈리아</a:t>
            </a:r>
          </a:p>
          <a:p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이탈리아는 환경책임보험의 도입을 통해 환경 피해에 대한 재정적 보호를 강화한다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  <a:p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정부는 환경오염 예방을 위한 다양한 법령을 제정하고 있다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  <a:p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보험사들은 환경 피해에 대한 보상을 위한 상품을 다양화하고 있다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  <a:p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이탈리아의 법제는 환경 보호와 피해 구제를 동시에 고려한다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E6877E-F2E5-3803-0EB6-CC7425885FB0}"/>
              </a:ext>
            </a:extLst>
          </p:cNvPr>
          <p:cNvSpPr txBox="1"/>
          <p:nvPr/>
        </p:nvSpPr>
        <p:spPr>
          <a:xfrm>
            <a:off x="15698152" y="19576235"/>
            <a:ext cx="12810853" cy="3587391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r>
              <a:rPr lang="en-US" altLang="ko-KR" sz="3200" b="1" dirty="0">
                <a:solidFill>
                  <a:schemeClr val="tx1"/>
                </a:solidFill>
                <a:latin typeface="+mj-ea"/>
                <a:ea typeface="+mj-ea"/>
              </a:rPr>
              <a:t>4. </a:t>
            </a:r>
            <a:r>
              <a:rPr lang="ko-KR" altLang="en-US" sz="3200" b="1" dirty="0">
                <a:solidFill>
                  <a:schemeClr val="tx1"/>
                </a:solidFill>
                <a:latin typeface="+mj-ea"/>
                <a:ea typeface="+mj-ea"/>
              </a:rPr>
              <a:t>스페인</a:t>
            </a:r>
          </a:p>
          <a:p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스페인은 환경배상책임보험을 통해 환경 피해에 대한 법적 책임을 명확히 한다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  <a:p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보험 상품은 환경오염 예방과 피해 구제를 위한 다양한 옵션을 제공한다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  <a:p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스페인의 법제는 사업자들이 환경 책임을 인식하도록 유도한다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  <a:p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환경보험의 활성화로 인해 사업자들의 참여가 증가하고 있다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F657D39-B2BF-F6F4-8567-5806D866BB65}"/>
              </a:ext>
            </a:extLst>
          </p:cNvPr>
          <p:cNvSpPr txBox="1"/>
          <p:nvPr/>
        </p:nvSpPr>
        <p:spPr>
          <a:xfrm>
            <a:off x="1895746" y="27467376"/>
            <a:ext cx="12810853" cy="4310638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r>
              <a:rPr lang="en-US" altLang="ko-KR" sz="3200" b="1" dirty="0">
                <a:solidFill>
                  <a:schemeClr val="tx1"/>
                </a:solidFill>
                <a:latin typeface="+mj-ea"/>
                <a:ea typeface="+mj-ea"/>
              </a:rPr>
              <a:t>2. </a:t>
            </a:r>
            <a:r>
              <a:rPr lang="ko-KR" altLang="en-US" sz="3200" b="1" dirty="0">
                <a:solidFill>
                  <a:schemeClr val="tx1"/>
                </a:solidFill>
                <a:latin typeface="+mj-ea"/>
                <a:ea typeface="+mj-ea"/>
              </a:rPr>
              <a:t>환경책임보험의 운영형태 및 가입대상</a:t>
            </a:r>
          </a:p>
          <a:p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환경책임보험은 기업이 환경오염으로 인한 제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3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자 피해를 보장받기 위해 가입하는 보험으로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주로 산업체와 사업장이 가입 대상이 된다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이 보험은 환경오염 사고 발생 시 피해를 신속하게 보상할 수 있도록 설계되어 있으며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다양한 보험 상품이 존재한다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가입자는 환경오염 위험을 평가받고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이에 따라 적절한 보험료를 지불하게 된다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이러한 운영 형태는 기업의 환경 책임을 강화하고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환경 보호를 위한 인센티브를 제공하는 데 중요한 역할을 한다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FBAC21F-BBB1-51CB-268B-D4D65DAB83D8}"/>
              </a:ext>
            </a:extLst>
          </p:cNvPr>
          <p:cNvSpPr txBox="1"/>
          <p:nvPr/>
        </p:nvSpPr>
        <p:spPr>
          <a:xfrm>
            <a:off x="1895746" y="32071980"/>
            <a:ext cx="12810853" cy="4310638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r>
              <a:rPr lang="en-US" altLang="ko-KR" sz="3200" b="1" dirty="0">
                <a:solidFill>
                  <a:schemeClr val="tx1"/>
                </a:solidFill>
                <a:latin typeface="+mj-ea"/>
                <a:ea typeface="+mj-ea"/>
              </a:rPr>
              <a:t>3. </a:t>
            </a:r>
            <a:r>
              <a:rPr lang="ko-KR" altLang="en-US" sz="3200" b="1" dirty="0">
                <a:solidFill>
                  <a:schemeClr val="tx1"/>
                </a:solidFill>
                <a:latin typeface="+mj-ea"/>
                <a:ea typeface="+mj-ea"/>
              </a:rPr>
              <a:t>환경책임보험 </a:t>
            </a:r>
            <a:r>
              <a:rPr lang="ko-KR" altLang="en-US" sz="3200" b="1" dirty="0" err="1">
                <a:solidFill>
                  <a:schemeClr val="tx1"/>
                </a:solidFill>
                <a:latin typeface="+mj-ea"/>
                <a:ea typeface="+mj-ea"/>
              </a:rPr>
              <a:t>미가입</a:t>
            </a:r>
            <a:r>
              <a:rPr lang="ko-KR" altLang="en-US" sz="3200" b="1" dirty="0">
                <a:solidFill>
                  <a:schemeClr val="tx1"/>
                </a:solidFill>
                <a:latin typeface="+mj-ea"/>
                <a:ea typeface="+mj-ea"/>
              </a:rPr>
              <a:t> 처벌규정</a:t>
            </a:r>
          </a:p>
          <a:p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환경책임보험에 가입하지 않은 기업은 법적 제재를 받을 수 있으며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이는 환경오염 사고 발생 시 피해 보상에 대한 책임을 강화하기 위한 조치이다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 </a:t>
            </a:r>
            <a:r>
              <a:rPr lang="ko-KR" altLang="en-US" sz="3200" dirty="0" err="1">
                <a:solidFill>
                  <a:schemeClr val="tx1"/>
                </a:solidFill>
                <a:latin typeface="+mj-ea"/>
                <a:ea typeface="+mj-ea"/>
              </a:rPr>
              <a:t>미가입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 기업은 환경오염 피해에 대한 법적 책임을 전적으로 부담하게 되며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이로 인해 경제적 손실이 발생할 수 있다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또한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정부는 </a:t>
            </a:r>
            <a:r>
              <a:rPr lang="ko-KR" altLang="en-US" sz="3200" dirty="0" err="1">
                <a:solidFill>
                  <a:schemeClr val="tx1"/>
                </a:solidFill>
                <a:latin typeface="+mj-ea"/>
                <a:ea typeface="+mj-ea"/>
              </a:rPr>
              <a:t>미가입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 기업에 대해 과태료를 부과하거나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특정 사업 활동에 제한을 두는 등의 처벌을 시행할 수 있다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이러한 규정은 기업이 환경책임보험에 가입하도록 유도하여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환경 보호와 피해자 구제를 촉진하는 데 기여한다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626F9C7-CA9A-3E5A-C2A9-A4197B342F3C}"/>
              </a:ext>
            </a:extLst>
          </p:cNvPr>
          <p:cNvSpPr txBox="1"/>
          <p:nvPr/>
        </p:nvSpPr>
        <p:spPr>
          <a:xfrm>
            <a:off x="1895746" y="36814844"/>
            <a:ext cx="12810853" cy="4310638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r>
              <a:rPr lang="en-US" altLang="ko-KR" sz="3200" b="1" dirty="0">
                <a:solidFill>
                  <a:schemeClr val="tx1"/>
                </a:solidFill>
                <a:latin typeface="+mj-ea"/>
                <a:ea typeface="+mj-ea"/>
              </a:rPr>
              <a:t>4. </a:t>
            </a:r>
            <a:r>
              <a:rPr lang="ko-KR" altLang="en-US" sz="3200" b="1" dirty="0">
                <a:solidFill>
                  <a:schemeClr val="tx1"/>
                </a:solidFill>
                <a:latin typeface="+mj-ea"/>
                <a:ea typeface="+mj-ea"/>
              </a:rPr>
              <a:t>환경배상책임보험 </a:t>
            </a:r>
            <a:r>
              <a:rPr lang="ko-KR" altLang="en-US" sz="3200" b="1" dirty="0" err="1">
                <a:solidFill>
                  <a:schemeClr val="tx1"/>
                </a:solidFill>
                <a:latin typeface="+mj-ea"/>
                <a:ea typeface="+mj-ea"/>
              </a:rPr>
              <a:t>손해율</a:t>
            </a:r>
            <a:endParaRPr lang="ko-KR" altLang="en-US" sz="3200" b="1" dirty="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환경배상책임보험의 손해율은 보험금 지급액과 보험료 수입의 비율로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이 비율이 낮을수록 보험사의 재정적 안정성이 높아진다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현재 한국의 환경배상책임보험은 법적 책임 한도액의 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10%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내외로 설정되어 있으며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이는 보험사의 손해율에 영향을 미친다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손해율이 낮은 경우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보험사는 더 많은 자본을 확보할 수 있어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보험 상품의 다양화와 경쟁력을 높일 수 있다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따라서 </a:t>
            </a:r>
            <a:r>
              <a:rPr lang="ko-KR" altLang="en-US" sz="3200" dirty="0" err="1">
                <a:solidFill>
                  <a:schemeClr val="tx1"/>
                </a:solidFill>
                <a:latin typeface="+mj-ea"/>
                <a:ea typeface="+mj-ea"/>
              </a:rPr>
              <a:t>손해율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 관리는 환경배상책임보험의 지속 가능성과 효율성을 확보하는 데 중요한 요소로 작용한다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2AC6B2B-D48A-9ED1-FA89-A4916D1E4B2E}"/>
              </a:ext>
            </a:extLst>
          </p:cNvPr>
          <p:cNvSpPr txBox="1"/>
          <p:nvPr/>
        </p:nvSpPr>
        <p:spPr>
          <a:xfrm>
            <a:off x="15698152" y="28602854"/>
            <a:ext cx="12810853" cy="4093714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r>
              <a:rPr lang="en-US" altLang="ko-KR" sz="3200" b="1" dirty="0">
                <a:solidFill>
                  <a:schemeClr val="tx1"/>
                </a:solidFill>
                <a:latin typeface="+mj-ea"/>
                <a:ea typeface="+mj-ea"/>
              </a:rPr>
              <a:t>2. </a:t>
            </a:r>
            <a:r>
              <a:rPr lang="ko-KR" altLang="en-US" sz="3200" b="1" dirty="0" err="1">
                <a:solidFill>
                  <a:schemeClr val="tx1"/>
                </a:solidFill>
                <a:latin typeface="+mj-ea"/>
                <a:ea typeface="+mj-ea"/>
              </a:rPr>
              <a:t>환경배상책임보험약관</a:t>
            </a:r>
            <a:r>
              <a:rPr lang="ko-KR" altLang="en-US" sz="3200" b="1" dirty="0">
                <a:solidFill>
                  <a:schemeClr val="tx1"/>
                </a:solidFill>
                <a:latin typeface="+mj-ea"/>
                <a:ea typeface="+mj-ea"/>
              </a:rPr>
              <a:t> 관련 시사점</a:t>
            </a:r>
          </a:p>
          <a:p>
            <a:r>
              <a:rPr lang="ko-KR" altLang="en-US" sz="3200" dirty="0" err="1">
                <a:solidFill>
                  <a:schemeClr val="tx1"/>
                </a:solidFill>
                <a:latin typeface="+mj-ea"/>
                <a:ea typeface="+mj-ea"/>
              </a:rPr>
              <a:t>환경배상책임보험약관은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 명확하고 체계적인 규정을 통해 사업자와 가입자의 이해를 돕는다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  <a:p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약관의 개선을 통해 보험금 지급 기준과 면책 사항을 명확히 해야 한다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  <a:p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표준약관을 기반으로 각 보험사가 자사에 맞는 약관을 개발하여 다양성을 확보해야 한다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  <a:p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법적 책임과 보험의 역할을 명확히 하여 환경 피해에 대한 신뢰성을 높여야 한다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644</TotalTime>
  <Words>1002</Words>
  <Application>Microsoft Office PowerPoint</Application>
  <PresentationFormat>사용자 지정</PresentationFormat>
  <Paragraphs>56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Malgun Gothic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bongusse belpois</cp:lastModifiedBy>
  <cp:revision>50</cp:revision>
  <dcterms:created xsi:type="dcterms:W3CDTF">2018-10-17T01:18:09Z</dcterms:created>
  <dcterms:modified xsi:type="dcterms:W3CDTF">2024-12-12T01:14:01Z</dcterms:modified>
</cp:coreProperties>
</file>